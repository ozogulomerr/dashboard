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Arial"/>
              </a:rPr>
              <a:t>[Grafik Başlığı — Örn: Ters Swap Hacmi]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Hacim (₺ Milyar)</c:v>
                </c:pt>
              </c:strCache>
            </c:strRef>
          </c:tx>
          <c:spPr>
            <a:solidFill>
              <a:srgbClr val="0D4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Ç1</c:v>
                  </c:pt>
                  <c:pt idx="1">
                    <c:v>Ç2</c:v>
                  </c:pt>
                  <c:pt idx="2">
                    <c:v>Ç3</c:v>
                  </c:pt>
                  <c:pt idx="3">
                    <c:v>Ç4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6E52">
              <a:alpha val="45000"/>
            </a:srgbClr>
          </a:solidFill>
          <a:ln w="12700">
            <a:solidFill>
              <a:srgbClr val="1A6E52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B8963E">
              <a:alpha val="20000"/>
            </a:srgbClr>
          </a:solidFill>
          <a:ln w="12700">
            <a:solidFill>
              <a:srgbClr val="B8963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3474720"/>
            <a:ext cx="1828800" cy="1828800"/>
          </a:xfrm>
          <a:prstGeom prst="ellipse">
            <a:avLst/>
          </a:prstGeom>
          <a:solidFill>
            <a:srgbClr val="2E8B6A">
              <a:alpha val="28000"/>
            </a:srgbClr>
          </a:solidFill>
          <a:ln w="12700">
            <a:solidFill>
              <a:srgbClr val="2E8B6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KATILIM BANKASI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Pasif Yönetimi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Sunumu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41148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700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[Tarih] | Hazine ve Finansal Kurumlar Grubu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7772400" cy="1508760"/>
          </a:xfrm>
          <a:prstGeom prst="rect">
            <a:avLst/>
          </a:prstGeom>
          <a:solidFill>
            <a:srgbClr val="1A6E52">
              <a:alpha val="60000"/>
            </a:srgbClr>
          </a:solidFill>
          <a:ln w="6350">
            <a:solidFill>
              <a:srgbClr val="D4A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367588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TCMB Politikaları &amp; ALM: Gelişmeler ve Aksiyonlarımız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Maliyet: TL Fonlama Maliyetinin Optimize Edilmesi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Plasman: TL Likidite Fazlasının Etkin Değerlendirilmesi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Anahtar Stratejik Girişimler &amp; Yatırım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Regülasyon: Makroihtiyati Tedbirlere Uyum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2027 Stratejik Hedeflerimiz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83680" y="4937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/ Dahili Kullanım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E52">
              <a:alpha val="40000"/>
            </a:srgbClr>
          </a:solidFill>
          <a:ln w="12700">
            <a:solidFill>
              <a:srgbClr val="1A6E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B8963E">
              <a:alpha val="18000"/>
            </a:srgbClr>
          </a:solidFill>
          <a:ln w="12700">
            <a:solidFill>
              <a:srgbClr val="B8963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TCMB Politikaları &amp; ALM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politikası gelişmeleri, kararlar ve ALM aksiyonlarımız — makro bakış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200400" cy="32004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TCMB &amp; ALM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1280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[Slayt Başlığı Buraya]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64008" cy="3566160"/>
          </a:xfrm>
          <a:prstGeom prst="rect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/ ÖZET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alanı kısa bir yönetici özeti, bağlam metni veya en kritik bulgu ile doldurun. 2–3 cümle yeterlidir. Rakamlar için sağdaki madde alanını kullanın.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65760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37360" y="2660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[Q1–Q4 2025]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65760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37360" y="31638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[TL / YP / Toplam]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65760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66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37360" y="3666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/ TCMB / iç veri]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22960"/>
            <a:ext cx="64008" cy="356616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BULGULAR / AKSİYONLAR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261872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[Aksiyon / bulgu 1 — kısa ve net, max 2 satır]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[Aksiyon / bulgu 2 — sayısal veri varsa buraya]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[Aksiyon / bulgu 3]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[Aksiyon / bulgu 4]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[Aksiyon / bulgu 5]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[Slayt Başlığı — KPI Özeti]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MALİYET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14800" cy="6400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69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Fonlama Maliyeti (Ort.)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XX.XX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8912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X bps (yıllık)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157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[Londra swap + BİST taahhütlü]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4114800" cy="64008"/>
          </a:xfrm>
          <a:prstGeom prst="rect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69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Hacmi (TL bacaklı)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Milyar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28032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YoY % XX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157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[Dönem toplamı]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4114800" cy="6400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BİST Sukuk Taahhütlü Hacim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Milyar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38912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% XX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[Yıl sonu gerçekleşme]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43200"/>
            <a:ext cx="4114800" cy="64008"/>
          </a:xfrm>
          <a:prstGeom prst="rect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Maliyetli Borçlanma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Milyar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828032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 tasarrufu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[YTD bazında]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[Slayt Başlığı — Grafik / Tablo]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PLASMAN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04672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804672"/>
            <a:ext cx="3063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804672"/>
            <a:ext cx="64008" cy="356616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896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/ NOTLAR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89320" y="1261872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[Temel gözlem / trend — 1–2 cümle]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[Sapma veya dikkat çeken dönem]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[Bağlamsal not veya karşılaştırma]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[Veri kaynağı]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E52">
              <a:alpha val="40000"/>
            </a:srgbClr>
          </a:solidFill>
          <a:ln w="12700">
            <a:solidFill>
              <a:srgbClr val="1A6E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B8963E">
              <a:alpha val="18000"/>
            </a:srgbClr>
          </a:solidFill>
          <a:ln w="12700">
            <a:solidFill>
              <a:srgbClr val="B8963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&amp; Plasman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fonlama optimizasyonu ve likidite fazlasının değerlendirilmesi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200400" cy="32004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[Maliyet — Alt başlık / Alt konu]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MALİYET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87552"/>
            <a:ext cx="457200" cy="457200"/>
          </a:xfrm>
          <a:prstGeom prst="ellipse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914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TL Bacaklı Londra Swapları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2252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buraya açıklama ve sayısal bulgu ekleyecek]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947672"/>
            <a:ext cx="457200" cy="457200"/>
          </a:xfrm>
          <a:prstGeom prst="ellipse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Piyasaya Göre TL Fonlama Avantajı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1854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buraya açıklama ve sayısal bulgu ekleyecek]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907792"/>
            <a:ext cx="457200" cy="457200"/>
          </a:xfrm>
          <a:prstGeom prst="ellipse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BİST Sukuk Taahhütlü İşlemler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1455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buraya açıklama ve sayısal bulgu ekleyecek]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804672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867912"/>
            <a:ext cx="457200" cy="457200"/>
          </a:xfrm>
          <a:prstGeom prst="ellipse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Uygun Maliyetli Borçlanmalar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1056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buraya açıklama ve sayısal bulgu ekleyecek]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E52">
              <a:alpha val="40000"/>
            </a:srgbClr>
          </a:solidFill>
          <a:ln w="12700">
            <a:solidFill>
              <a:srgbClr val="1A6E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B8963E">
              <a:alpha val="18000"/>
            </a:srgbClr>
          </a:solidFill>
          <a:ln w="12700">
            <a:solidFill>
              <a:srgbClr val="B8963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Stratejik Girişimler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profit rate swap işlemi · BİST kıymetli madenler pazarı · Uzun vadeli sukuk yatırımları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200400" cy="32004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[Yatırım — Özet Performans]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YATIRIM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32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Vadeli Sukuk Portföyü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Milyar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nominal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932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Edilen Gelir (YTD)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4992" y="13716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6499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Kupon + değerleme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932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TLREFK Sukuk Yatırımı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1072" y="13716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X Milyar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9107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tutar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8595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52928"/>
            <a:ext cx="64008" cy="1691640"/>
          </a:xfrm>
          <a:prstGeom prst="rect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 NOTLAR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2735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[Uzun vadeli sukuk yatırımlarının vade yapısı, enstrüman türleri ve getiri profili hakkında kısa bir açıklama buraya gelecek. Ekip kendi verisini bu alana ekleyecektir.]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E52">
              <a:alpha val="40000"/>
            </a:srgbClr>
          </a:solidFill>
          <a:ln w="12700">
            <a:solidFill>
              <a:srgbClr val="1A6E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B8963E">
              <a:alpha val="18000"/>
            </a:srgbClr>
          </a:solidFill>
          <a:ln w="12700">
            <a:solidFill>
              <a:srgbClr val="B8963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Regülasyon &amp; Makroihtiyati Tedbirler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ZAY/ZA2 fonları · Sukuk taahhütlü işlemler · KZL fonu · Büyümeden muaf şubeler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200400" cy="32004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[Regülasyon — Oluşturduğumuz Katkılar]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REGÜLASYON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64008" cy="804672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 ZAY / ZA2 Fonları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açıklama ve katkı rakamını buraya ekleyecek]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83080"/>
            <a:ext cx="64008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Müşterilerle Sukuk Taahhütlü İşlemler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854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açıklama ve katkı rakamını buraya ekleyecek]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43200"/>
            <a:ext cx="64008" cy="804672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KZL Fonu — Ödünç İşlemler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145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açıklama ve katkı rakamını buraya ekleyecek]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8595360" cy="804672"/>
          </a:xfrm>
          <a:prstGeom prst="rect">
            <a:avLst/>
          </a:prstGeom>
          <a:solidFill>
            <a:srgbClr val="F5F5F0"/>
          </a:solidFill>
          <a:ln w="6350">
            <a:solidFill>
              <a:srgbClr val="E8E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03320"/>
            <a:ext cx="64008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Büyümeden Muaf Özel Şubeler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056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 açıklama ve katkı rakamını buraya ekleyecek]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E52">
              <a:alpha val="40000"/>
            </a:srgbClr>
          </a:solidFill>
          <a:ln w="12700">
            <a:solidFill>
              <a:srgbClr val="1A6E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B8963E">
              <a:alpha val="18000"/>
            </a:srgbClr>
          </a:solidFill>
          <a:ln w="12700">
            <a:solidFill>
              <a:srgbClr val="B8963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Stratejik Hedeflerimiz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çeşitlendirmesi · YP işlemler · İştirak işbirlikleri · Dinamik ALM projesi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3200400" cy="32004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Stratejik Hedefler — Özet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STRATEJİ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1719072"/>
          </a:xfrm>
          <a:prstGeom prst="rect">
            <a:avLst/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Likidite Yönetiminde Araç Çeşitlendirmesi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764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[Yeni araç/enstrüman hedefleri, hedef hacim ve zaman çizelgesi buraya eklenecek]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04672"/>
            <a:ext cx="64008" cy="17190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64608" y="128016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Yurtdışı Yatırım Fonlarıyla YP İşlemleri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764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[Hedeflenen fon ortaklıkları, ürün türleri ve büyüklük hedefi buraya eklenecek]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64008" cy="1719072"/>
          </a:xfrm>
          <a:prstGeom prst="rect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" y="321868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İştiraklerle İşbirlikleri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70332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[İştirak isimleri, işbirliği türleri ve beklenen katkı buraya eklenecek]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43200"/>
            <a:ext cx="64008" cy="1719072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64608" y="321868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4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ALM Projesi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64608" y="370332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[Projenin kapsamı, zaman çizelgesi, beklenen verimlilik kazanımları buraya eklenecek]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7724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06840" y="0"/>
            <a:ext cx="137160" cy="548640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4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6E52">
              <a:alpha val="45000"/>
            </a:srgbClr>
          </a:solidFill>
          <a:ln w="12700">
            <a:solidFill>
              <a:srgbClr val="1A6E52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B8963E">
              <a:alpha val="20000"/>
            </a:srgbClr>
          </a:solidFill>
          <a:ln w="12700">
            <a:solidFill>
              <a:srgbClr val="B8963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32004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 ve görüşleriniz için: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486400" cy="1463040"/>
          </a:xfrm>
          <a:prstGeom prst="rect">
            <a:avLst/>
          </a:prstGeom>
          <a:solidFill>
            <a:srgbClr val="1A6E52">
              <a:alpha val="60000"/>
            </a:srgbClr>
          </a:solidFill>
          <a:ln w="6350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| [Unvan]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[E-posta]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[Telefon / Dahili]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4937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Kuveyt Türk Katılım Bankası | Aktif Pasif Yönetimi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0" y="4937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/ Dahili Kullanım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 Yönetici Sunumu — Taslak</dc:title>
  <dc:subject>PptxGenJS Presentation</dc:subject>
  <dc:creator>PptxGenJS</dc:creator>
  <cp:lastModifiedBy>PptxGenJS</cp:lastModifiedBy>
  <cp:revision>1</cp:revision>
  <dcterms:created xsi:type="dcterms:W3CDTF">2026-03-24T10:53:02Z</dcterms:created>
  <dcterms:modified xsi:type="dcterms:W3CDTF">2026-03-24T10:53:02Z</dcterms:modified>
</cp:coreProperties>
</file>