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image" Target="../media/image-3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571500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900000">
            <a:off x="6643687" y="2643187"/>
            <a:ext cx="2857500" cy="2857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428625"/>
            <a:ext cx="235744" cy="2286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36056" y="438448"/>
            <a:ext cx="133945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KUVEYT TÜRK</a:t>
            </a:r>
            <a:endParaRPr lang="en-US" sz="1193" dirty="0"/>
          </a:p>
        </p:txBody>
      </p:sp>
      <p:sp>
        <p:nvSpPr>
          <p:cNvPr id="7" name="Text 2"/>
          <p:cNvSpPr/>
          <p:nvPr/>
        </p:nvSpPr>
        <p:spPr>
          <a:xfrm>
            <a:off x="2428875" y="1556640"/>
            <a:ext cx="600075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Aktif-Pasif Yönetimi Birimi</a:t>
            </a:r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 Yılı Faaliyet Özeti</a:t>
            </a:r>
            <a:endParaRPr lang="en-US" sz="2862" dirty="0"/>
          </a:p>
        </p:txBody>
      </p:sp>
      <p:sp>
        <p:nvSpPr>
          <p:cNvPr id="8" name="Text 3"/>
          <p:cNvSpPr/>
          <p:nvPr/>
        </p:nvSpPr>
        <p:spPr>
          <a:xfrm>
            <a:off x="2428875" y="2659624"/>
            <a:ext cx="6000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Üst Yönetime Sunum</a:t>
            </a:r>
            <a:endParaRPr lang="en-US" sz="1704" dirty="0"/>
          </a:p>
        </p:txBody>
      </p:sp>
      <p:sp>
        <p:nvSpPr>
          <p:cNvPr id="9" name="Text 4"/>
          <p:cNvSpPr/>
          <p:nvPr/>
        </p:nvSpPr>
        <p:spPr>
          <a:xfrm>
            <a:off x="2586038" y="3366855"/>
            <a:ext cx="58435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Kuveyt Türk Katılım Bankası A.Ş.</a:t>
            </a:r>
            <a:endParaRPr lang="en-US" sz="834" dirty="0"/>
          </a:p>
        </p:txBody>
      </p:sp>
      <p:sp>
        <p:nvSpPr>
          <p:cNvPr id="10" name="Text 5"/>
          <p:cNvSpPr/>
          <p:nvPr/>
        </p:nvSpPr>
        <p:spPr>
          <a:xfrm>
            <a:off x="2586038" y="3549718"/>
            <a:ext cx="58435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Hazine ve Sermaye Piyasaları Grubu</a:t>
            </a:r>
            <a:endParaRPr lang="en-US" sz="834" dirty="0"/>
          </a:p>
        </p:txBody>
      </p:sp>
      <p:sp>
        <p:nvSpPr>
          <p:cNvPr id="11" name="Text 6"/>
          <p:cNvSpPr/>
          <p:nvPr/>
        </p:nvSpPr>
        <p:spPr>
          <a:xfrm>
            <a:off x="2586038" y="3732581"/>
            <a:ext cx="58435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Mart 2026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2309217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4" name="Text 1"/>
          <p:cNvSpPr/>
          <p:nvPr/>
        </p:nvSpPr>
        <p:spPr>
          <a:xfrm rot="10800000">
            <a:off x="285750" y="285750"/>
            <a:ext cx="1143000" cy="1737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spc="2" kern="0" dirty="0">
                <a:solidFill>
                  <a:srgbClr val="FFFFFF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GÜNDEM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2143125" y="285750"/>
            <a:ext cx="65722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Sunum Planı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143125" y="980480"/>
            <a:ext cx="500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2743200" y="980480"/>
            <a:ext cx="25574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TCMB Politikaları ve ALM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2743200" y="1214438"/>
            <a:ext cx="2557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Makro ekonomik görünüm, faiz kararları ve ALM stratejilerine etkileri.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557838" y="980480"/>
            <a:ext cx="500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6157913" y="980480"/>
            <a:ext cx="25574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Yönetimi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6157913" y="1214438"/>
            <a:ext cx="2557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 fonlama maliyetinin optimizasyonu ve stratejik borçlanma araçları.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2143125" y="1705905"/>
            <a:ext cx="500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2743200" y="1705905"/>
            <a:ext cx="25574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Plasman Yönetimi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2743200" y="1939863"/>
            <a:ext cx="2557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 likidite fazlasının etkin değerlendirilmesi ve swap işlemleri.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557838" y="1705905"/>
            <a:ext cx="500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36" dirty="0"/>
          </a:p>
        </p:txBody>
      </p:sp>
      <p:sp>
        <p:nvSpPr>
          <p:cNvPr id="16" name="Text 13"/>
          <p:cNvSpPr/>
          <p:nvPr/>
        </p:nvSpPr>
        <p:spPr>
          <a:xfrm>
            <a:off x="6157913" y="1705905"/>
            <a:ext cx="25574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Anahtar Stratejik Girişimler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6157913" y="1939863"/>
            <a:ext cx="2557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İlk profit rate swap ve kıymetli madenler pazarındaki yenilikler.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2143125" y="2431331"/>
            <a:ext cx="500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36" dirty="0"/>
          </a:p>
        </p:txBody>
      </p:sp>
      <p:sp>
        <p:nvSpPr>
          <p:cNvPr id="19" name="Text 16"/>
          <p:cNvSpPr/>
          <p:nvPr/>
        </p:nvSpPr>
        <p:spPr>
          <a:xfrm>
            <a:off x="2743200" y="2431331"/>
            <a:ext cx="25574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Yatırım Yönetimi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2743200" y="2665288"/>
            <a:ext cx="2557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Sukuk portföyü, gelir performansı ve TLREFK endeksli yatırımlar.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557838" y="2431331"/>
            <a:ext cx="500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436" dirty="0"/>
          </a:p>
        </p:txBody>
      </p:sp>
      <p:sp>
        <p:nvSpPr>
          <p:cNvPr id="22" name="Text 19"/>
          <p:cNvSpPr/>
          <p:nvPr/>
        </p:nvSpPr>
        <p:spPr>
          <a:xfrm>
            <a:off x="6157913" y="2431331"/>
            <a:ext cx="25574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Regülasyon Uyumu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6157913" y="2665288"/>
            <a:ext cx="2557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Makroihtiyati tedbirlere uyum ve zorunlu karşılık yönetimi.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2143125" y="3156756"/>
            <a:ext cx="500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436" dirty="0"/>
          </a:p>
        </p:txBody>
      </p:sp>
      <p:sp>
        <p:nvSpPr>
          <p:cNvPr id="25" name="Text 22"/>
          <p:cNvSpPr/>
          <p:nvPr/>
        </p:nvSpPr>
        <p:spPr>
          <a:xfrm>
            <a:off x="2743200" y="3156756"/>
            <a:ext cx="25574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 Stratejik Hedefler</a:t>
            </a:r>
            <a:endParaRPr lang="en-US" sz="1090" dirty="0"/>
          </a:p>
        </p:txBody>
      </p:sp>
      <p:sp>
        <p:nvSpPr>
          <p:cNvPr id="26" name="Text 23"/>
          <p:cNvSpPr/>
          <p:nvPr/>
        </p:nvSpPr>
        <p:spPr>
          <a:xfrm>
            <a:off x="2743200" y="3390714"/>
            <a:ext cx="2557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Gelecek vizyonu, yeni araçlar ve dinamik ALM projesi.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14500"/>
            <a:ext cx="2143125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2436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436" dirty="0"/>
          </a:p>
        </p:txBody>
      </p:sp>
      <p:sp>
        <p:nvSpPr>
          <p:cNvPr id="4" name="Text 1"/>
          <p:cNvSpPr/>
          <p:nvPr/>
        </p:nvSpPr>
        <p:spPr>
          <a:xfrm>
            <a:off x="714375" y="1714500"/>
            <a:ext cx="18288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01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343275" y="1700240"/>
            <a:ext cx="508635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TCMB Politikaları ve ALM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3343275" y="2803224"/>
            <a:ext cx="50863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Kararlar, Gelişmeler ve Aksiyonlarımız – Makro Bakış</a:t>
            </a:r>
            <a:endParaRPr lang="en-US" sz="170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914400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0" y="357188"/>
            <a:ext cx="62865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 TCMB Para Politikası ve ALM Etkileri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286000" y="701511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Makro Bakış ve Stratejik Aksiyonlar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286000" y="1280154"/>
            <a:ext cx="3514725" cy="17323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MAKRO GÖRÜNÜM &amp; REGÜLASYON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2286000" y="1560547"/>
            <a:ext cx="3514725" cy="51435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Normalleşme Süreci: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2025 yılı boyunca sıkılaştırma döneminden kademeli normalleşmeye geçiş ve politika faizindeki değişim trendi.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2286000" y="2182053"/>
            <a:ext cx="3514725" cy="51435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Makroihtiyati Tedbirler: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Katılım bankacılığına özel zorunlu karşılık oranları, kredi büyüme limitleri ve menkul kıymet tesis yükümlülükleri.</a:t>
            </a:r>
            <a:endParaRPr lang="en-US" sz="784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89122"/>
            <a:ext cx="53578" cy="12858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210628"/>
            <a:ext cx="5357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86000" y="3089309"/>
            <a:ext cx="3514725" cy="17323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 STRATEJISI &amp; AKSIYONLAR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2286000" y="3369701"/>
            <a:ext cx="3514725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Proaktif Pozisyonlanma: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Faiz döngüsündeki değişimlere karşı bilanço yapısının esnekliğinin artırılması.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2286000" y="3819758"/>
            <a:ext cx="3514725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Hedge Stratejileri: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Faiz riskine karşı türev ürünlerin etkin kullanımı ve portföy vadesinin yeniden dengelenmesi.</a:t>
            </a:r>
            <a:endParaRPr lang="en-US" sz="784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398276"/>
            <a:ext cx="53578" cy="128588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848333"/>
            <a:ext cx="53578" cy="12858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229350" y="1604470"/>
            <a:ext cx="2343150" cy="2857500"/>
          </a:xfrm>
          <a:prstGeom prst="rect">
            <a:avLst/>
          </a:prstGeom>
          <a:solidFill>
            <a:srgbClr val="F5F7F6"/>
          </a:solidFill>
          <a:ln w="18288">
            <a:solidFill>
              <a:srgbClr val="B0E5DD"/>
            </a:solidFill>
            <a:prstDash val="dash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7229475" y="2476007"/>
            <a:ext cx="342900" cy="3429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372225" y="2961782"/>
            <a:ext cx="2057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TCMB Faiz Kararları ve Piyasa Etkisi Grafiği</a:t>
            </a:r>
            <a:endParaRPr lang="en-US" sz="885" dirty="0"/>
          </a:p>
        </p:txBody>
      </p:sp>
      <p:sp>
        <p:nvSpPr>
          <p:cNvPr id="19" name="Text 11"/>
          <p:cNvSpPr/>
          <p:nvPr/>
        </p:nvSpPr>
        <p:spPr>
          <a:xfrm>
            <a:off x="6578501" y="3347545"/>
            <a:ext cx="164484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 alana ilgili grafik eklenecektir.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(Veri kaynağı bekleniyor)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14472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2436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436" dirty="0"/>
          </a:p>
        </p:txBody>
      </p:sp>
      <p:sp>
        <p:nvSpPr>
          <p:cNvPr id="4" name="Text 1"/>
          <p:cNvSpPr/>
          <p:nvPr/>
        </p:nvSpPr>
        <p:spPr>
          <a:xfrm>
            <a:off x="714375" y="1714472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02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600450" y="1620208"/>
            <a:ext cx="4829175" cy="144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 Fonlama Maliyetinin Optimize Edilmesi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3600450" y="3203246"/>
            <a:ext cx="482917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spc="2" kern="0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YÖNETIMI</a:t>
            </a:r>
            <a:endParaRPr lang="en-US" sz="170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921544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42875"/>
            <a:ext cx="1428750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2875" y="657225"/>
            <a:ext cx="14287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YÖNETIMI</a:t>
            </a:r>
            <a:endParaRPr lang="en-US" sz="727" dirty="0"/>
          </a:p>
        </p:txBody>
      </p:sp>
      <p:sp>
        <p:nvSpPr>
          <p:cNvPr id="6" name="Text 2"/>
          <p:cNvSpPr/>
          <p:nvPr/>
        </p:nvSpPr>
        <p:spPr>
          <a:xfrm>
            <a:off x="2286000" y="214313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Londra Swapları ile TL Fonlama Avantajı</a:t>
            </a:r>
            <a:endParaRPr lang="en-US" sz="1808" dirty="0"/>
          </a:p>
        </p:txBody>
      </p:sp>
      <p:sp>
        <p:nvSpPr>
          <p:cNvPr id="7" name="Shape 3"/>
          <p:cNvSpPr/>
          <p:nvPr/>
        </p:nvSpPr>
        <p:spPr>
          <a:xfrm>
            <a:off x="2286000" y="948333"/>
            <a:ext cx="1952616" cy="1214438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8" name="Shape 4"/>
          <p:cNvSpPr/>
          <p:nvPr/>
        </p:nvSpPr>
        <p:spPr>
          <a:xfrm>
            <a:off x="2286000" y="948333"/>
            <a:ext cx="42863" cy="1214438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9" name="Text 5"/>
          <p:cNvSpPr/>
          <p:nvPr/>
        </p:nvSpPr>
        <p:spPr>
          <a:xfrm>
            <a:off x="2414588" y="1076920"/>
            <a:ext cx="16668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İŞLEM HACMI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2414588" y="1269802"/>
            <a:ext cx="16668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Milyar TL</a:t>
            </a:r>
            <a:endParaRPr lang="en-US" sz="1808" dirty="0"/>
          </a:p>
        </p:txBody>
      </p:sp>
      <p:sp>
        <p:nvSpPr>
          <p:cNvPr id="11" name="Text 7"/>
          <p:cNvSpPr/>
          <p:nvPr/>
        </p:nvSpPr>
        <p:spPr>
          <a:xfrm>
            <a:off x="2414588" y="1618059"/>
            <a:ext cx="166686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 Yıl Sonu</a:t>
            </a:r>
            <a:endParaRPr lang="en-US" sz="621" dirty="0"/>
          </a:p>
        </p:txBody>
      </p:sp>
      <p:sp>
        <p:nvSpPr>
          <p:cNvPr id="12" name="Shape 8"/>
          <p:cNvSpPr/>
          <p:nvPr/>
        </p:nvSpPr>
        <p:spPr>
          <a:xfrm>
            <a:off x="4424353" y="948333"/>
            <a:ext cx="1966903" cy="1214438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13" name="Shape 9"/>
          <p:cNvSpPr/>
          <p:nvPr/>
        </p:nvSpPr>
        <p:spPr>
          <a:xfrm>
            <a:off x="4424353" y="948333"/>
            <a:ext cx="42863" cy="1214438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4" name="Text 10"/>
          <p:cNvSpPr/>
          <p:nvPr/>
        </p:nvSpPr>
        <p:spPr>
          <a:xfrm>
            <a:off x="4567228" y="1076920"/>
            <a:ext cx="16811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AVANTAJI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4567228" y="1269802"/>
            <a:ext cx="168115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bps</a:t>
            </a:r>
            <a:endParaRPr lang="en-US" sz="1808" dirty="0"/>
          </a:p>
        </p:txBody>
      </p:sp>
      <p:sp>
        <p:nvSpPr>
          <p:cNvPr id="16" name="Text 12"/>
          <p:cNvSpPr/>
          <p:nvPr/>
        </p:nvSpPr>
        <p:spPr>
          <a:xfrm>
            <a:off x="4567228" y="1618059"/>
            <a:ext cx="16811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Ortalamasına Göre</a:t>
            </a:r>
            <a:endParaRPr lang="en-US" sz="621" dirty="0"/>
          </a:p>
        </p:txBody>
      </p:sp>
      <p:sp>
        <p:nvSpPr>
          <p:cNvPr id="17" name="Shape 13"/>
          <p:cNvSpPr/>
          <p:nvPr/>
        </p:nvSpPr>
        <p:spPr>
          <a:xfrm>
            <a:off x="6591281" y="948333"/>
            <a:ext cx="1981191" cy="1214438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18" name="Shape 14"/>
          <p:cNvSpPr/>
          <p:nvPr/>
        </p:nvSpPr>
        <p:spPr>
          <a:xfrm>
            <a:off x="6591281" y="948333"/>
            <a:ext cx="42863" cy="1214438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9" name="Text 15"/>
          <p:cNvSpPr/>
          <p:nvPr/>
        </p:nvSpPr>
        <p:spPr>
          <a:xfrm>
            <a:off x="6748444" y="1076920"/>
            <a:ext cx="16954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TOPLAM TASARRUF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6748444" y="1269802"/>
            <a:ext cx="1695441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Milyon TL</a:t>
            </a:r>
            <a:endParaRPr lang="en-US" sz="1808" dirty="0"/>
          </a:p>
        </p:txBody>
      </p:sp>
      <p:sp>
        <p:nvSpPr>
          <p:cNvPr id="21" name="Text 17"/>
          <p:cNvSpPr/>
          <p:nvPr/>
        </p:nvSpPr>
        <p:spPr>
          <a:xfrm>
            <a:off x="6748444" y="1930598"/>
            <a:ext cx="16954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Yıllık Kümülatif</a:t>
            </a:r>
            <a:endParaRPr lang="en-US" sz="621" dirty="0"/>
          </a:p>
        </p:txBody>
      </p:sp>
      <p:sp>
        <p:nvSpPr>
          <p:cNvPr id="22" name="Text 18"/>
          <p:cNvSpPr/>
          <p:nvPr/>
        </p:nvSpPr>
        <p:spPr>
          <a:xfrm>
            <a:off x="2286000" y="2305645"/>
            <a:ext cx="3036094" cy="57864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Stratejik İşlem Hacmi: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KT Londra ile yapılan TL swap işlemleri fonlama omurgamızı destekler.</a:t>
            </a:r>
            <a:endParaRPr lang="en-US" sz="885" dirty="0"/>
          </a:p>
        </p:txBody>
      </p:sp>
      <p:sp>
        <p:nvSpPr>
          <p:cNvPr id="23" name="Text 19"/>
          <p:cNvSpPr/>
          <p:nvPr/>
        </p:nvSpPr>
        <p:spPr>
          <a:xfrm>
            <a:off x="2286000" y="2970014"/>
            <a:ext cx="3036094" cy="57864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Optimizasyonu: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Londra piyasası spread avantajı sağlayarak maliyetleri düşürür.</a:t>
            </a:r>
            <a:endParaRPr lang="en-US" sz="885" dirty="0"/>
          </a:p>
        </p:txBody>
      </p:sp>
      <p:sp>
        <p:nvSpPr>
          <p:cNvPr id="24" name="Text 20"/>
          <p:cNvSpPr/>
          <p:nvPr/>
        </p:nvSpPr>
        <p:spPr>
          <a:xfrm>
            <a:off x="2286000" y="3634383"/>
            <a:ext cx="3036094" cy="57864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Vade Yapısı: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Vade dağılımı likidite projeksiyonlarına uygun şekilde optimize edilmiştir.</a:t>
            </a:r>
            <a:endParaRPr lang="en-US" sz="885" dirty="0"/>
          </a:p>
        </p:txBody>
      </p:sp>
      <p:sp>
        <p:nvSpPr>
          <p:cNvPr id="25" name="Shape 21"/>
          <p:cNvSpPr/>
          <p:nvPr/>
        </p:nvSpPr>
        <p:spPr>
          <a:xfrm>
            <a:off x="5536406" y="2305645"/>
            <a:ext cx="3036094" cy="9286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334220"/>
            <a:ext cx="128588" cy="192881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998589"/>
            <a:ext cx="128588" cy="192881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662958"/>
            <a:ext cx="128588" cy="19288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36406" y="2305645"/>
            <a:ext cx="3036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Fonlama Maliyeti Karşılaştırması (Temsili)</a:t>
            </a:r>
            <a:endParaRPr lang="en-US" sz="784" dirty="0"/>
          </a:p>
        </p:txBody>
      </p:sp>
      <p:sp>
        <p:nvSpPr>
          <p:cNvPr id="30" name="Text 23"/>
          <p:cNvSpPr/>
          <p:nvPr/>
        </p:nvSpPr>
        <p:spPr>
          <a:xfrm>
            <a:off x="5536406" y="2577108"/>
            <a:ext cx="857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Swap</a:t>
            </a:r>
            <a:endParaRPr lang="en-US" sz="727" dirty="0"/>
          </a:p>
        </p:txBody>
      </p:sp>
      <p:sp>
        <p:nvSpPr>
          <p:cNvPr id="31" name="Shape 24"/>
          <p:cNvSpPr/>
          <p:nvPr/>
        </p:nvSpPr>
        <p:spPr>
          <a:xfrm>
            <a:off x="6465094" y="2530673"/>
            <a:ext cx="2107406" cy="214313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25"/>
          <p:cNvSpPr/>
          <p:nvPr/>
        </p:nvSpPr>
        <p:spPr>
          <a:xfrm>
            <a:off x="6465094" y="2530673"/>
            <a:ext cx="1896666" cy="214313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3" name="Text 26"/>
          <p:cNvSpPr/>
          <p:nvPr/>
        </p:nvSpPr>
        <p:spPr>
          <a:xfrm>
            <a:off x="6465094" y="2530673"/>
            <a:ext cx="1896666" cy="214313"/>
          </a:xfrm>
          <a:prstGeom prst="rect">
            <a:avLst/>
          </a:prstGeom>
          <a:noFill/>
          <a:ln/>
        </p:spPr>
        <p:txBody>
          <a:bodyPr wrap="square" lIns="0" tIns="0" rIns="8509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 + X bps</a:t>
            </a:r>
            <a:endParaRPr lang="en-US" sz="584" dirty="0"/>
          </a:p>
        </p:txBody>
      </p:sp>
      <p:sp>
        <p:nvSpPr>
          <p:cNvPr id="34" name="Text 27"/>
          <p:cNvSpPr/>
          <p:nvPr/>
        </p:nvSpPr>
        <p:spPr>
          <a:xfrm>
            <a:off x="5536406" y="2877145"/>
            <a:ext cx="857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 Londra</a:t>
            </a:r>
            <a:endParaRPr lang="en-US" sz="727" dirty="0"/>
          </a:p>
        </p:txBody>
      </p:sp>
      <p:sp>
        <p:nvSpPr>
          <p:cNvPr id="35" name="Shape 28"/>
          <p:cNvSpPr/>
          <p:nvPr/>
        </p:nvSpPr>
        <p:spPr>
          <a:xfrm>
            <a:off x="6465094" y="2830711"/>
            <a:ext cx="2107406" cy="214313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6" name="Shape 29"/>
          <p:cNvSpPr/>
          <p:nvPr/>
        </p:nvSpPr>
        <p:spPr>
          <a:xfrm>
            <a:off x="6465094" y="2830711"/>
            <a:ext cx="1369814" cy="21431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37" name="Text 30"/>
          <p:cNvSpPr/>
          <p:nvPr/>
        </p:nvSpPr>
        <p:spPr>
          <a:xfrm>
            <a:off x="6465094" y="2830711"/>
            <a:ext cx="1369814" cy="214313"/>
          </a:xfrm>
          <a:prstGeom prst="rect">
            <a:avLst/>
          </a:prstGeom>
          <a:noFill/>
          <a:ln/>
        </p:spPr>
        <p:txBody>
          <a:bodyPr wrap="square" lIns="0" tIns="0" rIns="8509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 + Y bps</a:t>
            </a:r>
            <a:endParaRPr lang="en-US" sz="584" dirty="0"/>
          </a:p>
        </p:txBody>
      </p:sp>
      <p:sp>
        <p:nvSpPr>
          <p:cNvPr id="38" name="Text 31"/>
          <p:cNvSpPr/>
          <p:nvPr/>
        </p:nvSpPr>
        <p:spPr>
          <a:xfrm>
            <a:off x="6187380" y="3130748"/>
            <a:ext cx="7608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Ortalaması</a:t>
            </a:r>
            <a:endParaRPr lang="en-US" sz="621" dirty="0"/>
          </a:p>
        </p:txBody>
      </p:sp>
      <p:sp>
        <p:nvSpPr>
          <p:cNvPr id="39" name="Text 32"/>
          <p:cNvSpPr/>
          <p:nvPr/>
        </p:nvSpPr>
        <p:spPr>
          <a:xfrm>
            <a:off x="7212509" y="3130748"/>
            <a:ext cx="83046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Kuveyt Türk Londra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85850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4" name="Text 1"/>
          <p:cNvSpPr/>
          <p:nvPr/>
        </p:nvSpPr>
        <p:spPr>
          <a:xfrm>
            <a:off x="2143125" y="357188"/>
            <a:ext cx="6572250" cy="760809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Karşılaştırmasında TL Fonlama Avantajımız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143125" y="1260872"/>
            <a:ext cx="2143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4974" b="1" spc="-2" kern="0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350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1602" b="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bps</a:t>
            </a:r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2143125" y="2018109"/>
            <a:ext cx="2143125" cy="44648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Sektör Ortalamasına Göre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Avantajı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2143125" y="2486025"/>
            <a:ext cx="817959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%12</a:t>
            </a:r>
            <a:endParaRPr lang="en-US" sz="3294" dirty="0"/>
          </a:p>
        </p:txBody>
      </p:sp>
      <p:sp>
        <p:nvSpPr>
          <p:cNvPr id="8" name="Text 5"/>
          <p:cNvSpPr/>
          <p:nvPr/>
        </p:nvSpPr>
        <p:spPr>
          <a:xfrm>
            <a:off x="2143125" y="3064669"/>
            <a:ext cx="2143125" cy="44648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Yıllık Fonlama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Maliyeti İyileşmesi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429125" y="1260872"/>
            <a:ext cx="4286250" cy="17145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425" y="1375172"/>
            <a:ext cx="4057650" cy="14859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43125" y="3796903"/>
            <a:ext cx="2114550" cy="83581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8"/>
          <p:cNvSpPr/>
          <p:nvPr/>
        </p:nvSpPr>
        <p:spPr>
          <a:xfrm>
            <a:off x="2143125" y="3796903"/>
            <a:ext cx="42863" cy="835819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850" y="3896916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28875" y="3882628"/>
            <a:ext cx="15609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Çeşitlendirilmiş Araçlar</a:t>
            </a:r>
            <a:endParaRPr lang="en-US" sz="885" dirty="0"/>
          </a:p>
        </p:txBody>
      </p:sp>
      <p:sp>
        <p:nvSpPr>
          <p:cNvPr id="15" name="Text 10"/>
          <p:cNvSpPr/>
          <p:nvPr/>
        </p:nvSpPr>
        <p:spPr>
          <a:xfrm>
            <a:off x="2228850" y="4096941"/>
            <a:ext cx="19431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Sukuk, swap ve repo gibi farklı fonlama kanallarının etkin kullanımı ile maliyet optimizasyonu.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4371975" y="3796903"/>
            <a:ext cx="2114550" cy="83581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2"/>
          <p:cNvSpPr/>
          <p:nvPr/>
        </p:nvSpPr>
        <p:spPr>
          <a:xfrm>
            <a:off x="4371975" y="3796903"/>
            <a:ext cx="42863" cy="835819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3896916"/>
            <a:ext cx="128588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657725" y="3882628"/>
            <a:ext cx="153054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Etkin Likidite Yönetimi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4457700" y="4096941"/>
            <a:ext cx="19431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Günlük nakit akışlarının proaktif takibi ve atıl likiditenin minimize edilmesi.</a:t>
            </a:r>
            <a:endParaRPr lang="en-US" sz="727" dirty="0"/>
          </a:p>
        </p:txBody>
      </p:sp>
      <p:sp>
        <p:nvSpPr>
          <p:cNvPr id="21" name="Shape 15"/>
          <p:cNvSpPr/>
          <p:nvPr/>
        </p:nvSpPr>
        <p:spPr>
          <a:xfrm>
            <a:off x="6600825" y="3796903"/>
            <a:ext cx="2114550" cy="83581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Shape 16"/>
          <p:cNvSpPr/>
          <p:nvPr/>
        </p:nvSpPr>
        <p:spPr>
          <a:xfrm>
            <a:off x="6600825" y="3796903"/>
            <a:ext cx="42863" cy="835819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3896916"/>
            <a:ext cx="96441" cy="128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4428" y="3882628"/>
            <a:ext cx="139660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Stratejik Zamanlama</a:t>
            </a:r>
            <a:endParaRPr lang="en-US" sz="885" dirty="0"/>
          </a:p>
        </p:txBody>
      </p:sp>
      <p:sp>
        <p:nvSpPr>
          <p:cNvPr id="25" name="Text 18"/>
          <p:cNvSpPr/>
          <p:nvPr/>
        </p:nvSpPr>
        <p:spPr>
          <a:xfrm>
            <a:off x="6686550" y="4096941"/>
            <a:ext cx="19431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volatilitesinin yüksek olduğu dönemlerde doğru zamanlama ile borçlanma kararları.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832372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4" name="Text 1"/>
          <p:cNvSpPr/>
          <p:nvPr/>
        </p:nvSpPr>
        <p:spPr>
          <a:xfrm rot="10800000">
            <a:off x="285750" y="285750"/>
            <a:ext cx="1143000" cy="1260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KUVEYT TÜRK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BİST Sukuk Taahhütlü İşlemler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2286000" y="741164"/>
            <a:ext cx="62865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Fonlama Çeşitlendirmesi ve Maliyet Avantajı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286000" y="1371600"/>
            <a:ext cx="1952616" cy="744373"/>
          </a:xfrm>
          <a:prstGeom prst="rect">
            <a:avLst/>
          </a:prstGeom>
          <a:solidFill>
            <a:srgbClr val="F5F7F6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0" y="1371600"/>
            <a:ext cx="42863" cy="74437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9" name="Text 6"/>
          <p:cNvSpPr/>
          <p:nvPr/>
        </p:nvSpPr>
        <p:spPr>
          <a:xfrm>
            <a:off x="2414588" y="1500188"/>
            <a:ext cx="1666866" cy="3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12.5 Mr TL</a:t>
            </a:r>
            <a:endParaRPr lang="en-US" sz="2121" dirty="0"/>
          </a:p>
        </p:txBody>
      </p:sp>
      <p:sp>
        <p:nvSpPr>
          <p:cNvPr id="10" name="Text 7"/>
          <p:cNvSpPr/>
          <p:nvPr/>
        </p:nvSpPr>
        <p:spPr>
          <a:xfrm>
            <a:off x="2414588" y="1865942"/>
            <a:ext cx="16668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TOPLAM İŞLEM HACMI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4424353" y="1371600"/>
            <a:ext cx="1966903" cy="744373"/>
          </a:xfrm>
          <a:prstGeom prst="rect">
            <a:avLst/>
          </a:prstGeom>
          <a:solidFill>
            <a:srgbClr val="F5F7F6"/>
          </a:solidFill>
          <a:ln/>
        </p:spPr>
      </p:sp>
      <p:sp>
        <p:nvSpPr>
          <p:cNvPr id="12" name="Shape 9"/>
          <p:cNvSpPr/>
          <p:nvPr/>
        </p:nvSpPr>
        <p:spPr>
          <a:xfrm>
            <a:off x="4424353" y="1371600"/>
            <a:ext cx="42863" cy="74437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3" name="Text 10"/>
          <p:cNvSpPr/>
          <p:nvPr/>
        </p:nvSpPr>
        <p:spPr>
          <a:xfrm>
            <a:off x="4567228" y="1500188"/>
            <a:ext cx="1681153" cy="3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 bps</a:t>
            </a:r>
            <a:endParaRPr lang="en-US" sz="2121" dirty="0"/>
          </a:p>
        </p:txBody>
      </p:sp>
      <p:sp>
        <p:nvSpPr>
          <p:cNvPr id="14" name="Text 11"/>
          <p:cNvSpPr/>
          <p:nvPr/>
        </p:nvSpPr>
        <p:spPr>
          <a:xfrm>
            <a:off x="4567228" y="1865942"/>
            <a:ext cx="16811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AVANTAJI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6591281" y="1371600"/>
            <a:ext cx="1981191" cy="744373"/>
          </a:xfrm>
          <a:prstGeom prst="rect">
            <a:avLst/>
          </a:prstGeom>
          <a:solidFill>
            <a:srgbClr val="F5F7F6"/>
          </a:solidFill>
          <a:ln/>
        </p:spPr>
      </p:sp>
      <p:sp>
        <p:nvSpPr>
          <p:cNvPr id="16" name="Shape 13"/>
          <p:cNvSpPr/>
          <p:nvPr/>
        </p:nvSpPr>
        <p:spPr>
          <a:xfrm>
            <a:off x="6591281" y="1371600"/>
            <a:ext cx="42863" cy="74437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7" name="Text 14"/>
          <p:cNvSpPr/>
          <p:nvPr/>
        </p:nvSpPr>
        <p:spPr>
          <a:xfrm>
            <a:off x="6748444" y="1500188"/>
            <a:ext cx="1695441" cy="3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25+</a:t>
            </a:r>
            <a:endParaRPr lang="en-US" sz="2121" dirty="0"/>
          </a:p>
        </p:txBody>
      </p:sp>
      <p:sp>
        <p:nvSpPr>
          <p:cNvPr id="18" name="Text 15"/>
          <p:cNvSpPr/>
          <p:nvPr/>
        </p:nvSpPr>
        <p:spPr>
          <a:xfrm>
            <a:off x="6748444" y="1865942"/>
            <a:ext cx="16954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AKTIF KARŞI TARAF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2286000" y="2315998"/>
            <a:ext cx="85725" cy="85725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20" name="Text 17"/>
          <p:cNvSpPr/>
          <p:nvPr/>
        </p:nvSpPr>
        <p:spPr>
          <a:xfrm>
            <a:off x="2464594" y="2258848"/>
            <a:ext cx="28217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Fonlama Çeşitliliği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2464594" y="2451729"/>
            <a:ext cx="282178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BİST Taahhütlü İşlemler Pazarı üzerinden gerçekleştirilen repo benzeri işlemlerle fonlama kaynakları çeşitlendirilmiştir.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286000" y="3076808"/>
            <a:ext cx="85725" cy="85725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23" name="Text 20"/>
          <p:cNvSpPr/>
          <p:nvPr/>
        </p:nvSpPr>
        <p:spPr>
          <a:xfrm>
            <a:off x="2464594" y="3019658"/>
            <a:ext cx="28217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Optimizasyonu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2464594" y="3212539"/>
            <a:ext cx="282178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Alternatif borçlanma araçlarına kıyasla daha düşük maliyetli fonlama sağlanarak net kar marjına pozitif katkı sunulmuştur.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2286000" y="3837617"/>
            <a:ext cx="85725" cy="85725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26" name="Text 23"/>
          <p:cNvSpPr/>
          <p:nvPr/>
        </p:nvSpPr>
        <p:spPr>
          <a:xfrm>
            <a:off x="2464594" y="3780467"/>
            <a:ext cx="28217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Likidite Yönetimi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2464594" y="3973348"/>
            <a:ext cx="282178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Kısa vadeli nakit akışlarının yönetiminde esneklik sağlanmış ve piyasa derinliğinden etkin şekilde yararlanılmıştır.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5572125" y="2258848"/>
            <a:ext cx="30003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İşlem Vade Dağılımı</a:t>
            </a:r>
            <a:endParaRPr lang="en-US" sz="784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5" y="2505308"/>
            <a:ext cx="3000375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27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428750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Stratejik Borçlanma Operasyonları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Optimizasyonu ve Zamanlama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457450" y="1212652"/>
            <a:ext cx="17335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8.4 Mr TL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2457450" y="1591270"/>
            <a:ext cx="17335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TOPLAM İŞLEM HACMI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648209" y="1212652"/>
            <a:ext cx="17335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%38.5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4648209" y="1591270"/>
            <a:ext cx="17335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ORT. FONLAMA MALIYETI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838969" y="1212652"/>
            <a:ext cx="17335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210 bps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6838969" y="1591270"/>
            <a:ext cx="17335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BENCHMARK ALTI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2286000" y="1941314"/>
            <a:ext cx="1348718" cy="378619"/>
          </a:xfrm>
          <a:prstGeom prst="rect">
            <a:avLst/>
          </a:prstGeom>
          <a:solidFill>
            <a:srgbClr val="096A3D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0" y="1941314"/>
            <a:ext cx="1348718" cy="3786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İŞLEM TÜRÜ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3634718" y="1941314"/>
            <a:ext cx="600521" cy="378619"/>
          </a:xfrm>
          <a:prstGeom prst="rect">
            <a:avLst/>
          </a:prstGeom>
          <a:solidFill>
            <a:srgbClr val="096A3D"/>
          </a:solidFill>
          <a:ln/>
        </p:spPr>
      </p:sp>
      <p:sp>
        <p:nvSpPr>
          <p:cNvPr id="15" name="Text 12"/>
          <p:cNvSpPr/>
          <p:nvPr/>
        </p:nvSpPr>
        <p:spPr>
          <a:xfrm>
            <a:off x="3634718" y="1941314"/>
            <a:ext cx="600521" cy="3786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VADE</a:t>
            </a:r>
            <a:endParaRPr lang="en-US" sz="584" dirty="0"/>
          </a:p>
        </p:txBody>
      </p:sp>
      <p:sp>
        <p:nvSpPr>
          <p:cNvPr id="16" name="Shape 13"/>
          <p:cNvSpPr/>
          <p:nvPr/>
        </p:nvSpPr>
        <p:spPr>
          <a:xfrm>
            <a:off x="4235239" y="1941314"/>
            <a:ext cx="660099" cy="378619"/>
          </a:xfrm>
          <a:prstGeom prst="rect">
            <a:avLst/>
          </a:prstGeom>
          <a:solidFill>
            <a:srgbClr val="096A3D"/>
          </a:solidFill>
          <a:ln/>
        </p:spPr>
      </p:sp>
      <p:sp>
        <p:nvSpPr>
          <p:cNvPr id="17" name="Text 14"/>
          <p:cNvSpPr/>
          <p:nvPr/>
        </p:nvSpPr>
        <p:spPr>
          <a:xfrm>
            <a:off x="4235239" y="1941314"/>
            <a:ext cx="660099" cy="3786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TUTAR (TL)</a:t>
            </a:r>
            <a:endParaRPr lang="en-US" sz="584" dirty="0"/>
          </a:p>
        </p:txBody>
      </p:sp>
      <p:sp>
        <p:nvSpPr>
          <p:cNvPr id="18" name="Shape 15"/>
          <p:cNvSpPr/>
          <p:nvPr/>
        </p:nvSpPr>
        <p:spPr>
          <a:xfrm>
            <a:off x="4895338" y="1941314"/>
            <a:ext cx="991112" cy="378619"/>
          </a:xfrm>
          <a:prstGeom prst="rect">
            <a:avLst/>
          </a:prstGeom>
          <a:solidFill>
            <a:srgbClr val="096A3D"/>
          </a:solidFill>
          <a:ln/>
        </p:spPr>
      </p:sp>
      <p:sp>
        <p:nvSpPr>
          <p:cNvPr id="19" name="Text 16"/>
          <p:cNvSpPr/>
          <p:nvPr/>
        </p:nvSpPr>
        <p:spPr>
          <a:xfrm>
            <a:off x="4895338" y="1941314"/>
            <a:ext cx="991112" cy="3786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AVANTAJI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2286000" y="2319933"/>
            <a:ext cx="1348718" cy="41790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Sendikasyon Kredisi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3634718" y="2319933"/>
            <a:ext cx="600521" cy="41790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367 Gün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4235239" y="2319933"/>
            <a:ext cx="660099" cy="41790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3.5 Milyar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895338" y="2319933"/>
            <a:ext cx="991112" cy="41790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250 bps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2286000" y="2737842"/>
            <a:ext cx="3600450" cy="42148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5" name="Text 22"/>
          <p:cNvSpPr/>
          <p:nvPr/>
        </p:nvSpPr>
        <p:spPr>
          <a:xfrm>
            <a:off x="2286000" y="2737842"/>
            <a:ext cx="1348718" cy="42148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İkili Borçlanma (Bilateral)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3634718" y="2737842"/>
            <a:ext cx="600521" cy="42148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 Gün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4235239" y="2737842"/>
            <a:ext cx="660099" cy="42148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2.1 Milyar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4895338" y="2737842"/>
            <a:ext cx="991112" cy="42148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 bps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2286000" y="3159323"/>
            <a:ext cx="1348718" cy="42148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Sukuk İhracı (Yurt İçi)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3634718" y="3159323"/>
            <a:ext cx="600521" cy="42148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 Gün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4235239" y="3159323"/>
            <a:ext cx="660099" cy="42148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1.8 Milyar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4895338" y="3159323"/>
            <a:ext cx="991112" cy="42148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bps</a:t>
            </a:r>
            <a:endParaRPr lang="en-US" sz="683" dirty="0"/>
          </a:p>
        </p:txBody>
      </p:sp>
      <p:sp>
        <p:nvSpPr>
          <p:cNvPr id="33" name="Shape 30"/>
          <p:cNvSpPr/>
          <p:nvPr/>
        </p:nvSpPr>
        <p:spPr>
          <a:xfrm>
            <a:off x="2286000" y="3580805"/>
            <a:ext cx="3600450" cy="42505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4" name="Text 31"/>
          <p:cNvSpPr/>
          <p:nvPr/>
        </p:nvSpPr>
        <p:spPr>
          <a:xfrm>
            <a:off x="2286000" y="3580805"/>
            <a:ext cx="1348718" cy="4250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 İşlemleri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3634718" y="3580805"/>
            <a:ext cx="600521" cy="4250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 Gün</a:t>
            </a:r>
            <a:endParaRPr lang="en-US" sz="727" dirty="0"/>
          </a:p>
        </p:txBody>
      </p:sp>
      <p:sp>
        <p:nvSpPr>
          <p:cNvPr id="36" name="Text 33"/>
          <p:cNvSpPr/>
          <p:nvPr/>
        </p:nvSpPr>
        <p:spPr>
          <a:xfrm>
            <a:off x="4235239" y="3580805"/>
            <a:ext cx="660099" cy="4250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 Milyar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4895338" y="3580805"/>
            <a:ext cx="991112" cy="4250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 bps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6172200" y="1941314"/>
            <a:ext cx="2400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Karşılaştırması</a:t>
            </a:r>
            <a:endParaRPr lang="en-US" sz="784" dirty="0"/>
          </a:p>
        </p:txBody>
      </p:sp>
      <p:sp>
        <p:nvSpPr>
          <p:cNvPr id="39" name="Shape 36"/>
          <p:cNvSpPr/>
          <p:nvPr/>
        </p:nvSpPr>
        <p:spPr>
          <a:xfrm>
            <a:off x="6172200" y="2187773"/>
            <a:ext cx="2400300" cy="2687836"/>
          </a:xfrm>
          <a:prstGeom prst="rect">
            <a:avLst/>
          </a:prstGeom>
          <a:solidFill>
            <a:srgbClr val="F5F7F6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356" y="2294930"/>
            <a:ext cx="2185988" cy="24735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914400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0" y="357188"/>
            <a:ext cx="6286500" cy="44827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 Fonlama Maliyeti Optimizasyonu Özet</a:t>
            </a:r>
            <a:endParaRPr lang="en-US" sz="1808" dirty="0"/>
          </a:p>
        </p:txBody>
      </p:sp>
      <p:sp>
        <p:nvSpPr>
          <p:cNvPr id="5" name="Shape 2"/>
          <p:cNvSpPr/>
          <p:nvPr/>
        </p:nvSpPr>
        <p:spPr>
          <a:xfrm>
            <a:off x="2286000" y="1091208"/>
            <a:ext cx="6286500" cy="985838"/>
          </a:xfrm>
          <a:prstGeom prst="rect">
            <a:avLst/>
          </a:prstGeom>
          <a:solidFill>
            <a:srgbClr val="096A3D"/>
          </a:solidFill>
          <a:ln/>
        </p:spPr>
      </p:sp>
      <p:sp>
        <p:nvSpPr>
          <p:cNvPr id="6" name="Text 3"/>
          <p:cNvSpPr/>
          <p:nvPr/>
        </p:nvSpPr>
        <p:spPr>
          <a:xfrm>
            <a:off x="2571750" y="1479649"/>
            <a:ext cx="193952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Toplam Yıllık Tasarruf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154216" y="1305520"/>
            <a:ext cx="3132534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Milyon TL</a:t>
            </a:r>
            <a:endParaRPr lang="en-US" sz="3294" dirty="0"/>
          </a:p>
        </p:txBody>
      </p:sp>
      <p:sp>
        <p:nvSpPr>
          <p:cNvPr id="8" name="Shape 5"/>
          <p:cNvSpPr/>
          <p:nvPr/>
        </p:nvSpPr>
        <p:spPr>
          <a:xfrm>
            <a:off x="7500938" y="734020"/>
            <a:ext cx="1428750" cy="142875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286000" y="2362795"/>
            <a:ext cx="1153185" cy="464344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KANAL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3439185" y="2362795"/>
            <a:ext cx="726458" cy="464344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İŞLEM HACMI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165643" y="2362795"/>
            <a:ext cx="804565" cy="464344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ORT. AVANTAJ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970208" y="2362795"/>
            <a:ext cx="701929" cy="464344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TASARRUF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2286000" y="2827139"/>
            <a:ext cx="1153185" cy="435769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Londra Swapları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439185" y="2827139"/>
            <a:ext cx="726458" cy="435769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165643" y="2827139"/>
            <a:ext cx="804565" cy="435769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bps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970208" y="2827139"/>
            <a:ext cx="701929" cy="435769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Mn TL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286000" y="3262908"/>
            <a:ext cx="1153185" cy="432197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Fonlama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3439185" y="3262908"/>
            <a:ext cx="726458" cy="432197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165643" y="3262908"/>
            <a:ext cx="804565" cy="432197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bps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970208" y="3262908"/>
            <a:ext cx="701929" cy="432197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Mn TL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2286000" y="3695105"/>
            <a:ext cx="1153185" cy="432197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BİST Sukuk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3439185" y="3695105"/>
            <a:ext cx="726458" cy="432197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12.5 Mr TL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165643" y="3695105"/>
            <a:ext cx="804565" cy="432197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 bps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970208" y="3695105"/>
            <a:ext cx="701929" cy="432197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Mn TL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2286000" y="4127302"/>
            <a:ext cx="1153185" cy="567928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Stratejik Borçlanma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3439185" y="4127302"/>
            <a:ext cx="726458" cy="567928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165643" y="4127302"/>
            <a:ext cx="804565" cy="567928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bps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970208" y="4127302"/>
            <a:ext cx="701929" cy="567928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Mn TL</a:t>
            </a:r>
            <a:endParaRPr lang="en-US" sz="784" dirty="0"/>
          </a:p>
        </p:txBody>
      </p:sp>
      <p:sp>
        <p:nvSpPr>
          <p:cNvPr id="29" name="Shape 26"/>
          <p:cNvSpPr/>
          <p:nvPr/>
        </p:nvSpPr>
        <p:spPr>
          <a:xfrm>
            <a:off x="6029325" y="2362795"/>
            <a:ext cx="2543175" cy="2423517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0" name="Text 27"/>
          <p:cNvSpPr/>
          <p:nvPr/>
        </p:nvSpPr>
        <p:spPr>
          <a:xfrm>
            <a:off x="6794599" y="2540496"/>
            <a:ext cx="101262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Tasarruf Dağılımı</a:t>
            </a:r>
            <a:endParaRPr lang="en-US" sz="784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822674"/>
            <a:ext cx="2257425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14472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2436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2436" dirty="0"/>
          </a:p>
        </p:txBody>
      </p:sp>
      <p:sp>
        <p:nvSpPr>
          <p:cNvPr id="4" name="Text 1"/>
          <p:cNvSpPr/>
          <p:nvPr/>
        </p:nvSpPr>
        <p:spPr>
          <a:xfrm>
            <a:off x="714375" y="1714472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03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600450" y="1620208"/>
            <a:ext cx="4829175" cy="144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 Likidite Fazlasının Etkin Değerlendirilmesi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3600450" y="3203246"/>
            <a:ext cx="482917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spc="2" kern="0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PLASMAN YÖNETIMI</a:t>
            </a:r>
            <a:endParaRPr lang="en-US" sz="170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95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300163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5750" y="771525"/>
            <a:ext cx="1143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PLASMAN YÖNETIMI</a:t>
            </a:r>
            <a:endParaRPr lang="en-US" sz="683" dirty="0"/>
          </a:p>
        </p:txBody>
      </p:sp>
      <p:sp>
        <p:nvSpPr>
          <p:cNvPr id="6" name="Text 2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Londra ile Ters Swap İşlemleri</a:t>
            </a:r>
            <a:endParaRPr lang="en-US" sz="1808" dirty="0"/>
          </a:p>
        </p:txBody>
      </p:sp>
      <p:sp>
        <p:nvSpPr>
          <p:cNvPr id="7" name="Text 3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Fırsatlarının Değerlendirilmesi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2286000" y="1212652"/>
            <a:ext cx="1952616" cy="982266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9" name="Shape 5"/>
          <p:cNvSpPr/>
          <p:nvPr/>
        </p:nvSpPr>
        <p:spPr>
          <a:xfrm>
            <a:off x="2286000" y="1212652"/>
            <a:ext cx="1952616" cy="4286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0" name="Text 6"/>
          <p:cNvSpPr/>
          <p:nvPr/>
        </p:nvSpPr>
        <p:spPr>
          <a:xfrm>
            <a:off x="2428875" y="1355527"/>
            <a:ext cx="1666866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5.2 Mr TL</a:t>
            </a:r>
            <a:endParaRPr lang="en-US" sz="2121" dirty="0"/>
          </a:p>
        </p:txBody>
      </p:sp>
      <p:sp>
        <p:nvSpPr>
          <p:cNvPr id="11" name="Text 7"/>
          <p:cNvSpPr/>
          <p:nvPr/>
        </p:nvSpPr>
        <p:spPr>
          <a:xfrm>
            <a:off x="2428875" y="1757363"/>
            <a:ext cx="166686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İŞLEM HACMI</a:t>
            </a:r>
            <a:endParaRPr lang="en-US" sz="634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1914525"/>
            <a:ext cx="64294" cy="857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28888" y="1905595"/>
            <a:ext cx="10608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Geçen Yıla Göre %15 Artış</a:t>
            </a:r>
            <a:endParaRPr lang="en-US" sz="621" dirty="0"/>
          </a:p>
        </p:txBody>
      </p:sp>
      <p:sp>
        <p:nvSpPr>
          <p:cNvPr id="14" name="Shape 9"/>
          <p:cNvSpPr/>
          <p:nvPr/>
        </p:nvSpPr>
        <p:spPr>
          <a:xfrm>
            <a:off x="4452928" y="1212652"/>
            <a:ext cx="1952616" cy="982266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15" name="Shape 10"/>
          <p:cNvSpPr/>
          <p:nvPr/>
        </p:nvSpPr>
        <p:spPr>
          <a:xfrm>
            <a:off x="4452928" y="1212652"/>
            <a:ext cx="1952616" cy="4286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6" name="Text 11"/>
          <p:cNvSpPr/>
          <p:nvPr/>
        </p:nvSpPr>
        <p:spPr>
          <a:xfrm>
            <a:off x="4595803" y="1355527"/>
            <a:ext cx="1666866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%42.5</a:t>
            </a:r>
            <a:endParaRPr lang="en-US" sz="2121" dirty="0"/>
          </a:p>
        </p:txBody>
      </p:sp>
      <p:sp>
        <p:nvSpPr>
          <p:cNvPr id="17" name="Text 12"/>
          <p:cNvSpPr/>
          <p:nvPr/>
        </p:nvSpPr>
        <p:spPr>
          <a:xfrm>
            <a:off x="4595803" y="1757363"/>
            <a:ext cx="166686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ORTALAMA GETIRI</a:t>
            </a:r>
            <a:endParaRPr lang="en-US" sz="634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803" y="1914525"/>
            <a:ext cx="85725" cy="857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17247" y="1905595"/>
            <a:ext cx="10287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Hedef Üzeri Performans</a:t>
            </a:r>
            <a:endParaRPr lang="en-US" sz="621" dirty="0"/>
          </a:p>
        </p:txBody>
      </p:sp>
      <p:sp>
        <p:nvSpPr>
          <p:cNvPr id="20" name="Shape 14"/>
          <p:cNvSpPr/>
          <p:nvPr/>
        </p:nvSpPr>
        <p:spPr>
          <a:xfrm>
            <a:off x="6619856" y="1212652"/>
            <a:ext cx="1952616" cy="982266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21" name="Shape 15"/>
          <p:cNvSpPr/>
          <p:nvPr/>
        </p:nvSpPr>
        <p:spPr>
          <a:xfrm>
            <a:off x="6619856" y="1212652"/>
            <a:ext cx="1952616" cy="4286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22" name="Text 16"/>
          <p:cNvSpPr/>
          <p:nvPr/>
        </p:nvSpPr>
        <p:spPr>
          <a:xfrm>
            <a:off x="6762731" y="1355527"/>
            <a:ext cx="1666866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+150 bps</a:t>
            </a:r>
            <a:endParaRPr lang="en-US" sz="2121" dirty="0"/>
          </a:p>
        </p:txBody>
      </p:sp>
      <p:sp>
        <p:nvSpPr>
          <p:cNvPr id="23" name="Text 17"/>
          <p:cNvSpPr/>
          <p:nvPr/>
        </p:nvSpPr>
        <p:spPr>
          <a:xfrm>
            <a:off x="6762731" y="1757363"/>
            <a:ext cx="166686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EK GETIRI (SPREAD)</a:t>
            </a:r>
            <a:endParaRPr lang="en-US" sz="634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31" y="1914525"/>
            <a:ext cx="85725" cy="857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84175" y="1905595"/>
            <a:ext cx="118407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Ortalamasına Kıyasla</a:t>
            </a:r>
            <a:endParaRPr lang="en-US" sz="621" dirty="0"/>
          </a:p>
        </p:txBody>
      </p:sp>
      <p:sp>
        <p:nvSpPr>
          <p:cNvPr id="26" name="Shape 19"/>
          <p:cNvSpPr/>
          <p:nvPr/>
        </p:nvSpPr>
        <p:spPr>
          <a:xfrm>
            <a:off x="2286000" y="2594967"/>
            <a:ext cx="285750" cy="285750"/>
          </a:xfrm>
          <a:prstGeom prst="ellipse">
            <a:avLst/>
          </a:prstGeom>
          <a:solidFill>
            <a:srgbClr val="E8F5F2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725" y="2680692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678906" y="2594967"/>
            <a:ext cx="26431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Stratejik İşbirliği</a:t>
            </a:r>
            <a:endParaRPr lang="en-US" sz="885" dirty="0"/>
          </a:p>
        </p:txBody>
      </p:sp>
      <p:sp>
        <p:nvSpPr>
          <p:cNvPr id="29" name="Text 21"/>
          <p:cNvSpPr/>
          <p:nvPr/>
        </p:nvSpPr>
        <p:spPr>
          <a:xfrm>
            <a:off x="2678906" y="2787848"/>
            <a:ext cx="264318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 Londra şubesi ile gerçekleştirilen ters swap işlemleri, global piyasalardaki arbitraj fırsatlarını değerlendirmemize olanak tanımaktadır.</a:t>
            </a:r>
            <a:endParaRPr lang="en-US" sz="727" dirty="0"/>
          </a:p>
        </p:txBody>
      </p:sp>
      <p:sp>
        <p:nvSpPr>
          <p:cNvPr id="30" name="Shape 22"/>
          <p:cNvSpPr/>
          <p:nvPr/>
        </p:nvSpPr>
        <p:spPr>
          <a:xfrm>
            <a:off x="2286000" y="3366492"/>
            <a:ext cx="285750" cy="285750"/>
          </a:xfrm>
          <a:prstGeom prst="ellipse">
            <a:avLst/>
          </a:prstGeom>
          <a:solidFill>
            <a:srgbClr val="E8F5F2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1725" y="3452217"/>
            <a:ext cx="114300" cy="1143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678906" y="3366492"/>
            <a:ext cx="26431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Zamanlama ve Çeviklik</a:t>
            </a:r>
            <a:endParaRPr lang="en-US" sz="885" dirty="0"/>
          </a:p>
        </p:txBody>
      </p:sp>
      <p:sp>
        <p:nvSpPr>
          <p:cNvPr id="33" name="Text 24"/>
          <p:cNvSpPr/>
          <p:nvPr/>
        </p:nvSpPr>
        <p:spPr>
          <a:xfrm>
            <a:off x="2678906" y="3559373"/>
            <a:ext cx="264318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volatilitesinin arttığı dönemlerde hızlı aksiyon alınarak kısa vadeli likidite fazlası yüksek getiri ile değerlendirilmiştir.</a:t>
            </a:r>
            <a:endParaRPr lang="en-US" sz="727" dirty="0"/>
          </a:p>
        </p:txBody>
      </p:sp>
      <p:sp>
        <p:nvSpPr>
          <p:cNvPr id="34" name="Shape 25"/>
          <p:cNvSpPr/>
          <p:nvPr/>
        </p:nvSpPr>
        <p:spPr>
          <a:xfrm>
            <a:off x="2286000" y="4138017"/>
            <a:ext cx="285750" cy="285750"/>
          </a:xfrm>
          <a:prstGeom prst="ellipse">
            <a:avLst/>
          </a:prstGeom>
          <a:solidFill>
            <a:srgbClr val="E8F5F2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438" y="4223742"/>
            <a:ext cx="142875" cy="1143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2678906" y="4138017"/>
            <a:ext cx="26431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Risk-Getiri Dengesi</a:t>
            </a:r>
            <a:endParaRPr lang="en-US" sz="885" dirty="0"/>
          </a:p>
        </p:txBody>
      </p:sp>
      <p:sp>
        <p:nvSpPr>
          <p:cNvPr id="37" name="Text 27"/>
          <p:cNvSpPr/>
          <p:nvPr/>
        </p:nvSpPr>
        <p:spPr>
          <a:xfrm>
            <a:off x="2678906" y="4330898"/>
            <a:ext cx="264318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İşlemler, bankamızın risk iştahı çerçevesinde, karşı taraf riski minimize edilerek ve teminatlı yapılarla gerçekleştirilmektedir.</a:t>
            </a:r>
            <a:endParaRPr lang="en-US" sz="727" dirty="0"/>
          </a:p>
        </p:txBody>
      </p:sp>
      <p:sp>
        <p:nvSpPr>
          <p:cNvPr id="38" name="Shape 28"/>
          <p:cNvSpPr/>
          <p:nvPr/>
        </p:nvSpPr>
        <p:spPr>
          <a:xfrm>
            <a:off x="5536406" y="2366367"/>
            <a:ext cx="3036094" cy="27717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29"/>
          <p:cNvSpPr/>
          <p:nvPr/>
        </p:nvSpPr>
        <p:spPr>
          <a:xfrm>
            <a:off x="5536406" y="2366367"/>
            <a:ext cx="3036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Getiri Karşılaştırması (Aylık)</a:t>
            </a:r>
            <a:endParaRPr lang="en-US" sz="784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6406" y="2612827"/>
            <a:ext cx="3036094" cy="25253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43125" y="357188"/>
            <a:ext cx="65722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TCMB Altın/TL Swap İşlemleri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143125" y="705445"/>
            <a:ext cx="65722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Likidite Yönetiminde Esneklik ve Getiri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143125" y="1212652"/>
            <a:ext cx="2095491" cy="709017"/>
          </a:xfrm>
          <a:prstGeom prst="rect">
            <a:avLst/>
          </a:prstGeom>
          <a:solidFill>
            <a:srgbClr val="FEFDF5"/>
          </a:solidFill>
          <a:ln w="9144">
            <a:solidFill>
              <a:srgbClr val="F0E6C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143125" y="1212652"/>
            <a:ext cx="42863" cy="69473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5"/>
          <p:cNvSpPr/>
          <p:nvPr/>
        </p:nvSpPr>
        <p:spPr>
          <a:xfrm>
            <a:off x="2228850" y="1298377"/>
            <a:ext cx="1914525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18.5 Ton</a:t>
            </a:r>
            <a:endParaRPr lang="en-US" sz="2121" dirty="0"/>
          </a:p>
        </p:txBody>
      </p:sp>
      <p:sp>
        <p:nvSpPr>
          <p:cNvPr id="10" name="Text 6"/>
          <p:cNvSpPr/>
          <p:nvPr/>
        </p:nvSpPr>
        <p:spPr>
          <a:xfrm>
            <a:off x="2228850" y="1700213"/>
            <a:ext cx="19145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6A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ORTALAMA İŞLEM HACMI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4371975" y="1212652"/>
            <a:ext cx="2100263" cy="709017"/>
          </a:xfrm>
          <a:prstGeom prst="rect">
            <a:avLst/>
          </a:prstGeom>
          <a:solidFill>
            <a:srgbClr val="FEFDF5"/>
          </a:solidFill>
          <a:ln w="9144">
            <a:solidFill>
              <a:srgbClr val="F0E6C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76747" y="1212652"/>
            <a:ext cx="42863" cy="69473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9"/>
          <p:cNvSpPr/>
          <p:nvPr/>
        </p:nvSpPr>
        <p:spPr>
          <a:xfrm>
            <a:off x="4462472" y="1298377"/>
            <a:ext cx="1919297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%42</a:t>
            </a:r>
            <a:endParaRPr lang="en-US" sz="2121" dirty="0"/>
          </a:p>
        </p:txBody>
      </p:sp>
      <p:sp>
        <p:nvSpPr>
          <p:cNvPr id="14" name="Text 10"/>
          <p:cNvSpPr/>
          <p:nvPr/>
        </p:nvSpPr>
        <p:spPr>
          <a:xfrm>
            <a:off x="4462472" y="1700213"/>
            <a:ext cx="191929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6A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 LIKIDITE KATKISI</a:t>
            </a:r>
            <a:endParaRPr lang="en-US" sz="683" dirty="0"/>
          </a:p>
        </p:txBody>
      </p:sp>
      <p:sp>
        <p:nvSpPr>
          <p:cNvPr id="15" name="Shape 11"/>
          <p:cNvSpPr/>
          <p:nvPr/>
        </p:nvSpPr>
        <p:spPr>
          <a:xfrm>
            <a:off x="6610369" y="1212652"/>
            <a:ext cx="2105034" cy="709017"/>
          </a:xfrm>
          <a:prstGeom prst="rect">
            <a:avLst/>
          </a:prstGeom>
          <a:solidFill>
            <a:srgbClr val="FEFDF5"/>
          </a:solidFill>
          <a:ln w="9144">
            <a:solidFill>
              <a:srgbClr val="F0E6C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19856" y="1212652"/>
            <a:ext cx="42863" cy="69473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3"/>
          <p:cNvSpPr/>
          <p:nvPr/>
        </p:nvSpPr>
        <p:spPr>
          <a:xfrm>
            <a:off x="6705581" y="1298377"/>
            <a:ext cx="1924041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Mn TL</a:t>
            </a:r>
            <a:endParaRPr lang="en-US" sz="2121" dirty="0"/>
          </a:p>
        </p:txBody>
      </p:sp>
      <p:sp>
        <p:nvSpPr>
          <p:cNvPr id="18" name="Text 14"/>
          <p:cNvSpPr/>
          <p:nvPr/>
        </p:nvSpPr>
        <p:spPr>
          <a:xfrm>
            <a:off x="6705581" y="1700213"/>
            <a:ext cx="19240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86A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GETIRI</a:t>
            </a:r>
            <a:endParaRPr lang="en-US" sz="683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2078831"/>
            <a:ext cx="128588" cy="128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28863" y="2050256"/>
            <a:ext cx="29575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Likidite Yönetimi</a:t>
            </a:r>
            <a:endParaRPr lang="en-US" sz="885" dirty="0"/>
          </a:p>
        </p:txBody>
      </p:sp>
      <p:sp>
        <p:nvSpPr>
          <p:cNvPr id="21" name="Text 16"/>
          <p:cNvSpPr/>
          <p:nvPr/>
        </p:nvSpPr>
        <p:spPr>
          <a:xfrm>
            <a:off x="2328863" y="2243138"/>
            <a:ext cx="29575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Bankamızın altın rezervleri, TCMB swap mekanizması üzerinden etkin bir şekilde değerlendirilerek TL likidite ihtiyacı karşılanmıştır.</a:t>
            </a:r>
            <a:endParaRPr lang="en-US" sz="78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25" y="2868216"/>
            <a:ext cx="128588" cy="128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328863" y="2839641"/>
            <a:ext cx="29575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Avantajı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2328863" y="3032522"/>
            <a:ext cx="29575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fonlama maliyetlerine kıyasla daha uygun koşullarda likidite sağlanmış, atıl altın stokları verimli hale getirilmiştir.</a:t>
            </a:r>
            <a:endParaRPr lang="en-US" sz="78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25" y="3657600"/>
            <a:ext cx="128588" cy="128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328863" y="3629025"/>
            <a:ext cx="29575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Bilanço Esnekliği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2328863" y="3821906"/>
            <a:ext cx="29575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Altın/TL swap işlemleri, bilanço aktif-pasif vade uyumunu destekleyen stratejik bir araç olarak kullanılmıştır.</a:t>
            </a:r>
            <a:endParaRPr lang="en-US" sz="780" dirty="0"/>
          </a:p>
        </p:txBody>
      </p:sp>
      <p:sp>
        <p:nvSpPr>
          <p:cNvPr id="28" name="Text 21"/>
          <p:cNvSpPr/>
          <p:nvPr/>
        </p:nvSpPr>
        <p:spPr>
          <a:xfrm>
            <a:off x="5572125" y="2050256"/>
            <a:ext cx="3143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Aylık Altın Swap Hacmi (Ton)</a:t>
            </a:r>
            <a:endParaRPr lang="en-US" sz="683" dirty="0"/>
          </a:p>
        </p:txBody>
      </p:sp>
      <p:sp>
        <p:nvSpPr>
          <p:cNvPr id="29" name="Shape 22"/>
          <p:cNvSpPr/>
          <p:nvPr/>
        </p:nvSpPr>
        <p:spPr>
          <a:xfrm>
            <a:off x="5572125" y="2228850"/>
            <a:ext cx="3143250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7850" y="2314575"/>
            <a:ext cx="2957513" cy="13858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1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914400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0" y="357188"/>
            <a:ext cx="6286500" cy="44827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KTR Fonu ve Vergi Avantajı</a:t>
            </a:r>
            <a:endParaRPr lang="en-US" sz="1808" dirty="0"/>
          </a:p>
        </p:txBody>
      </p:sp>
      <p:sp>
        <p:nvSpPr>
          <p:cNvPr id="5" name="Shape 2"/>
          <p:cNvSpPr/>
          <p:nvPr/>
        </p:nvSpPr>
        <p:spPr>
          <a:xfrm>
            <a:off x="2286000" y="1091208"/>
            <a:ext cx="1952616" cy="1044773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0" y="1091208"/>
            <a:ext cx="1952616" cy="4286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7" name="Text 4"/>
          <p:cNvSpPr/>
          <p:nvPr/>
        </p:nvSpPr>
        <p:spPr>
          <a:xfrm>
            <a:off x="2464594" y="1269802"/>
            <a:ext cx="1595428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2121" dirty="0"/>
          </a:p>
        </p:txBody>
      </p:sp>
      <p:sp>
        <p:nvSpPr>
          <p:cNvPr id="8" name="Text 5"/>
          <p:cNvSpPr/>
          <p:nvPr/>
        </p:nvSpPr>
        <p:spPr>
          <a:xfrm>
            <a:off x="2464594" y="1671638"/>
            <a:ext cx="15954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 ÜZERINDEN PLASMAN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452928" y="1091208"/>
            <a:ext cx="1952616" cy="1044773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10" name="Shape 7"/>
          <p:cNvSpPr/>
          <p:nvPr/>
        </p:nvSpPr>
        <p:spPr>
          <a:xfrm>
            <a:off x="4452928" y="1091208"/>
            <a:ext cx="1952616" cy="4286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1" name="Text 8"/>
          <p:cNvSpPr/>
          <p:nvPr/>
        </p:nvSpPr>
        <p:spPr>
          <a:xfrm>
            <a:off x="4631522" y="1269802"/>
            <a:ext cx="1595428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%XX</a:t>
            </a:r>
            <a:endParaRPr lang="en-US" sz="2121" dirty="0"/>
          </a:p>
        </p:txBody>
      </p:sp>
      <p:sp>
        <p:nvSpPr>
          <p:cNvPr id="12" name="Text 9"/>
          <p:cNvSpPr/>
          <p:nvPr/>
        </p:nvSpPr>
        <p:spPr>
          <a:xfrm>
            <a:off x="4631522" y="1671638"/>
            <a:ext cx="15954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ORTALAMA FON GETIRISI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6619856" y="1091208"/>
            <a:ext cx="1952616" cy="1044773"/>
          </a:xfrm>
          <a:prstGeom prst="rect">
            <a:avLst/>
          </a:prstGeom>
          <a:solidFill>
            <a:srgbClr val="096A3D"/>
          </a:solidFill>
          <a:ln/>
        </p:spPr>
      </p:sp>
      <p:sp>
        <p:nvSpPr>
          <p:cNvPr id="14" name="Shape 11"/>
          <p:cNvSpPr/>
          <p:nvPr/>
        </p:nvSpPr>
        <p:spPr>
          <a:xfrm>
            <a:off x="6619856" y="1091208"/>
            <a:ext cx="1952616" cy="42863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15" name="Text 12"/>
          <p:cNvSpPr/>
          <p:nvPr/>
        </p:nvSpPr>
        <p:spPr>
          <a:xfrm>
            <a:off x="6798450" y="1269802"/>
            <a:ext cx="1595428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Mn TL</a:t>
            </a:r>
            <a:endParaRPr lang="en-US" sz="2121" dirty="0"/>
          </a:p>
        </p:txBody>
      </p:sp>
      <p:sp>
        <p:nvSpPr>
          <p:cNvPr id="16" name="Text 13"/>
          <p:cNvSpPr/>
          <p:nvPr/>
        </p:nvSpPr>
        <p:spPr>
          <a:xfrm>
            <a:off x="6798450" y="1671638"/>
            <a:ext cx="159542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KURUMLAR VERGISI AVANTAJI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2414588" y="2457450"/>
            <a:ext cx="14233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Vergi Avantajı Analizi</a:t>
            </a:r>
            <a:endParaRPr lang="en-US" sz="885" dirty="0"/>
          </a:p>
        </p:txBody>
      </p:sp>
      <p:sp>
        <p:nvSpPr>
          <p:cNvPr id="18" name="Shape 15"/>
          <p:cNvSpPr/>
          <p:nvPr/>
        </p:nvSpPr>
        <p:spPr>
          <a:xfrm>
            <a:off x="2286000" y="2764631"/>
            <a:ext cx="1227218" cy="4572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6"/>
          <p:cNvSpPr/>
          <p:nvPr/>
        </p:nvSpPr>
        <p:spPr>
          <a:xfrm>
            <a:off x="2286000" y="2764631"/>
            <a:ext cx="1227218" cy="4572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Senaryo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3513218" y="2764631"/>
            <a:ext cx="798677" cy="4572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8"/>
          <p:cNvSpPr/>
          <p:nvPr/>
        </p:nvSpPr>
        <p:spPr>
          <a:xfrm>
            <a:off x="3513218" y="2764631"/>
            <a:ext cx="798677" cy="4572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Vergi Oranı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4311895" y="2764631"/>
            <a:ext cx="938761" cy="4572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0"/>
          <p:cNvSpPr/>
          <p:nvPr/>
        </p:nvSpPr>
        <p:spPr>
          <a:xfrm>
            <a:off x="4311895" y="2764631"/>
            <a:ext cx="938761" cy="4572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Getiri Etkisi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2286000" y="3221831"/>
            <a:ext cx="1227218" cy="4964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Doğrudan Plasman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3513218" y="3221831"/>
            <a:ext cx="798677" cy="4964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%25 (KV)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311895" y="3221831"/>
            <a:ext cx="938761" cy="4964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Baz Senaryo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2286000" y="3718322"/>
            <a:ext cx="1227218" cy="5000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KTR Fonu Üzerinden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3513218" y="3718322"/>
            <a:ext cx="798677" cy="5000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%0 (İstisna)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311895" y="3718322"/>
            <a:ext cx="938761" cy="5000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%XX Getiri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2393156" y="4398764"/>
            <a:ext cx="8322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Fark (Avantaj)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3620374" y="4398764"/>
            <a:ext cx="23753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%25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419051" y="4329113"/>
            <a:ext cx="60900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Milyon TL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5736431" y="2457450"/>
            <a:ext cx="16716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Getiri Karşılaştırması</a:t>
            </a:r>
            <a:endParaRPr lang="en-US" sz="885" dirty="0"/>
          </a:p>
        </p:txBody>
      </p:sp>
      <p:sp>
        <p:nvSpPr>
          <p:cNvPr id="34" name="Shape 31"/>
          <p:cNvSpPr/>
          <p:nvPr/>
        </p:nvSpPr>
        <p:spPr>
          <a:xfrm>
            <a:off x="5607844" y="2764631"/>
            <a:ext cx="2964656" cy="22413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844" y="2764631"/>
            <a:ext cx="2964656" cy="22413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914400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0" y="357188"/>
            <a:ext cx="6286500" cy="44827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 Likidite Değerlendirme Performansı</a:t>
            </a:r>
            <a:endParaRPr lang="en-US" sz="1808" dirty="0"/>
          </a:p>
        </p:txBody>
      </p:sp>
      <p:sp>
        <p:nvSpPr>
          <p:cNvPr id="5" name="Shape 2"/>
          <p:cNvSpPr/>
          <p:nvPr/>
        </p:nvSpPr>
        <p:spPr>
          <a:xfrm>
            <a:off x="2286000" y="1091208"/>
            <a:ext cx="1952616" cy="923330"/>
          </a:xfrm>
          <a:prstGeom prst="rect">
            <a:avLst/>
          </a:prstGeom>
          <a:solidFill>
            <a:srgbClr val="096A3D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0" y="1091208"/>
            <a:ext cx="1952616" cy="42863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7" name="Text 4"/>
          <p:cNvSpPr/>
          <p:nvPr/>
        </p:nvSpPr>
        <p:spPr>
          <a:xfrm>
            <a:off x="2464594" y="1269802"/>
            <a:ext cx="1595428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%44.2</a:t>
            </a:r>
            <a:endParaRPr lang="en-US" sz="2121" dirty="0"/>
          </a:p>
        </p:txBody>
      </p:sp>
      <p:sp>
        <p:nvSpPr>
          <p:cNvPr id="8" name="Text 5"/>
          <p:cNvSpPr/>
          <p:nvPr/>
        </p:nvSpPr>
        <p:spPr>
          <a:xfrm>
            <a:off x="2464594" y="1671638"/>
            <a:ext cx="15954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AĞIRLIKLI ORT. GETIRI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452928" y="1091208"/>
            <a:ext cx="1952616" cy="923330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10" name="Shape 7"/>
          <p:cNvSpPr/>
          <p:nvPr/>
        </p:nvSpPr>
        <p:spPr>
          <a:xfrm>
            <a:off x="4452928" y="1091208"/>
            <a:ext cx="1952616" cy="4286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1" name="Text 8"/>
          <p:cNvSpPr/>
          <p:nvPr/>
        </p:nvSpPr>
        <p:spPr>
          <a:xfrm>
            <a:off x="4631522" y="1269802"/>
            <a:ext cx="1595428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28.5 Mr TL</a:t>
            </a:r>
            <a:endParaRPr lang="en-US" sz="2121" dirty="0"/>
          </a:p>
        </p:txBody>
      </p:sp>
      <p:sp>
        <p:nvSpPr>
          <p:cNvPr id="12" name="Text 9"/>
          <p:cNvSpPr/>
          <p:nvPr/>
        </p:nvSpPr>
        <p:spPr>
          <a:xfrm>
            <a:off x="4631522" y="1671638"/>
            <a:ext cx="15954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TOPLAM PLASMAN HACMI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6619856" y="1091208"/>
            <a:ext cx="1952616" cy="923330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14" name="Shape 11"/>
          <p:cNvSpPr/>
          <p:nvPr/>
        </p:nvSpPr>
        <p:spPr>
          <a:xfrm>
            <a:off x="6619856" y="1091208"/>
            <a:ext cx="1952616" cy="4286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5" name="Text 12"/>
          <p:cNvSpPr/>
          <p:nvPr/>
        </p:nvSpPr>
        <p:spPr>
          <a:xfrm>
            <a:off x="6798450" y="1269802"/>
            <a:ext cx="1595428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+250 bps</a:t>
            </a:r>
            <a:endParaRPr lang="en-US" sz="2121" dirty="0"/>
          </a:p>
        </p:txBody>
      </p:sp>
      <p:sp>
        <p:nvSpPr>
          <p:cNvPr id="16" name="Text 13"/>
          <p:cNvSpPr/>
          <p:nvPr/>
        </p:nvSpPr>
        <p:spPr>
          <a:xfrm>
            <a:off x="6798450" y="1671638"/>
            <a:ext cx="15954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BENCHMARK ÜZERI GETIRI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2286000" y="2257425"/>
            <a:ext cx="1277420" cy="342900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ENSTRÜMAN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3563420" y="2257425"/>
            <a:ext cx="692079" cy="342900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HACIM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255498" y="2257425"/>
            <a:ext cx="518592" cy="342900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GETIRI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774090" y="2257425"/>
            <a:ext cx="898048" cy="342900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SPREAD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2286000" y="2600325"/>
            <a:ext cx="1277420" cy="407194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Londra Ters Swap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3563420" y="2600325"/>
            <a:ext cx="692079" cy="407194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5.2 Mr TL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255498" y="2600325"/>
            <a:ext cx="518592" cy="407194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%42.5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774090" y="2600325"/>
            <a:ext cx="898048" cy="407194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+150 bps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2286000" y="3007519"/>
            <a:ext cx="1277420" cy="403622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TCMB Altın Swap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3563420" y="3007519"/>
            <a:ext cx="692079" cy="403622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18.5 Ton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255498" y="3007519"/>
            <a:ext cx="518592" cy="403622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%42.0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774090" y="3007519"/>
            <a:ext cx="898048" cy="403622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+100 bps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2286000" y="3411141"/>
            <a:ext cx="1277420" cy="403622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KTR Fonları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3563420" y="3411141"/>
            <a:ext cx="692079" cy="403622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4255498" y="3411141"/>
            <a:ext cx="518592" cy="403622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%46.5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774090" y="3411141"/>
            <a:ext cx="898048" cy="403622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+550 bps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2286000" y="3814763"/>
            <a:ext cx="1277420" cy="400050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Bankalararası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3563420" y="3814763"/>
            <a:ext cx="692079" cy="400050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255498" y="3814763"/>
            <a:ext cx="518592" cy="400050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%41.0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774090" y="3814763"/>
            <a:ext cx="898048" cy="400050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Benchmark</a:t>
            </a:r>
            <a:endParaRPr lang="en-US" sz="784" dirty="0"/>
          </a:p>
        </p:txBody>
      </p:sp>
      <p:sp>
        <p:nvSpPr>
          <p:cNvPr id="37" name="Shape 34"/>
          <p:cNvSpPr/>
          <p:nvPr/>
        </p:nvSpPr>
        <p:spPr>
          <a:xfrm>
            <a:off x="6029325" y="2257425"/>
            <a:ext cx="2543175" cy="252888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8" name="Text 35"/>
          <p:cNvSpPr/>
          <p:nvPr/>
        </p:nvSpPr>
        <p:spPr>
          <a:xfrm>
            <a:off x="6689229" y="2487811"/>
            <a:ext cx="122336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Getiri Karşılaştırması</a:t>
            </a:r>
            <a:endParaRPr lang="en-US" sz="784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769989"/>
            <a:ext cx="2257425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14500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2436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2436" dirty="0"/>
          </a:p>
        </p:txBody>
      </p:sp>
      <p:sp>
        <p:nvSpPr>
          <p:cNvPr id="4" name="Text 1"/>
          <p:cNvSpPr/>
          <p:nvPr/>
        </p:nvSpPr>
        <p:spPr>
          <a:xfrm>
            <a:off x="714375" y="1714500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04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600450" y="1860249"/>
            <a:ext cx="4829175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Anahtar Stratejik Girişimler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3600450" y="2963233"/>
            <a:ext cx="482917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spc="2" kern="0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İNOVASYON VE İLKLER</a:t>
            </a:r>
            <a:endParaRPr lang="en-US" sz="170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İlk Profit Rate Swap İşlemi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KFH Float Borçlanma Hedge Stratejisi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7609880" y="357188"/>
            <a:ext cx="962620" cy="21788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4"/>
          <p:cNvSpPr/>
          <p:nvPr/>
        </p:nvSpPr>
        <p:spPr>
          <a:xfrm>
            <a:off x="7609880" y="357188"/>
            <a:ext cx="962620" cy="217884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SEKTÖRDE İLK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2457450" y="1304627"/>
            <a:ext cx="2000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İHTIYAÇ VE RISK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2457450" y="1501080"/>
            <a:ext cx="2000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 ortağımız KFH'dan sağlanan değişken oranlı (floating) fonlama, piyasa faizlerindeki dalgalanmalara karşı maliyet belirsizliği oluşturmaktaydı.</a:t>
            </a:r>
            <a:endParaRPr lang="en-US" sz="780" dirty="0"/>
          </a:p>
        </p:txBody>
      </p:sp>
      <p:sp>
        <p:nvSpPr>
          <p:cNvPr id="11" name="Text 7"/>
          <p:cNvSpPr/>
          <p:nvPr/>
        </p:nvSpPr>
        <p:spPr>
          <a:xfrm>
            <a:off x="2457450" y="2572643"/>
            <a:ext cx="2000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STRATEJIK ÇÖZÜM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2457450" y="2769096"/>
            <a:ext cx="200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Katılım bankacılığı prensiplerine uygun "Profit Rate Swap" yapısı kurgulanarak, değişken maliyet sabit orana (fixed) dönüştürüldü.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2457450" y="3669209"/>
            <a:ext cx="2000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KAZANIM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2457450" y="3865662"/>
            <a:ext cx="200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Faiz riskinden (kur riskinden bağımsız olarak) tam koruma sağlandı ve fonlama maliyeti öngörülebilir hale getirildi.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4886325" y="1284089"/>
            <a:ext cx="3686175" cy="350222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26964"/>
            <a:ext cx="6786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İŞLEM YAPISI</a:t>
            </a:r>
            <a:endParaRPr lang="en-US" sz="683" dirty="0"/>
          </a:p>
        </p:txBody>
      </p:sp>
      <p:sp>
        <p:nvSpPr>
          <p:cNvPr id="17" name="Shape 13"/>
          <p:cNvSpPr/>
          <p:nvPr/>
        </p:nvSpPr>
        <p:spPr>
          <a:xfrm>
            <a:off x="5100638" y="1824335"/>
            <a:ext cx="100012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6A08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00638" y="1824335"/>
            <a:ext cx="1000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Swap Karşı Tarafı</a:t>
            </a:r>
            <a:endParaRPr lang="en-US" sz="784" dirty="0"/>
          </a:p>
        </p:txBody>
      </p:sp>
      <p:sp>
        <p:nvSpPr>
          <p:cNvPr id="19" name="Shape 15"/>
          <p:cNvSpPr/>
          <p:nvPr/>
        </p:nvSpPr>
        <p:spPr>
          <a:xfrm>
            <a:off x="6253460" y="1899345"/>
            <a:ext cx="951905" cy="12501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0" name="Text 16"/>
          <p:cNvSpPr/>
          <p:nvPr/>
        </p:nvSpPr>
        <p:spPr>
          <a:xfrm>
            <a:off x="6253460" y="1899345"/>
            <a:ext cx="951905" cy="125016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Değişken Oran (Float)</a:t>
            </a:r>
            <a:endParaRPr lang="en-US" sz="534" dirty="0"/>
          </a:p>
        </p:txBody>
      </p:sp>
      <p:sp>
        <p:nvSpPr>
          <p:cNvPr id="21" name="Shape 17"/>
          <p:cNvSpPr/>
          <p:nvPr/>
        </p:nvSpPr>
        <p:spPr>
          <a:xfrm>
            <a:off x="6172200" y="2060079"/>
            <a:ext cx="1114425" cy="14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Shape 18"/>
          <p:cNvSpPr/>
          <p:nvPr/>
        </p:nvSpPr>
        <p:spPr>
          <a:xfrm>
            <a:off x="6172200" y="2145804"/>
            <a:ext cx="1114425" cy="14288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23" name="Shape 19"/>
          <p:cNvSpPr/>
          <p:nvPr/>
        </p:nvSpPr>
        <p:spPr>
          <a:xfrm>
            <a:off x="6333827" y="2195810"/>
            <a:ext cx="791170" cy="12501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4" name="Text 20"/>
          <p:cNvSpPr/>
          <p:nvPr/>
        </p:nvSpPr>
        <p:spPr>
          <a:xfrm>
            <a:off x="6333827" y="2195810"/>
            <a:ext cx="791170" cy="125016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Sabit Oran (Fixed)</a:t>
            </a:r>
            <a:endParaRPr lang="en-US" sz="534" dirty="0"/>
          </a:p>
        </p:txBody>
      </p:sp>
      <p:sp>
        <p:nvSpPr>
          <p:cNvPr id="25" name="Shape 21"/>
          <p:cNvSpPr/>
          <p:nvPr/>
        </p:nvSpPr>
        <p:spPr>
          <a:xfrm>
            <a:off x="7358063" y="1824335"/>
            <a:ext cx="1000125" cy="571500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26" name="Text 22"/>
          <p:cNvSpPr/>
          <p:nvPr/>
        </p:nvSpPr>
        <p:spPr>
          <a:xfrm>
            <a:off x="7358063" y="1824335"/>
            <a:ext cx="1000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Kuveyt Türk</a:t>
            </a:r>
            <a:endParaRPr lang="en-US" sz="784" dirty="0"/>
          </a:p>
        </p:txBody>
      </p:sp>
      <p:sp>
        <p:nvSpPr>
          <p:cNvPr id="27" name="Shape 23"/>
          <p:cNvSpPr/>
          <p:nvPr/>
        </p:nvSpPr>
        <p:spPr>
          <a:xfrm rot="5400000">
            <a:off x="7563445" y="2779812"/>
            <a:ext cx="1285875" cy="1428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8" name="Shape 24"/>
          <p:cNvSpPr/>
          <p:nvPr/>
        </p:nvSpPr>
        <p:spPr>
          <a:xfrm rot="16200000">
            <a:off x="7573268" y="2724448"/>
            <a:ext cx="1055489" cy="12501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9" name="Text 25"/>
          <p:cNvSpPr/>
          <p:nvPr/>
        </p:nvSpPr>
        <p:spPr>
          <a:xfrm rot="16200000">
            <a:off x="7573268" y="2724448"/>
            <a:ext cx="1055489" cy="125016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Değişken Oran Ödemesi</a:t>
            </a:r>
            <a:endParaRPr lang="en-US" sz="534" dirty="0"/>
          </a:p>
        </p:txBody>
      </p:sp>
      <p:sp>
        <p:nvSpPr>
          <p:cNvPr id="30" name="Shape 26"/>
          <p:cNvSpPr/>
          <p:nvPr/>
        </p:nvSpPr>
        <p:spPr>
          <a:xfrm>
            <a:off x="7358063" y="3035201"/>
            <a:ext cx="100012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99999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358063" y="3035201"/>
            <a:ext cx="1000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KFH (Kredi Veren)</a:t>
            </a:r>
            <a:endParaRPr lang="en-US" sz="784" dirty="0"/>
          </a:p>
        </p:txBody>
      </p:sp>
      <p:sp>
        <p:nvSpPr>
          <p:cNvPr id="32" name="Shape 28"/>
          <p:cNvSpPr/>
          <p:nvPr/>
        </p:nvSpPr>
        <p:spPr>
          <a:xfrm>
            <a:off x="5319415" y="3892451"/>
            <a:ext cx="2819995" cy="353616"/>
          </a:xfrm>
          <a:prstGeom prst="roundRect">
            <a:avLst/>
          </a:prstGeom>
          <a:solidFill>
            <a:srgbClr val="E8F5F2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727" y="4012109"/>
            <a:ext cx="114300" cy="1143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719465" y="3999607"/>
            <a:ext cx="220563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Sonuç: Sabit Maliyetli Borçlanma</a:t>
            </a:r>
            <a:endParaRPr lang="en-US" sz="78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BİST Kıymetli Madenler Pazarında İlk Swap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Piyasada Öncü Rol ve Derinleşme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141214"/>
            <a:ext cx="6286500" cy="1000125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8" name="Text 4"/>
          <p:cNvSpPr/>
          <p:nvPr/>
        </p:nvSpPr>
        <p:spPr>
          <a:xfrm>
            <a:off x="2428875" y="1344811"/>
            <a:ext cx="539721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Sektörde Bir İlk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2428875" y="1659136"/>
            <a:ext cx="539721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Borsa İstanbul Kıymetli Madenler Pazarında gerçekleştirilen ilk swap ile piyasa yapıcılığı misyonumuzu pekiştirdik.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7826090" y="1284089"/>
            <a:ext cx="603535" cy="714375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1" name="Text 7"/>
          <p:cNvSpPr/>
          <p:nvPr/>
        </p:nvSpPr>
        <p:spPr>
          <a:xfrm>
            <a:off x="7982303" y="1460897"/>
            <a:ext cx="2911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#1</a:t>
            </a:r>
            <a:endParaRPr lang="en-US" sz="1808" dirty="0"/>
          </a:p>
        </p:txBody>
      </p:sp>
      <p:sp>
        <p:nvSpPr>
          <p:cNvPr id="12" name="Text 8"/>
          <p:cNvSpPr/>
          <p:nvPr/>
        </p:nvSpPr>
        <p:spPr>
          <a:xfrm>
            <a:off x="8055527" y="1718072"/>
            <a:ext cx="14466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İLK</a:t>
            </a:r>
            <a:endParaRPr lang="en-US" sz="584" dirty="0"/>
          </a:p>
        </p:txBody>
      </p:sp>
      <p:sp>
        <p:nvSpPr>
          <p:cNvPr id="13" name="Shape 9"/>
          <p:cNvSpPr/>
          <p:nvPr/>
        </p:nvSpPr>
        <p:spPr>
          <a:xfrm>
            <a:off x="7500938" y="784027"/>
            <a:ext cx="1428750" cy="142875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2286000" y="2284214"/>
            <a:ext cx="1905009" cy="271641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5" name="Shape 11"/>
          <p:cNvSpPr/>
          <p:nvPr/>
        </p:nvSpPr>
        <p:spPr>
          <a:xfrm>
            <a:off x="2286000" y="2284214"/>
            <a:ext cx="1905009" cy="28575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Shape 12"/>
          <p:cNvSpPr/>
          <p:nvPr/>
        </p:nvSpPr>
        <p:spPr>
          <a:xfrm>
            <a:off x="2428875" y="2427089"/>
            <a:ext cx="357188" cy="357188"/>
          </a:xfrm>
          <a:prstGeom prst="rect">
            <a:avLst/>
          </a:prstGeom>
          <a:solidFill>
            <a:srgbClr val="FFF8E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744" y="2519958"/>
            <a:ext cx="171450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28875" y="2927152"/>
            <a:ext cx="16192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Derinliği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2428875" y="3191470"/>
            <a:ext cx="1619259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 piyasada gerçekleştirilen bu işlem, kıymetli madenler piyasasının derinleşmesine ve likiditenin artmasına katkı sağlamıştır.</a:t>
            </a:r>
            <a:endParaRPr lang="en-US" sz="727" dirty="0"/>
          </a:p>
        </p:txBody>
      </p:sp>
      <p:sp>
        <p:nvSpPr>
          <p:cNvPr id="20" name="Shape 15"/>
          <p:cNvSpPr/>
          <p:nvPr/>
        </p:nvSpPr>
        <p:spPr>
          <a:xfrm>
            <a:off x="4476759" y="2284214"/>
            <a:ext cx="1905009" cy="271641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1" name="Shape 16"/>
          <p:cNvSpPr/>
          <p:nvPr/>
        </p:nvSpPr>
        <p:spPr>
          <a:xfrm>
            <a:off x="4476759" y="2284214"/>
            <a:ext cx="1905009" cy="28575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Shape 17"/>
          <p:cNvSpPr/>
          <p:nvPr/>
        </p:nvSpPr>
        <p:spPr>
          <a:xfrm>
            <a:off x="4619634" y="2427089"/>
            <a:ext cx="357188" cy="357188"/>
          </a:xfrm>
          <a:prstGeom prst="rect">
            <a:avLst/>
          </a:prstGeom>
          <a:solidFill>
            <a:srgbClr val="FFF8E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503" y="2519958"/>
            <a:ext cx="171450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19634" y="2927152"/>
            <a:ext cx="16192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Güvenli İşlem</a:t>
            </a:r>
            <a:endParaRPr lang="en-US" sz="885" dirty="0"/>
          </a:p>
        </p:txBody>
      </p:sp>
      <p:sp>
        <p:nvSpPr>
          <p:cNvPr id="25" name="Text 19"/>
          <p:cNvSpPr/>
          <p:nvPr/>
        </p:nvSpPr>
        <p:spPr>
          <a:xfrm>
            <a:off x="4619634" y="3191470"/>
            <a:ext cx="1619259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Takasbank garantisi ile işlemler karşı taraf riskini azaltmış ve operasyonel süreçler yüksek güvenlik standartlarında tamamlanmıştır.</a:t>
            </a:r>
            <a:endParaRPr lang="en-US" sz="727" dirty="0"/>
          </a:p>
        </p:txBody>
      </p:sp>
      <p:sp>
        <p:nvSpPr>
          <p:cNvPr id="26" name="Shape 20"/>
          <p:cNvSpPr/>
          <p:nvPr/>
        </p:nvSpPr>
        <p:spPr>
          <a:xfrm>
            <a:off x="6667519" y="2284214"/>
            <a:ext cx="1905009" cy="271641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7" name="Shape 21"/>
          <p:cNvSpPr/>
          <p:nvPr/>
        </p:nvSpPr>
        <p:spPr>
          <a:xfrm>
            <a:off x="6667519" y="2284214"/>
            <a:ext cx="1905009" cy="28575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Shape 22"/>
          <p:cNvSpPr/>
          <p:nvPr/>
        </p:nvSpPr>
        <p:spPr>
          <a:xfrm>
            <a:off x="6810394" y="2427089"/>
            <a:ext cx="357188" cy="357188"/>
          </a:xfrm>
          <a:prstGeom prst="rect">
            <a:avLst/>
          </a:prstGeom>
          <a:solidFill>
            <a:srgbClr val="FFF8E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694" y="2519958"/>
            <a:ext cx="128588" cy="1714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10394" y="2927152"/>
            <a:ext cx="16192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Ürün İnovasyonu</a:t>
            </a:r>
            <a:endParaRPr lang="en-US" sz="885" dirty="0"/>
          </a:p>
        </p:txBody>
      </p:sp>
      <p:sp>
        <p:nvSpPr>
          <p:cNvPr id="31" name="Text 24"/>
          <p:cNvSpPr/>
          <p:nvPr/>
        </p:nvSpPr>
        <p:spPr>
          <a:xfrm>
            <a:off x="6810394" y="3191470"/>
            <a:ext cx="1619259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Katılım finans prensiplerine uygun geliştirilen yapı, yeni bir hedging ve likidite yönetimi enstrümanı olarak yerini almıştır.</a:t>
            </a:r>
            <a:endParaRPr lang="en-US" sz="72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14500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2436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2436" dirty="0"/>
          </a:p>
        </p:txBody>
      </p:sp>
      <p:sp>
        <p:nvSpPr>
          <p:cNvPr id="4" name="Text 1"/>
          <p:cNvSpPr/>
          <p:nvPr/>
        </p:nvSpPr>
        <p:spPr>
          <a:xfrm>
            <a:off x="714375" y="1714500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05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600450" y="2100263"/>
            <a:ext cx="4829175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Yatırım Yönetimi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3600450" y="2723192"/>
            <a:ext cx="482917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spc="2" kern="0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SUKUK VE PORTFÖY STRATEJILERI</a:t>
            </a:r>
            <a:endParaRPr lang="en-US" sz="170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8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Uzun Vadeli Sukuk Portföyü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Sürdürülebilir Gelir Akışı ve Vade Uyumu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212652"/>
            <a:ext cx="1952616" cy="746522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8" name="Shape 4"/>
          <p:cNvSpPr/>
          <p:nvPr/>
        </p:nvSpPr>
        <p:spPr>
          <a:xfrm>
            <a:off x="2286000" y="1212652"/>
            <a:ext cx="35719" cy="746522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9" name="Text 5"/>
          <p:cNvSpPr/>
          <p:nvPr/>
        </p:nvSpPr>
        <p:spPr>
          <a:xfrm>
            <a:off x="2428875" y="1355527"/>
            <a:ext cx="1643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12.5 Mr TL</a:t>
            </a:r>
            <a:endParaRPr lang="en-US" sz="1808" dirty="0"/>
          </a:p>
        </p:txBody>
      </p:sp>
      <p:sp>
        <p:nvSpPr>
          <p:cNvPr id="10" name="Text 6"/>
          <p:cNvSpPr/>
          <p:nvPr/>
        </p:nvSpPr>
        <p:spPr>
          <a:xfrm>
            <a:off x="2428875" y="1703784"/>
            <a:ext cx="164306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PORTFÖY BÜYÜKLÜĞÜ</a:t>
            </a:r>
            <a:endParaRPr lang="en-US" sz="634" dirty="0"/>
          </a:p>
        </p:txBody>
      </p:sp>
      <p:sp>
        <p:nvSpPr>
          <p:cNvPr id="11" name="Shape 7"/>
          <p:cNvSpPr/>
          <p:nvPr/>
        </p:nvSpPr>
        <p:spPr>
          <a:xfrm>
            <a:off x="4429125" y="1212652"/>
            <a:ext cx="1964531" cy="746522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12" name="Shape 8"/>
          <p:cNvSpPr/>
          <p:nvPr/>
        </p:nvSpPr>
        <p:spPr>
          <a:xfrm>
            <a:off x="4429125" y="1212652"/>
            <a:ext cx="35719" cy="746522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3" name="Text 9"/>
          <p:cNvSpPr/>
          <p:nvPr/>
        </p:nvSpPr>
        <p:spPr>
          <a:xfrm>
            <a:off x="4583916" y="1355527"/>
            <a:ext cx="165497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%48.5</a:t>
            </a:r>
            <a:endParaRPr lang="en-US" sz="1808" dirty="0"/>
          </a:p>
        </p:txBody>
      </p:sp>
      <p:sp>
        <p:nvSpPr>
          <p:cNvPr id="14" name="Text 10"/>
          <p:cNvSpPr/>
          <p:nvPr/>
        </p:nvSpPr>
        <p:spPr>
          <a:xfrm>
            <a:off x="4583916" y="1703784"/>
            <a:ext cx="165497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ORTALAMA GETIRI</a:t>
            </a:r>
            <a:endParaRPr lang="en-US" sz="634" dirty="0"/>
          </a:p>
        </p:txBody>
      </p:sp>
      <p:sp>
        <p:nvSpPr>
          <p:cNvPr id="15" name="Shape 11"/>
          <p:cNvSpPr/>
          <p:nvPr/>
        </p:nvSpPr>
        <p:spPr>
          <a:xfrm>
            <a:off x="6596081" y="1212652"/>
            <a:ext cx="1976447" cy="746522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596081" y="1212652"/>
            <a:ext cx="35719" cy="746522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7" name="Text 13"/>
          <p:cNvSpPr/>
          <p:nvPr/>
        </p:nvSpPr>
        <p:spPr>
          <a:xfrm>
            <a:off x="6762731" y="1355527"/>
            <a:ext cx="16668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3.2 Yıl</a:t>
            </a:r>
            <a:endParaRPr lang="en-US" sz="1808" dirty="0"/>
          </a:p>
        </p:txBody>
      </p:sp>
      <p:sp>
        <p:nvSpPr>
          <p:cNvPr id="18" name="Text 14"/>
          <p:cNvSpPr/>
          <p:nvPr/>
        </p:nvSpPr>
        <p:spPr>
          <a:xfrm>
            <a:off x="6762731" y="1703784"/>
            <a:ext cx="166686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ORTALAMA VADE</a:t>
            </a:r>
            <a:endParaRPr lang="en-US" sz="634" dirty="0"/>
          </a:p>
        </p:txBody>
      </p:sp>
      <p:sp>
        <p:nvSpPr>
          <p:cNvPr id="19" name="Shape 15"/>
          <p:cNvSpPr/>
          <p:nvPr/>
        </p:nvSpPr>
        <p:spPr>
          <a:xfrm>
            <a:off x="2286000" y="2173486"/>
            <a:ext cx="3000375" cy="2811066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428875" y="2316361"/>
            <a:ext cx="27074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Portföy Dağılımı</a:t>
            </a:r>
            <a:endParaRPr lang="en-US" sz="784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2562820"/>
            <a:ext cx="2700338" cy="2264569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564981" y="2173486"/>
            <a:ext cx="3007519" cy="2811066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715000" y="2316361"/>
            <a:ext cx="27146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Çeyreklik Gelir Gelişimi (Mn TL)</a:t>
            </a:r>
            <a:endParaRPr lang="en-US" sz="784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562820"/>
            <a:ext cx="2700338" cy="22645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42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TLREFK Endeksli Sukuk Yatırımları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Değişken Piyasa Koşullarında Esnek Getiri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284089"/>
            <a:ext cx="1952616" cy="80010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8" name="Shape 4"/>
          <p:cNvSpPr/>
          <p:nvPr/>
        </p:nvSpPr>
        <p:spPr>
          <a:xfrm>
            <a:off x="2286000" y="1284089"/>
            <a:ext cx="35719" cy="8001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5"/>
          <p:cNvSpPr/>
          <p:nvPr/>
        </p:nvSpPr>
        <p:spPr>
          <a:xfrm>
            <a:off x="2428875" y="1426964"/>
            <a:ext cx="1643063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%35</a:t>
            </a:r>
            <a:endParaRPr lang="en-US" sz="2121" dirty="0"/>
          </a:p>
        </p:txBody>
      </p:sp>
      <p:sp>
        <p:nvSpPr>
          <p:cNvPr id="10" name="Text 6"/>
          <p:cNvSpPr/>
          <p:nvPr/>
        </p:nvSpPr>
        <p:spPr>
          <a:xfrm>
            <a:off x="2428875" y="1828800"/>
            <a:ext cx="164306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98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PORTFÖY PAYI</a:t>
            </a:r>
            <a:endParaRPr lang="en-US" sz="634" dirty="0"/>
          </a:p>
        </p:txBody>
      </p:sp>
      <p:sp>
        <p:nvSpPr>
          <p:cNvPr id="11" name="Shape 7"/>
          <p:cNvSpPr/>
          <p:nvPr/>
        </p:nvSpPr>
        <p:spPr>
          <a:xfrm>
            <a:off x="4429125" y="1284089"/>
            <a:ext cx="1964531" cy="80010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12" name="Shape 8"/>
          <p:cNvSpPr/>
          <p:nvPr/>
        </p:nvSpPr>
        <p:spPr>
          <a:xfrm>
            <a:off x="4429125" y="1284089"/>
            <a:ext cx="35719" cy="8001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9"/>
          <p:cNvSpPr/>
          <p:nvPr/>
        </p:nvSpPr>
        <p:spPr>
          <a:xfrm>
            <a:off x="4583916" y="1426964"/>
            <a:ext cx="1654978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+400 bps</a:t>
            </a:r>
            <a:endParaRPr lang="en-US" sz="2121" dirty="0"/>
          </a:p>
        </p:txBody>
      </p:sp>
      <p:sp>
        <p:nvSpPr>
          <p:cNvPr id="14" name="Text 10"/>
          <p:cNvSpPr/>
          <p:nvPr/>
        </p:nvSpPr>
        <p:spPr>
          <a:xfrm>
            <a:off x="4583916" y="1828800"/>
            <a:ext cx="165497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98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ORTALAMA SPREAD</a:t>
            </a:r>
            <a:endParaRPr lang="en-US" sz="634" dirty="0"/>
          </a:p>
        </p:txBody>
      </p:sp>
      <p:sp>
        <p:nvSpPr>
          <p:cNvPr id="15" name="Shape 11"/>
          <p:cNvSpPr/>
          <p:nvPr/>
        </p:nvSpPr>
        <p:spPr>
          <a:xfrm>
            <a:off x="6596081" y="1284089"/>
            <a:ext cx="1976447" cy="80010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596081" y="1284089"/>
            <a:ext cx="35719" cy="8001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Text 13"/>
          <p:cNvSpPr/>
          <p:nvPr/>
        </p:nvSpPr>
        <p:spPr>
          <a:xfrm>
            <a:off x="6762731" y="1426964"/>
            <a:ext cx="1666866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Düşük</a:t>
            </a:r>
            <a:endParaRPr lang="en-US" sz="2121" dirty="0"/>
          </a:p>
        </p:txBody>
      </p:sp>
      <p:sp>
        <p:nvSpPr>
          <p:cNvPr id="18" name="Text 14"/>
          <p:cNvSpPr/>
          <p:nvPr/>
        </p:nvSpPr>
        <p:spPr>
          <a:xfrm>
            <a:off x="6762731" y="1828800"/>
            <a:ext cx="166686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98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FAIZ RISKI HASSASIYETI</a:t>
            </a:r>
            <a:endParaRPr lang="en-US" sz="634" dirty="0"/>
          </a:p>
        </p:txBody>
      </p:sp>
      <p:sp>
        <p:nvSpPr>
          <p:cNvPr id="19" name="Shape 15"/>
          <p:cNvSpPr/>
          <p:nvPr/>
        </p:nvSpPr>
        <p:spPr>
          <a:xfrm>
            <a:off x="2286000" y="2436912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294" y="2501205"/>
            <a:ext cx="100013" cy="10001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621756" y="2415480"/>
            <a:ext cx="26646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Endeks Uyumu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2621756" y="2608362"/>
            <a:ext cx="266461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faizlerindeki değişimlere anında uyum sağlayan kupon ödemeleri ile portföy getirisinin piyasa ile korelasyonu sağlanmaktadır.</a:t>
            </a:r>
            <a:endParaRPr lang="en-US" sz="727" dirty="0"/>
          </a:p>
        </p:txBody>
      </p:sp>
      <p:sp>
        <p:nvSpPr>
          <p:cNvPr id="23" name="Shape 18"/>
          <p:cNvSpPr/>
          <p:nvPr/>
        </p:nvSpPr>
        <p:spPr>
          <a:xfrm>
            <a:off x="2286000" y="3208437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294" y="3272730"/>
            <a:ext cx="100013" cy="10001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21756" y="3187005"/>
            <a:ext cx="26646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Defansif Yapı</a:t>
            </a:r>
            <a:endParaRPr lang="en-US" sz="885" dirty="0"/>
          </a:p>
        </p:txBody>
      </p:sp>
      <p:sp>
        <p:nvSpPr>
          <p:cNvPr id="26" name="Text 20"/>
          <p:cNvSpPr/>
          <p:nvPr/>
        </p:nvSpPr>
        <p:spPr>
          <a:xfrm>
            <a:off x="2621756" y="3379887"/>
            <a:ext cx="266461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Faiz artış döngülerinde sabit getirili kıymetlerin aksine değer kaybı yaşamayan, aksine kupon getirisi artan defansif bir yapı sunar.</a:t>
            </a:r>
            <a:endParaRPr lang="en-US" sz="727" dirty="0"/>
          </a:p>
        </p:txBody>
      </p:sp>
      <p:sp>
        <p:nvSpPr>
          <p:cNvPr id="27" name="Shape 21"/>
          <p:cNvSpPr/>
          <p:nvPr/>
        </p:nvSpPr>
        <p:spPr>
          <a:xfrm>
            <a:off x="2286000" y="3979962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043" y="4044255"/>
            <a:ext cx="112514" cy="10001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621756" y="3958530"/>
            <a:ext cx="26646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Yüksek Likidite</a:t>
            </a:r>
            <a:endParaRPr lang="en-US" sz="885" dirty="0"/>
          </a:p>
        </p:txBody>
      </p:sp>
      <p:sp>
        <p:nvSpPr>
          <p:cNvPr id="30" name="Text 23"/>
          <p:cNvSpPr/>
          <p:nvPr/>
        </p:nvSpPr>
        <p:spPr>
          <a:xfrm>
            <a:off x="2621756" y="4151412"/>
            <a:ext cx="266461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BİST Borçlanma Araçları Piyasası'nda yüksek işlem hacmine sahip olması, nakit yönetimi açısından esneklik sağlar.</a:t>
            </a:r>
            <a:endParaRPr lang="en-US" sz="727" dirty="0"/>
          </a:p>
        </p:txBody>
      </p:sp>
      <p:sp>
        <p:nvSpPr>
          <p:cNvPr id="31" name="Shape 24"/>
          <p:cNvSpPr/>
          <p:nvPr/>
        </p:nvSpPr>
        <p:spPr>
          <a:xfrm>
            <a:off x="5572125" y="2227064"/>
            <a:ext cx="3000375" cy="26914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5"/>
          <p:cNvSpPr/>
          <p:nvPr/>
        </p:nvSpPr>
        <p:spPr>
          <a:xfrm>
            <a:off x="5572125" y="2227064"/>
            <a:ext cx="30003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TLREFK Endeksi ve Getiri Gelişimi</a:t>
            </a:r>
            <a:endParaRPr lang="en-US" sz="784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706" y="2552105"/>
            <a:ext cx="2843213" cy="228778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14500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2436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2436" dirty="0"/>
          </a:p>
        </p:txBody>
      </p:sp>
      <p:sp>
        <p:nvSpPr>
          <p:cNvPr id="4" name="Text 1"/>
          <p:cNvSpPr/>
          <p:nvPr/>
        </p:nvSpPr>
        <p:spPr>
          <a:xfrm>
            <a:off x="714375" y="1714500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06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600450" y="1940254"/>
            <a:ext cx="4829175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Regülasyon Uyumu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3600450" y="2563183"/>
            <a:ext cx="482917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spc="2" kern="0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MAKROIHTIYATI TEDBIRLERE UYUM VE KATKI</a:t>
            </a:r>
            <a:endParaRPr lang="en-US" sz="170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ZAY ve ZA2 Fonları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Zorunlu Karşılık Yönetiminde Stratejik Araçlar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284089"/>
            <a:ext cx="3000375" cy="2262783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8" name="Shape 4"/>
          <p:cNvSpPr/>
          <p:nvPr/>
        </p:nvSpPr>
        <p:spPr>
          <a:xfrm>
            <a:off x="2286000" y="1284089"/>
            <a:ext cx="3000375" cy="42863"/>
          </a:xfrm>
          <a:prstGeom prst="rect">
            <a:avLst/>
          </a:prstGeom>
          <a:solidFill>
            <a:srgbClr val="096A3D"/>
          </a:solidFill>
          <a:ln/>
        </p:spPr>
      </p:sp>
      <p:sp>
        <p:nvSpPr>
          <p:cNvPr id="9" name="Text 5"/>
          <p:cNvSpPr/>
          <p:nvPr/>
        </p:nvSpPr>
        <p:spPr>
          <a:xfrm>
            <a:off x="2500313" y="1537692"/>
            <a:ext cx="48220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ZAY</a:t>
            </a:r>
            <a:endParaRPr lang="en-US" sz="1602" dirty="0"/>
          </a:p>
        </p:txBody>
      </p:sp>
      <p:sp>
        <p:nvSpPr>
          <p:cNvPr id="10" name="Shape 6"/>
          <p:cNvSpPr/>
          <p:nvPr/>
        </p:nvSpPr>
        <p:spPr>
          <a:xfrm>
            <a:off x="4714875" y="1498402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744" y="1591270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00313" y="1998464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ZORUNLU KARŞILIK YÖNETIMI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2500313" y="2244923"/>
            <a:ext cx="2571750" cy="1087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TCMB nezdindeki zorunlu karşılık yükümlülüklerinin, doğrudan nakit blokajı yerine menkul kıymet tesis edilerek karşılanmasını sağlayan stratejik fon yapısıdır. Bu sayede atıl likidite minimize edilir.</a:t>
            </a:r>
            <a:endParaRPr lang="en-US" sz="727" dirty="0"/>
          </a:p>
        </p:txBody>
      </p:sp>
      <p:sp>
        <p:nvSpPr>
          <p:cNvPr id="14" name="Shape 9"/>
          <p:cNvSpPr/>
          <p:nvPr/>
        </p:nvSpPr>
        <p:spPr>
          <a:xfrm>
            <a:off x="5572125" y="1284089"/>
            <a:ext cx="3000375" cy="2262783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15" name="Shape 10"/>
          <p:cNvSpPr/>
          <p:nvPr/>
        </p:nvSpPr>
        <p:spPr>
          <a:xfrm>
            <a:off x="5572125" y="1284089"/>
            <a:ext cx="3000375" cy="42863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1"/>
          <p:cNvSpPr/>
          <p:nvPr/>
        </p:nvSpPr>
        <p:spPr>
          <a:xfrm>
            <a:off x="5786438" y="1537692"/>
            <a:ext cx="47327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ZA2</a:t>
            </a:r>
            <a:endParaRPr lang="en-US" sz="1602" dirty="0"/>
          </a:p>
        </p:txBody>
      </p:sp>
      <p:sp>
        <p:nvSpPr>
          <p:cNvPr id="17" name="Shape 12"/>
          <p:cNvSpPr/>
          <p:nvPr/>
        </p:nvSpPr>
        <p:spPr>
          <a:xfrm>
            <a:off x="8001000" y="1498402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153" y="1591270"/>
            <a:ext cx="192881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86438" y="1998464"/>
            <a:ext cx="2571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VARLIK OPTIMIZASYONU</a:t>
            </a:r>
            <a:endParaRPr lang="en-US" sz="784" dirty="0"/>
          </a:p>
        </p:txBody>
      </p:sp>
      <p:sp>
        <p:nvSpPr>
          <p:cNvPr id="20" name="Text 14"/>
          <p:cNvSpPr/>
          <p:nvPr/>
        </p:nvSpPr>
        <p:spPr>
          <a:xfrm>
            <a:off x="5786438" y="2244923"/>
            <a:ext cx="2571750" cy="1087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Regülasyon limitleri dahilinde, farklı vade ve varlık sınıflarına yatırım yaparak hem yasal uyumluluğu sağlar hem de portföy getirisini optimize eder. Ek getiri fırsatları sunar.</a:t>
            </a:r>
            <a:endParaRPr lang="en-US" sz="727" dirty="0"/>
          </a:p>
        </p:txBody>
      </p:sp>
      <p:sp>
        <p:nvSpPr>
          <p:cNvPr id="21" name="Shape 15"/>
          <p:cNvSpPr/>
          <p:nvPr/>
        </p:nvSpPr>
        <p:spPr>
          <a:xfrm>
            <a:off x="2286000" y="3832622"/>
            <a:ext cx="6286500" cy="953691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2" name="Text 16"/>
          <p:cNvSpPr/>
          <p:nvPr/>
        </p:nvSpPr>
        <p:spPr>
          <a:xfrm>
            <a:off x="2571750" y="4152305"/>
            <a:ext cx="1428750" cy="314325"/>
          </a:xfrm>
          <a:prstGeom prst="rect">
            <a:avLst/>
          </a:prstGeom>
          <a:noFill/>
          <a:ln/>
        </p:spPr>
        <p:txBody>
          <a:bodyPr wrap="square" lIns="0" tIns="0" rIns="255143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Stratejik Katkı ve Sonuçlar</a:t>
            </a:r>
            <a:endParaRPr lang="en-US" sz="885" dirty="0"/>
          </a:p>
        </p:txBody>
      </p:sp>
      <p:sp>
        <p:nvSpPr>
          <p:cNvPr id="23" name="Text 17"/>
          <p:cNvSpPr/>
          <p:nvPr/>
        </p:nvSpPr>
        <p:spPr>
          <a:xfrm>
            <a:off x="4214813" y="4011216"/>
            <a:ext cx="1039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1602" dirty="0"/>
          </a:p>
        </p:txBody>
      </p:sp>
      <p:sp>
        <p:nvSpPr>
          <p:cNvPr id="24" name="Text 18"/>
          <p:cNvSpPr/>
          <p:nvPr/>
        </p:nvSpPr>
        <p:spPr>
          <a:xfrm>
            <a:off x="4214813" y="4504134"/>
            <a:ext cx="10390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YÖNETILEN TUTAR</a:t>
            </a:r>
            <a:endParaRPr lang="en-US" sz="621" dirty="0"/>
          </a:p>
        </p:txBody>
      </p:sp>
      <p:sp>
        <p:nvSpPr>
          <p:cNvPr id="25" name="Text 19"/>
          <p:cNvSpPr/>
          <p:nvPr/>
        </p:nvSpPr>
        <p:spPr>
          <a:xfrm>
            <a:off x="5682490" y="4011216"/>
            <a:ext cx="10780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%100</a:t>
            </a:r>
            <a:endParaRPr lang="en-US" sz="1602" dirty="0"/>
          </a:p>
        </p:txBody>
      </p:sp>
      <p:sp>
        <p:nvSpPr>
          <p:cNvPr id="26" name="Text 20"/>
          <p:cNvSpPr/>
          <p:nvPr/>
        </p:nvSpPr>
        <p:spPr>
          <a:xfrm>
            <a:off x="5682490" y="4275534"/>
            <a:ext cx="107806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REGÜLASYON UYUMU</a:t>
            </a:r>
            <a:endParaRPr lang="en-US" sz="621" dirty="0"/>
          </a:p>
        </p:txBody>
      </p:sp>
      <p:sp>
        <p:nvSpPr>
          <p:cNvPr id="27" name="Text 21"/>
          <p:cNvSpPr/>
          <p:nvPr/>
        </p:nvSpPr>
        <p:spPr>
          <a:xfrm>
            <a:off x="7189180" y="4011216"/>
            <a:ext cx="1097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Mn TL</a:t>
            </a:r>
            <a:endParaRPr lang="en-US" sz="1602" dirty="0"/>
          </a:p>
        </p:txBody>
      </p:sp>
      <p:sp>
        <p:nvSpPr>
          <p:cNvPr id="28" name="Text 22"/>
          <p:cNvSpPr/>
          <p:nvPr/>
        </p:nvSpPr>
        <p:spPr>
          <a:xfrm>
            <a:off x="7189180" y="4504134"/>
            <a:ext cx="109757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AVANTAJI</a:t>
            </a:r>
            <a:endParaRPr lang="en-US" sz="62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95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Müşteri Bazlı Sukuk Taahhütlü İşlemler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Regülasyon Uyumunda Stratejik Derinlik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284089"/>
            <a:ext cx="6286500" cy="186521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8" name="Text 4"/>
          <p:cNvSpPr/>
          <p:nvPr/>
        </p:nvSpPr>
        <p:spPr>
          <a:xfrm>
            <a:off x="2500313" y="1498402"/>
            <a:ext cx="5857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İŞLEM MEKANIZMASI</a:t>
            </a:r>
            <a:endParaRPr lang="en-US" sz="683" dirty="0"/>
          </a:p>
        </p:txBody>
      </p:sp>
      <p:sp>
        <p:nvSpPr>
          <p:cNvPr id="9" name="Shape 5"/>
          <p:cNvSpPr/>
          <p:nvPr/>
        </p:nvSpPr>
        <p:spPr>
          <a:xfrm>
            <a:off x="2988459" y="1762720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6A08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980" y="1912739"/>
            <a:ext cx="175022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12570" y="2369939"/>
            <a:ext cx="45184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Müşteri</a:t>
            </a:r>
            <a:endParaRPr lang="en-US" sz="784" dirty="0"/>
          </a:p>
        </p:txBody>
      </p:sp>
      <p:sp>
        <p:nvSpPr>
          <p:cNvPr id="12" name="Text 7"/>
          <p:cNvSpPr/>
          <p:nvPr/>
        </p:nvSpPr>
        <p:spPr>
          <a:xfrm>
            <a:off x="2595553" y="2544961"/>
            <a:ext cx="1285875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Portföyünde sukuk bulunduran kurumsal müşteriler</a:t>
            </a:r>
            <a:endParaRPr lang="en-US" sz="674" dirty="0"/>
          </a:p>
        </p:txBody>
      </p:sp>
      <p:sp>
        <p:nvSpPr>
          <p:cNvPr id="13" name="Shape 8"/>
          <p:cNvSpPr/>
          <p:nvPr/>
        </p:nvSpPr>
        <p:spPr>
          <a:xfrm>
            <a:off x="3976697" y="2163105"/>
            <a:ext cx="714375" cy="14288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14" name="Shape 9"/>
          <p:cNvSpPr/>
          <p:nvPr/>
        </p:nvSpPr>
        <p:spPr>
          <a:xfrm>
            <a:off x="5179219" y="1827712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6A08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241" y="1977730"/>
            <a:ext cx="150019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48833" y="2434930"/>
            <a:ext cx="9608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Taahhütlü İşlem</a:t>
            </a:r>
            <a:endParaRPr lang="en-US" sz="784" dirty="0"/>
          </a:p>
        </p:txBody>
      </p:sp>
      <p:sp>
        <p:nvSpPr>
          <p:cNvPr id="17" name="Text 11"/>
          <p:cNvSpPr/>
          <p:nvPr/>
        </p:nvSpPr>
        <p:spPr>
          <a:xfrm>
            <a:off x="4786313" y="2609952"/>
            <a:ext cx="12858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Belirli vade için sukukların bankaya devri</a:t>
            </a:r>
            <a:endParaRPr lang="en-US" sz="674" dirty="0"/>
          </a:p>
        </p:txBody>
      </p:sp>
      <p:sp>
        <p:nvSpPr>
          <p:cNvPr id="18" name="Shape 12"/>
          <p:cNvSpPr/>
          <p:nvPr/>
        </p:nvSpPr>
        <p:spPr>
          <a:xfrm>
            <a:off x="6167456" y="2163105"/>
            <a:ext cx="714375" cy="14288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19" name="Shape 13"/>
          <p:cNvSpPr/>
          <p:nvPr/>
        </p:nvSpPr>
        <p:spPr>
          <a:xfrm>
            <a:off x="7369978" y="1827712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6A08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994" y="1977730"/>
            <a:ext cx="250031" cy="2000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70859" y="2434930"/>
            <a:ext cx="69830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Regülasyon</a:t>
            </a:r>
            <a:endParaRPr lang="en-US" sz="784" dirty="0"/>
          </a:p>
        </p:txBody>
      </p:sp>
      <p:sp>
        <p:nvSpPr>
          <p:cNvPr id="22" name="Text 15"/>
          <p:cNvSpPr/>
          <p:nvPr/>
        </p:nvSpPr>
        <p:spPr>
          <a:xfrm>
            <a:off x="6977072" y="2609952"/>
            <a:ext cx="12858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LCR rasyosuna pozitif katkı sağlayan likit varlık</a:t>
            </a:r>
            <a:endParaRPr lang="en-US" sz="674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3613649"/>
            <a:ext cx="142875" cy="1428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500313" y="3606505"/>
            <a:ext cx="90189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LCR Yönetimi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2286000" y="3870824"/>
            <a:ext cx="195261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Yüksek Kaliteli Likit Varlık (HQLA) stoğunu artırarak Likidite Karşılama Oranı (LCR) hedeflerine doğrudan katkı sağlar.</a:t>
            </a:r>
            <a:endParaRPr lang="en-US" sz="727" dirty="0"/>
          </a:p>
        </p:txBody>
      </p:sp>
      <p:sp>
        <p:nvSpPr>
          <p:cNvPr id="26" name="Shape 18"/>
          <p:cNvSpPr/>
          <p:nvPr/>
        </p:nvSpPr>
        <p:spPr>
          <a:xfrm>
            <a:off x="2286000" y="4618016"/>
            <a:ext cx="1952616" cy="264319"/>
          </a:xfrm>
          <a:prstGeom prst="rect">
            <a:avLst/>
          </a:prstGeom>
          <a:solidFill>
            <a:srgbClr val="FEFDF5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7438" y="4698383"/>
            <a:ext cx="75009" cy="10001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432447" y="4689453"/>
            <a:ext cx="81260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%15 LCR Katkısı</a:t>
            </a:r>
            <a:endParaRPr lang="en-US" sz="683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2928" y="3613649"/>
            <a:ext cx="142875" cy="14287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667241" y="3606505"/>
            <a:ext cx="107334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Avantajı</a:t>
            </a:r>
            <a:endParaRPr lang="en-US" sz="885" dirty="0"/>
          </a:p>
        </p:txBody>
      </p:sp>
      <p:sp>
        <p:nvSpPr>
          <p:cNvPr id="31" name="Text 21"/>
          <p:cNvSpPr/>
          <p:nvPr/>
        </p:nvSpPr>
        <p:spPr>
          <a:xfrm>
            <a:off x="4452928" y="3870824"/>
            <a:ext cx="195261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Alternatif teminatlı borçlanma piyasalarına kıyasla daha uygun maliyetli bir fonlama ve likidite yönetimi aracıdır.</a:t>
            </a:r>
            <a:endParaRPr lang="en-US" sz="727" dirty="0"/>
          </a:p>
        </p:txBody>
      </p:sp>
      <p:sp>
        <p:nvSpPr>
          <p:cNvPr id="32" name="Shape 22"/>
          <p:cNvSpPr/>
          <p:nvPr/>
        </p:nvSpPr>
        <p:spPr>
          <a:xfrm>
            <a:off x="4452928" y="4618016"/>
            <a:ext cx="1952616" cy="264319"/>
          </a:xfrm>
          <a:prstGeom prst="rect">
            <a:avLst/>
          </a:prstGeom>
          <a:solidFill>
            <a:srgbClr val="FEFDF5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4366" y="4698383"/>
            <a:ext cx="100013" cy="100013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624378" y="4689453"/>
            <a:ext cx="128408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bps Maliyet Tasarrufu</a:t>
            </a:r>
            <a:endParaRPr lang="en-US" sz="683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9856" y="3613649"/>
            <a:ext cx="178594" cy="142875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869888" y="3606505"/>
            <a:ext cx="14233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Müşteri Derinleşmesi</a:t>
            </a:r>
            <a:endParaRPr lang="en-US" sz="885" dirty="0"/>
          </a:p>
        </p:txBody>
      </p:sp>
      <p:sp>
        <p:nvSpPr>
          <p:cNvPr id="37" name="Text 25"/>
          <p:cNvSpPr/>
          <p:nvPr/>
        </p:nvSpPr>
        <p:spPr>
          <a:xfrm>
            <a:off x="6619856" y="3870824"/>
            <a:ext cx="195261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Müşterilerin atıl duran sukuk portföylerine ek getiri imkanı sunarak banka ile olan iş ilişkisini ve sadakati güçlendirir.</a:t>
            </a:r>
            <a:endParaRPr lang="en-US" sz="727" dirty="0"/>
          </a:p>
        </p:txBody>
      </p:sp>
      <p:sp>
        <p:nvSpPr>
          <p:cNvPr id="38" name="Shape 26"/>
          <p:cNvSpPr/>
          <p:nvPr/>
        </p:nvSpPr>
        <p:spPr>
          <a:xfrm>
            <a:off x="6619856" y="4618016"/>
            <a:ext cx="1952616" cy="264319"/>
          </a:xfrm>
          <a:prstGeom prst="rect">
            <a:avLst/>
          </a:prstGeom>
          <a:solidFill>
            <a:srgbClr val="FEFDF5"/>
          </a:solidFill>
          <a:ln/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1294" y="4698383"/>
            <a:ext cx="89297" cy="100013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780591" y="4689453"/>
            <a:ext cx="9644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Ek Müşteri Getirisi</a:t>
            </a:r>
            <a:endParaRPr lang="en-US" sz="68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8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77152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42875"/>
            <a:ext cx="142875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KZL Fonu ve Ödünç İşlemler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Teminat Yönetimi ve Likidite Optimizasyonu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284089"/>
            <a:ext cx="3000375" cy="62865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8" name="Shape 4"/>
          <p:cNvSpPr/>
          <p:nvPr/>
        </p:nvSpPr>
        <p:spPr>
          <a:xfrm>
            <a:off x="2286000" y="1284089"/>
            <a:ext cx="42863" cy="62865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9" name="Shape 5"/>
          <p:cNvSpPr/>
          <p:nvPr/>
        </p:nvSpPr>
        <p:spPr>
          <a:xfrm>
            <a:off x="2371725" y="1384102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597" y="1512689"/>
            <a:ext cx="192881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43225" y="1369814"/>
            <a:ext cx="137695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2121" dirty="0"/>
          </a:p>
        </p:txBody>
      </p:sp>
      <p:sp>
        <p:nvSpPr>
          <p:cNvPr id="12" name="Text 7"/>
          <p:cNvSpPr/>
          <p:nvPr/>
        </p:nvSpPr>
        <p:spPr>
          <a:xfrm>
            <a:off x="2943225" y="1705570"/>
            <a:ext cx="137695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İŞLEM HACMI</a:t>
            </a:r>
            <a:endParaRPr lang="en-US" sz="683" dirty="0"/>
          </a:p>
        </p:txBody>
      </p:sp>
      <p:sp>
        <p:nvSpPr>
          <p:cNvPr id="13" name="Shape 8"/>
          <p:cNvSpPr/>
          <p:nvPr/>
        </p:nvSpPr>
        <p:spPr>
          <a:xfrm>
            <a:off x="5550694" y="1284089"/>
            <a:ext cx="3021806" cy="62865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14" name="Shape 9"/>
          <p:cNvSpPr/>
          <p:nvPr/>
        </p:nvSpPr>
        <p:spPr>
          <a:xfrm>
            <a:off x="5550694" y="1284089"/>
            <a:ext cx="42863" cy="62865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5" name="Shape 10"/>
          <p:cNvSpPr/>
          <p:nvPr/>
        </p:nvSpPr>
        <p:spPr>
          <a:xfrm>
            <a:off x="5657850" y="1384102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006" y="1512689"/>
            <a:ext cx="214313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29350" y="1369814"/>
            <a:ext cx="121622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+%XX</a:t>
            </a:r>
            <a:endParaRPr lang="en-US" sz="2121" dirty="0"/>
          </a:p>
        </p:txBody>
      </p:sp>
      <p:sp>
        <p:nvSpPr>
          <p:cNvPr id="18" name="Text 12"/>
          <p:cNvSpPr/>
          <p:nvPr/>
        </p:nvSpPr>
        <p:spPr>
          <a:xfrm>
            <a:off x="6229350" y="1705570"/>
            <a:ext cx="121622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LCR RASYOSUNA KATKI</a:t>
            </a:r>
            <a:endParaRPr lang="en-US" sz="683" dirty="0"/>
          </a:p>
        </p:txBody>
      </p:sp>
      <p:sp>
        <p:nvSpPr>
          <p:cNvPr id="19" name="Text 13"/>
          <p:cNvSpPr/>
          <p:nvPr/>
        </p:nvSpPr>
        <p:spPr>
          <a:xfrm>
            <a:off x="2443163" y="2055614"/>
            <a:ext cx="26789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Teminat Havuzu Yönetimi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2443163" y="2269927"/>
            <a:ext cx="26789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KZL fonları aracılığıyla gerçekleştirilen ödünç işlemleri, bankamızın teminat havuzunu çeşitlendirerek TCMB ve piyasa işlemlerinde esneklik sağlamaktadır.</a:t>
            </a:r>
            <a:endParaRPr lang="en-US" sz="780" dirty="0"/>
          </a:p>
        </p:txBody>
      </p:sp>
      <p:sp>
        <p:nvSpPr>
          <p:cNvPr id="21" name="Text 15"/>
          <p:cNvSpPr/>
          <p:nvPr/>
        </p:nvSpPr>
        <p:spPr>
          <a:xfrm>
            <a:off x="2443163" y="3041452"/>
            <a:ext cx="26789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Likidite Tamponu</a:t>
            </a:r>
            <a:endParaRPr lang="en-US" sz="885" dirty="0"/>
          </a:p>
        </p:txBody>
      </p:sp>
      <p:sp>
        <p:nvSpPr>
          <p:cNvPr id="22" name="Text 16"/>
          <p:cNvSpPr/>
          <p:nvPr/>
        </p:nvSpPr>
        <p:spPr>
          <a:xfrm>
            <a:off x="2443163" y="3255764"/>
            <a:ext cx="26789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Yüksek kaliteli likit varlıkların (HQLA) portföye dahil edilmesiyle, yasal likidite karşılama oranları (LCR) desteklenmekte ve regülasyon uyumu güvence altına alınmaktadır.</a:t>
            </a:r>
            <a:endParaRPr lang="en-US" sz="780" dirty="0"/>
          </a:p>
        </p:txBody>
      </p:sp>
      <p:sp>
        <p:nvSpPr>
          <p:cNvPr id="23" name="Text 17"/>
          <p:cNvSpPr/>
          <p:nvPr/>
        </p:nvSpPr>
        <p:spPr>
          <a:xfrm>
            <a:off x="2443163" y="4027289"/>
            <a:ext cx="26789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Bilanço Verimliliği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2443163" y="4241602"/>
            <a:ext cx="26789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Atıl duran menkul kıymetlerin ödünç piyasasında değerlendirilmesi ile ek getiri sağlanmakta ve aktif kalitesi artırılmaktadır.</a:t>
            </a:r>
            <a:endParaRPr lang="en-US" sz="780" dirty="0"/>
          </a:p>
        </p:txBody>
      </p:sp>
      <p:sp>
        <p:nvSpPr>
          <p:cNvPr id="25" name="Shape 19"/>
          <p:cNvSpPr/>
          <p:nvPr/>
        </p:nvSpPr>
        <p:spPr>
          <a:xfrm>
            <a:off x="5550694" y="2055614"/>
            <a:ext cx="3021806" cy="2786063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700713" y="2155627"/>
            <a:ext cx="61972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İŞLEM AKIŞI</a:t>
            </a:r>
            <a:endParaRPr lang="en-US" sz="683" dirty="0"/>
          </a:p>
        </p:txBody>
      </p:sp>
      <p:sp>
        <p:nvSpPr>
          <p:cNvPr id="27" name="Shape 21"/>
          <p:cNvSpPr/>
          <p:nvPr/>
        </p:nvSpPr>
        <p:spPr>
          <a:xfrm>
            <a:off x="6350794" y="2364581"/>
            <a:ext cx="1428750" cy="310753"/>
          </a:xfrm>
          <a:prstGeom prst="rect">
            <a:avLst/>
          </a:prstGeom>
          <a:solidFill>
            <a:srgbClr val="FFFFFF"/>
          </a:solidFill>
          <a:ln w="18288">
            <a:solidFill>
              <a:srgbClr val="16A08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350794" y="2364581"/>
            <a:ext cx="1428750" cy="3107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KZL Yatırım Fonu</a:t>
            </a:r>
            <a:endParaRPr lang="en-US" sz="784" dirty="0"/>
          </a:p>
        </p:txBody>
      </p:sp>
      <p:sp>
        <p:nvSpPr>
          <p:cNvPr id="29" name="Shape 23"/>
          <p:cNvSpPr/>
          <p:nvPr/>
        </p:nvSpPr>
        <p:spPr>
          <a:xfrm>
            <a:off x="7058025" y="2696766"/>
            <a:ext cx="14288" cy="2000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0" name="Shape 24"/>
          <p:cNvSpPr/>
          <p:nvPr/>
        </p:nvSpPr>
        <p:spPr>
          <a:xfrm>
            <a:off x="7129463" y="2730698"/>
            <a:ext cx="1348383" cy="13215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5"/>
          <p:cNvSpPr/>
          <p:nvPr/>
        </p:nvSpPr>
        <p:spPr>
          <a:xfrm>
            <a:off x="7129463" y="2730698"/>
            <a:ext cx="1348383" cy="132159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Menkul Kıymet Ödünç Verme</a:t>
            </a:r>
            <a:endParaRPr lang="en-US" sz="621" dirty="0"/>
          </a:p>
        </p:txBody>
      </p:sp>
      <p:sp>
        <p:nvSpPr>
          <p:cNvPr id="32" name="Shape 26"/>
          <p:cNvSpPr/>
          <p:nvPr/>
        </p:nvSpPr>
        <p:spPr>
          <a:xfrm>
            <a:off x="6350794" y="2932509"/>
            <a:ext cx="1428750" cy="310753"/>
          </a:xfrm>
          <a:prstGeom prst="rect">
            <a:avLst/>
          </a:prstGeom>
          <a:solidFill>
            <a:srgbClr val="FFFFFF"/>
          </a:solidFill>
          <a:ln w="18288">
            <a:solidFill>
              <a:srgbClr val="7F8C8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350794" y="2932509"/>
            <a:ext cx="1428750" cy="3107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Kuveyt Türk Hazine</a:t>
            </a:r>
            <a:endParaRPr lang="en-US" sz="784" dirty="0"/>
          </a:p>
        </p:txBody>
      </p:sp>
      <p:sp>
        <p:nvSpPr>
          <p:cNvPr id="34" name="Shape 28"/>
          <p:cNvSpPr/>
          <p:nvPr/>
        </p:nvSpPr>
        <p:spPr>
          <a:xfrm>
            <a:off x="7058025" y="3264694"/>
            <a:ext cx="14288" cy="2000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5" name="Shape 29"/>
          <p:cNvSpPr/>
          <p:nvPr/>
        </p:nvSpPr>
        <p:spPr>
          <a:xfrm>
            <a:off x="7129463" y="3298627"/>
            <a:ext cx="862608" cy="13215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0"/>
          <p:cNvSpPr/>
          <p:nvPr/>
        </p:nvSpPr>
        <p:spPr>
          <a:xfrm>
            <a:off x="7129463" y="3298627"/>
            <a:ext cx="862608" cy="132159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Teminat Gösterimi</a:t>
            </a:r>
            <a:endParaRPr lang="en-US" sz="621" dirty="0"/>
          </a:p>
        </p:txBody>
      </p:sp>
      <p:sp>
        <p:nvSpPr>
          <p:cNvPr id="37" name="Shape 31"/>
          <p:cNvSpPr/>
          <p:nvPr/>
        </p:nvSpPr>
        <p:spPr>
          <a:xfrm>
            <a:off x="6350794" y="3500438"/>
            <a:ext cx="1428750" cy="310753"/>
          </a:xfrm>
          <a:prstGeom prst="rect">
            <a:avLst/>
          </a:prstGeom>
          <a:solidFill>
            <a:srgbClr val="FFFFFF"/>
          </a:solidFill>
          <a:ln w="18288">
            <a:solidFill>
              <a:srgbClr val="2980B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350794" y="3500438"/>
            <a:ext cx="1428750" cy="3107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8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TCMB / Piyasa</a:t>
            </a:r>
            <a:endParaRPr lang="en-US" sz="784" dirty="0"/>
          </a:p>
        </p:txBody>
      </p:sp>
      <p:sp>
        <p:nvSpPr>
          <p:cNvPr id="39" name="Shape 33"/>
          <p:cNvSpPr/>
          <p:nvPr/>
        </p:nvSpPr>
        <p:spPr>
          <a:xfrm>
            <a:off x="7058025" y="3832622"/>
            <a:ext cx="14288" cy="20002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0" name="Shape 34"/>
          <p:cNvSpPr/>
          <p:nvPr/>
        </p:nvSpPr>
        <p:spPr>
          <a:xfrm>
            <a:off x="7129463" y="3866555"/>
            <a:ext cx="909042" cy="13215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Text 35"/>
          <p:cNvSpPr/>
          <p:nvPr/>
        </p:nvSpPr>
        <p:spPr>
          <a:xfrm>
            <a:off x="7129463" y="3866555"/>
            <a:ext cx="909042" cy="132159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 Likidite Sağlama</a:t>
            </a:r>
            <a:endParaRPr lang="en-US" sz="621" dirty="0"/>
          </a:p>
        </p:txBody>
      </p:sp>
      <p:sp>
        <p:nvSpPr>
          <p:cNvPr id="42" name="Shape 36"/>
          <p:cNvSpPr/>
          <p:nvPr/>
        </p:nvSpPr>
        <p:spPr>
          <a:xfrm>
            <a:off x="6350794" y="4068366"/>
            <a:ext cx="1428750" cy="421481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43" name="Text 37"/>
          <p:cNvSpPr/>
          <p:nvPr/>
        </p:nvSpPr>
        <p:spPr>
          <a:xfrm>
            <a:off x="6350794" y="4068366"/>
            <a:ext cx="1428750" cy="4214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Likidite &amp; LCR Uyumu</a:t>
            </a:r>
            <a:endParaRPr lang="en-US" sz="78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45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Özel Şubeler Cari Desteklerimiz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Büyümeden Muaf Şubeler ve Bölgesel Kalkınma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212652"/>
            <a:ext cx="6286500" cy="703659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Shape 4"/>
          <p:cNvSpPr/>
          <p:nvPr/>
        </p:nvSpPr>
        <p:spPr>
          <a:xfrm>
            <a:off x="2286000" y="1212652"/>
            <a:ext cx="42863" cy="703659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378744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14625" y="1326952"/>
            <a:ext cx="57435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35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REGÜLASYON BAĞLAMI</a:t>
            </a:r>
            <a:endParaRPr lang="en-US" sz="784" dirty="0"/>
          </a:p>
        </p:txBody>
      </p:sp>
      <p:sp>
        <p:nvSpPr>
          <p:cNvPr id="11" name="Text 6"/>
          <p:cNvSpPr/>
          <p:nvPr/>
        </p:nvSpPr>
        <p:spPr>
          <a:xfrm>
            <a:off x="2714625" y="1501973"/>
            <a:ext cx="57435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Kalkınmada öncelikli yörelerde bulunan veya ihtisaslaşmış "Özel Şubeler", kredi büyüme sınırlarından muaf tutulmaktadır. Bu şubelerin desteklenmesi, bankamızın genel büyüme stratejisi için kritik öneme sahiptir.</a:t>
            </a:r>
            <a:endParaRPr lang="en-US" sz="727" dirty="0"/>
          </a:p>
        </p:txBody>
      </p:sp>
      <p:sp>
        <p:nvSpPr>
          <p:cNvPr id="12" name="Shape 7"/>
          <p:cNvSpPr/>
          <p:nvPr/>
        </p:nvSpPr>
        <p:spPr>
          <a:xfrm>
            <a:off x="2286000" y="2002036"/>
            <a:ext cx="3071813" cy="6000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3" name="Shape 8"/>
          <p:cNvSpPr/>
          <p:nvPr/>
        </p:nvSpPr>
        <p:spPr>
          <a:xfrm>
            <a:off x="2393156" y="2123480"/>
            <a:ext cx="357188" cy="35718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67E2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313" y="2230636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893219" y="2109192"/>
            <a:ext cx="23574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Avantajlı Transfer Fiyatlaması</a:t>
            </a:r>
            <a:endParaRPr lang="en-US" sz="784" dirty="0"/>
          </a:p>
        </p:txBody>
      </p:sp>
      <p:sp>
        <p:nvSpPr>
          <p:cNvPr id="16" name="Text 10"/>
          <p:cNvSpPr/>
          <p:nvPr/>
        </p:nvSpPr>
        <p:spPr>
          <a:xfrm>
            <a:off x="2893219" y="2269927"/>
            <a:ext cx="235743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Özel şubelere sağlanan fonlamada pozitif ayrımcılık yapılarak karlılıkları desteklenmektedir.</a:t>
            </a:r>
            <a:endParaRPr lang="en-US" sz="674" dirty="0"/>
          </a:p>
        </p:txBody>
      </p:sp>
      <p:sp>
        <p:nvSpPr>
          <p:cNvPr id="17" name="Shape 11"/>
          <p:cNvSpPr/>
          <p:nvPr/>
        </p:nvSpPr>
        <p:spPr>
          <a:xfrm>
            <a:off x="2286000" y="2687836"/>
            <a:ext cx="3071813" cy="71258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8" name="Shape 12"/>
          <p:cNvSpPr/>
          <p:nvPr/>
        </p:nvSpPr>
        <p:spPr>
          <a:xfrm>
            <a:off x="2393156" y="2865537"/>
            <a:ext cx="357188" cy="35718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67E22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383" y="2972693"/>
            <a:ext cx="160734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893219" y="2794992"/>
            <a:ext cx="23574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Ek Likidite Limiti</a:t>
            </a:r>
            <a:endParaRPr lang="en-US" sz="784" dirty="0"/>
          </a:p>
        </p:txBody>
      </p:sp>
      <p:sp>
        <p:nvSpPr>
          <p:cNvPr id="21" name="Text 14"/>
          <p:cNvSpPr/>
          <p:nvPr/>
        </p:nvSpPr>
        <p:spPr>
          <a:xfrm>
            <a:off x="2893219" y="2955727"/>
            <a:ext cx="2357438" cy="33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Bölgesel ihtiyaçlara hızlı cevap verebilmeleri için standart limitlerin üzerinde likidite tahsisi yapılmaktadır.</a:t>
            </a:r>
            <a:endParaRPr lang="en-US" sz="674" dirty="0"/>
          </a:p>
        </p:txBody>
      </p:sp>
      <p:sp>
        <p:nvSpPr>
          <p:cNvPr id="22" name="Shape 15"/>
          <p:cNvSpPr/>
          <p:nvPr/>
        </p:nvSpPr>
        <p:spPr>
          <a:xfrm>
            <a:off x="2286000" y="3486150"/>
            <a:ext cx="3071813" cy="6000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3" name="Shape 16"/>
          <p:cNvSpPr/>
          <p:nvPr/>
        </p:nvSpPr>
        <p:spPr>
          <a:xfrm>
            <a:off x="2393156" y="3607594"/>
            <a:ext cx="357188" cy="35718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67E22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453" y="3714750"/>
            <a:ext cx="178594" cy="14287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893219" y="3593306"/>
            <a:ext cx="23574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Operasyonel Destek</a:t>
            </a:r>
            <a:endParaRPr lang="en-US" sz="784" dirty="0"/>
          </a:p>
        </p:txBody>
      </p:sp>
      <p:sp>
        <p:nvSpPr>
          <p:cNvPr id="26" name="Text 18"/>
          <p:cNvSpPr/>
          <p:nvPr/>
        </p:nvSpPr>
        <p:spPr>
          <a:xfrm>
            <a:off x="2893219" y="3754041"/>
            <a:ext cx="235743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Merkezi operasyonel yüklerin hafifletilmesi ile şubelerin satış odaklı çalışması sağlanmaktadır.</a:t>
            </a:r>
            <a:endParaRPr lang="en-US" sz="674" dirty="0"/>
          </a:p>
        </p:txBody>
      </p:sp>
      <p:sp>
        <p:nvSpPr>
          <p:cNvPr id="27" name="Text 19"/>
          <p:cNvSpPr/>
          <p:nvPr/>
        </p:nvSpPr>
        <p:spPr>
          <a:xfrm>
            <a:off x="5500688" y="2002036"/>
            <a:ext cx="30718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Sağlanan Cari Destek Hacmi (Mn TL)</a:t>
            </a:r>
            <a:endParaRPr lang="en-US" sz="784" dirty="0"/>
          </a:p>
        </p:txBody>
      </p:sp>
      <p:sp>
        <p:nvSpPr>
          <p:cNvPr id="28" name="Shape 20"/>
          <p:cNvSpPr/>
          <p:nvPr/>
        </p:nvSpPr>
        <p:spPr>
          <a:xfrm>
            <a:off x="5500688" y="2212777"/>
            <a:ext cx="3071813" cy="2757488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7844" y="2319933"/>
            <a:ext cx="2843213" cy="2528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914400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4" name="Text 1"/>
          <p:cNvSpPr/>
          <p:nvPr/>
        </p:nvSpPr>
        <p:spPr>
          <a:xfrm>
            <a:off x="2286000" y="357188"/>
            <a:ext cx="6286500" cy="44827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Makroihtiyati Tedbirlere Uyum Özeti</a:t>
            </a:r>
            <a:endParaRPr lang="en-US" sz="1808" dirty="0"/>
          </a:p>
        </p:txBody>
      </p:sp>
      <p:sp>
        <p:nvSpPr>
          <p:cNvPr id="5" name="Shape 2"/>
          <p:cNvSpPr/>
          <p:nvPr/>
        </p:nvSpPr>
        <p:spPr>
          <a:xfrm>
            <a:off x="2286000" y="1091208"/>
            <a:ext cx="1952616" cy="923330"/>
          </a:xfrm>
          <a:prstGeom prst="rect">
            <a:avLst/>
          </a:prstGeom>
          <a:solidFill>
            <a:srgbClr val="096A3D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0" y="1091208"/>
            <a:ext cx="1952616" cy="42863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7" name="Text 4"/>
          <p:cNvSpPr/>
          <p:nvPr/>
        </p:nvSpPr>
        <p:spPr>
          <a:xfrm>
            <a:off x="2464594" y="1269802"/>
            <a:ext cx="1595428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2121" dirty="0"/>
          </a:p>
        </p:txBody>
      </p:sp>
      <p:sp>
        <p:nvSpPr>
          <p:cNvPr id="8" name="Text 5"/>
          <p:cNvSpPr/>
          <p:nvPr/>
        </p:nvSpPr>
        <p:spPr>
          <a:xfrm>
            <a:off x="2464594" y="1671638"/>
            <a:ext cx="15954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TOPLAM UYUM HACMI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452928" y="1091208"/>
            <a:ext cx="1952616" cy="923330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10" name="Shape 7"/>
          <p:cNvSpPr/>
          <p:nvPr/>
        </p:nvSpPr>
        <p:spPr>
          <a:xfrm>
            <a:off x="4452928" y="1091208"/>
            <a:ext cx="1952616" cy="4286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1" name="Text 8"/>
          <p:cNvSpPr/>
          <p:nvPr/>
        </p:nvSpPr>
        <p:spPr>
          <a:xfrm>
            <a:off x="4631522" y="1269802"/>
            <a:ext cx="1595428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%100</a:t>
            </a:r>
            <a:endParaRPr lang="en-US" sz="2121" dirty="0"/>
          </a:p>
        </p:txBody>
      </p:sp>
      <p:sp>
        <p:nvSpPr>
          <p:cNvPr id="12" name="Text 9"/>
          <p:cNvSpPr/>
          <p:nvPr/>
        </p:nvSpPr>
        <p:spPr>
          <a:xfrm>
            <a:off x="4631522" y="1671638"/>
            <a:ext cx="15954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HEDEF GERÇEKLEŞME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6619856" y="1091208"/>
            <a:ext cx="1952616" cy="923330"/>
          </a:xfrm>
          <a:prstGeom prst="rect">
            <a:avLst/>
          </a:prstGeom>
          <a:solidFill>
            <a:srgbClr val="F5F9F8"/>
          </a:solidFill>
          <a:ln/>
        </p:spPr>
      </p:sp>
      <p:sp>
        <p:nvSpPr>
          <p:cNvPr id="14" name="Shape 11"/>
          <p:cNvSpPr/>
          <p:nvPr/>
        </p:nvSpPr>
        <p:spPr>
          <a:xfrm>
            <a:off x="6619856" y="1091208"/>
            <a:ext cx="1952616" cy="42863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15" name="Text 12"/>
          <p:cNvSpPr/>
          <p:nvPr/>
        </p:nvSpPr>
        <p:spPr>
          <a:xfrm>
            <a:off x="6798450" y="1269802"/>
            <a:ext cx="1595428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Mn TL</a:t>
            </a:r>
            <a:endParaRPr lang="en-US" sz="2121" dirty="0"/>
          </a:p>
        </p:txBody>
      </p:sp>
      <p:sp>
        <p:nvSpPr>
          <p:cNvPr id="16" name="Text 13"/>
          <p:cNvSpPr/>
          <p:nvPr/>
        </p:nvSpPr>
        <p:spPr>
          <a:xfrm>
            <a:off x="6798450" y="1671638"/>
            <a:ext cx="15954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MALIYET AVANTAJI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2286000" y="2114550"/>
            <a:ext cx="981680" cy="446484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KANAL / ENSTRÜMAN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3267680" y="2114550"/>
            <a:ext cx="512676" cy="446484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HACIM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3780355" y="2114550"/>
            <a:ext cx="1012878" cy="446484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TEMEL ETKI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4793233" y="2114550"/>
            <a:ext cx="870338" cy="446484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DURUM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2286000" y="2561034"/>
            <a:ext cx="981680" cy="528638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ZAY ve ZA2 Fonları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3267680" y="2561034"/>
            <a:ext cx="512676" cy="528638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3780355" y="2561034"/>
            <a:ext cx="1012878" cy="528638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ZK Optimizasyonu</a:t>
            </a:r>
            <a:endParaRPr lang="en-US" sz="734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71" y="2772668"/>
            <a:ext cx="107156" cy="1071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028977" y="2761952"/>
            <a:ext cx="2482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Aktif</a:t>
            </a:r>
            <a:endParaRPr lang="en-US" sz="734" dirty="0"/>
          </a:p>
        </p:txBody>
      </p:sp>
      <p:sp>
        <p:nvSpPr>
          <p:cNvPr id="26" name="Text 22"/>
          <p:cNvSpPr/>
          <p:nvPr/>
        </p:nvSpPr>
        <p:spPr>
          <a:xfrm>
            <a:off x="2286000" y="3089672"/>
            <a:ext cx="981680" cy="525066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Müşteri Sukuk İşlemleri</a:t>
            </a:r>
            <a:endParaRPr lang="en-US" sz="734" dirty="0"/>
          </a:p>
        </p:txBody>
      </p:sp>
      <p:sp>
        <p:nvSpPr>
          <p:cNvPr id="27" name="Text 23"/>
          <p:cNvSpPr/>
          <p:nvPr/>
        </p:nvSpPr>
        <p:spPr>
          <a:xfrm>
            <a:off x="3267680" y="3089672"/>
            <a:ext cx="512676" cy="525066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734" dirty="0"/>
          </a:p>
        </p:txBody>
      </p:sp>
      <p:sp>
        <p:nvSpPr>
          <p:cNvPr id="28" name="Text 24"/>
          <p:cNvSpPr/>
          <p:nvPr/>
        </p:nvSpPr>
        <p:spPr>
          <a:xfrm>
            <a:off x="3780355" y="3089672"/>
            <a:ext cx="1012878" cy="525066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LCR Artışı</a:t>
            </a:r>
            <a:endParaRPr lang="en-US" sz="734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71" y="3297734"/>
            <a:ext cx="107156" cy="10715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028977" y="3287018"/>
            <a:ext cx="2482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Aktif</a:t>
            </a:r>
            <a:endParaRPr lang="en-US" sz="734" dirty="0"/>
          </a:p>
        </p:txBody>
      </p:sp>
      <p:sp>
        <p:nvSpPr>
          <p:cNvPr id="31" name="Text 26"/>
          <p:cNvSpPr/>
          <p:nvPr/>
        </p:nvSpPr>
        <p:spPr>
          <a:xfrm>
            <a:off x="2286000" y="3614738"/>
            <a:ext cx="981680" cy="525066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KZL Fonu &amp; Ödünç</a:t>
            </a:r>
            <a:endParaRPr lang="en-US" sz="734" dirty="0"/>
          </a:p>
        </p:txBody>
      </p:sp>
      <p:sp>
        <p:nvSpPr>
          <p:cNvPr id="32" name="Text 27"/>
          <p:cNvSpPr/>
          <p:nvPr/>
        </p:nvSpPr>
        <p:spPr>
          <a:xfrm>
            <a:off x="3267680" y="3614738"/>
            <a:ext cx="512676" cy="525066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734" dirty="0"/>
          </a:p>
        </p:txBody>
      </p:sp>
      <p:sp>
        <p:nvSpPr>
          <p:cNvPr id="33" name="Text 28"/>
          <p:cNvSpPr/>
          <p:nvPr/>
        </p:nvSpPr>
        <p:spPr>
          <a:xfrm>
            <a:off x="3780355" y="3614738"/>
            <a:ext cx="1012878" cy="525066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Teminat Çeşitliliği</a:t>
            </a:r>
            <a:endParaRPr lang="en-US" sz="734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71" y="3822799"/>
            <a:ext cx="107156" cy="1071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028977" y="3812084"/>
            <a:ext cx="2482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Aktif</a:t>
            </a:r>
            <a:endParaRPr lang="en-US" sz="734" dirty="0"/>
          </a:p>
        </p:txBody>
      </p:sp>
      <p:sp>
        <p:nvSpPr>
          <p:cNvPr id="36" name="Text 30"/>
          <p:cNvSpPr/>
          <p:nvPr/>
        </p:nvSpPr>
        <p:spPr>
          <a:xfrm>
            <a:off x="2286000" y="4139803"/>
            <a:ext cx="981680" cy="521494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Özel Şube Destekleri</a:t>
            </a:r>
            <a:endParaRPr lang="en-US" sz="734" dirty="0"/>
          </a:p>
        </p:txBody>
      </p:sp>
      <p:sp>
        <p:nvSpPr>
          <p:cNvPr id="37" name="Text 31"/>
          <p:cNvSpPr/>
          <p:nvPr/>
        </p:nvSpPr>
        <p:spPr>
          <a:xfrm>
            <a:off x="3267680" y="4139803"/>
            <a:ext cx="512676" cy="521494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XX Mr TL</a:t>
            </a:r>
            <a:endParaRPr lang="en-US" sz="734" dirty="0"/>
          </a:p>
        </p:txBody>
      </p:sp>
      <p:sp>
        <p:nvSpPr>
          <p:cNvPr id="38" name="Text 32"/>
          <p:cNvSpPr/>
          <p:nvPr/>
        </p:nvSpPr>
        <p:spPr>
          <a:xfrm>
            <a:off x="3780355" y="4139803"/>
            <a:ext cx="1012878" cy="521494"/>
          </a:xfrm>
          <a:prstGeom prst="rect">
            <a:avLst/>
          </a:prstGeom>
          <a:noFill/>
          <a:ln/>
        </p:spPr>
        <p:txBody>
          <a:bodyPr wrap="square" lIns="85090" tIns="153035" rIns="85090" bIns="153035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Büyüme Muafiyeti</a:t>
            </a:r>
            <a:endParaRPr lang="en-US" sz="734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71" y="4282678"/>
            <a:ext cx="107156" cy="10715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864671" y="4402336"/>
            <a:ext cx="67687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Tamamlandı</a:t>
            </a:r>
            <a:endParaRPr lang="en-US" sz="734" dirty="0"/>
          </a:p>
        </p:txBody>
      </p:sp>
      <p:sp>
        <p:nvSpPr>
          <p:cNvPr id="41" name="Shape 34"/>
          <p:cNvSpPr/>
          <p:nvPr/>
        </p:nvSpPr>
        <p:spPr>
          <a:xfrm>
            <a:off x="6020758" y="2114550"/>
            <a:ext cx="2551742" cy="2671763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641902" y="2416373"/>
            <a:ext cx="131802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Uyum Katkısı Dağılımı</a:t>
            </a:r>
            <a:endParaRPr lang="en-US" sz="784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698552"/>
            <a:ext cx="2250281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14500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2436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2436" dirty="0"/>
          </a:p>
        </p:txBody>
      </p:sp>
      <p:sp>
        <p:nvSpPr>
          <p:cNvPr id="4" name="Text 1"/>
          <p:cNvSpPr/>
          <p:nvPr/>
        </p:nvSpPr>
        <p:spPr>
          <a:xfrm>
            <a:off x="714375" y="1714500"/>
            <a:ext cx="24003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07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600450" y="1940254"/>
            <a:ext cx="4829175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 Stratejik Hedefler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3600450" y="2563183"/>
            <a:ext cx="482917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spc="2" kern="0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GELECEĞE YÖNELIK VIZYON VE YOL HARITASI</a:t>
            </a:r>
            <a:endParaRPr lang="en-US" sz="170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616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 Likidite Yönetiminde Araç Çeşitlendirmesi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Esneklik, Derinlik ve Maliyet Optimizasyonu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212652"/>
            <a:ext cx="6286500" cy="905777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8" name="Shape 4"/>
          <p:cNvSpPr/>
          <p:nvPr/>
        </p:nvSpPr>
        <p:spPr>
          <a:xfrm>
            <a:off x="2286000" y="1212652"/>
            <a:ext cx="42863" cy="905777"/>
          </a:xfrm>
          <a:prstGeom prst="rect">
            <a:avLst/>
          </a:prstGeom>
          <a:solidFill>
            <a:srgbClr val="096A3D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4" y="1546957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6069" y="1391245"/>
            <a:ext cx="55578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Stratejik Hedef: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Tekil fonlama kaynaklarına ve piyasa koşullarına olan bağımlılığı azaltarak,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volatilite dönemlerinde dahi kesintisiz ve uygun maliyetli likidite erişimi sağlayan çok katmanlı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bir yapı oluşturmak.</a:t>
            </a:r>
            <a:endParaRPr lang="en-US" sz="834" dirty="0"/>
          </a:p>
        </p:txBody>
      </p:sp>
      <p:sp>
        <p:nvSpPr>
          <p:cNvPr id="11" name="Shape 6"/>
          <p:cNvSpPr/>
          <p:nvPr/>
        </p:nvSpPr>
        <p:spPr>
          <a:xfrm>
            <a:off x="2286000" y="2404179"/>
            <a:ext cx="1952616" cy="26502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7"/>
          <p:cNvSpPr/>
          <p:nvPr/>
        </p:nvSpPr>
        <p:spPr>
          <a:xfrm>
            <a:off x="2286000" y="2404179"/>
            <a:ext cx="1952616" cy="35719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13" name="Shape 8"/>
          <p:cNvSpPr/>
          <p:nvPr/>
        </p:nvSpPr>
        <p:spPr>
          <a:xfrm>
            <a:off x="4231472" y="2404179"/>
            <a:ext cx="7144" cy="265027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Shape 9"/>
          <p:cNvSpPr/>
          <p:nvPr/>
        </p:nvSpPr>
        <p:spPr>
          <a:xfrm>
            <a:off x="2286000" y="5047311"/>
            <a:ext cx="1952616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2286000" y="2404179"/>
            <a:ext cx="7144" cy="265027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2971800" y="2618491"/>
            <a:ext cx="571500" cy="571500"/>
          </a:xfrm>
          <a:prstGeom prst="ellipse">
            <a:avLst/>
          </a:prstGeom>
          <a:solidFill>
            <a:srgbClr val="F9F9F9"/>
          </a:solidFill>
          <a:ln w="18288">
            <a:solidFill>
              <a:srgbClr val="B0E5D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963" y="2789941"/>
            <a:ext cx="257175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02123" y="3368585"/>
            <a:ext cx="11108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VDMK İhraçları</a:t>
            </a:r>
            <a:endParaRPr lang="en-US" sz="987" dirty="0"/>
          </a:p>
        </p:txBody>
      </p:sp>
      <p:sp>
        <p:nvSpPr>
          <p:cNvPr id="19" name="Text 13"/>
          <p:cNvSpPr/>
          <p:nvPr/>
        </p:nvSpPr>
        <p:spPr>
          <a:xfrm>
            <a:off x="2500313" y="3648977"/>
            <a:ext cx="151447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Bilanço içi varlıkların menkul kıymetleştirilmesi yoluyla (Varlığa Dayalı Menkul Kıymetler) alternatif ve uzun vadeli fonlama kaynaklarına erişim sağlanması.</a:t>
            </a:r>
            <a:endParaRPr lang="en-US" sz="727" dirty="0"/>
          </a:p>
        </p:txBody>
      </p:sp>
      <p:sp>
        <p:nvSpPr>
          <p:cNvPr id="20" name="Shape 14"/>
          <p:cNvSpPr/>
          <p:nvPr/>
        </p:nvSpPr>
        <p:spPr>
          <a:xfrm>
            <a:off x="2604790" y="4665120"/>
            <a:ext cx="1305520" cy="175022"/>
          </a:xfrm>
          <a:prstGeom prst="roundRect">
            <a:avLst/>
          </a:prstGeom>
          <a:solidFill>
            <a:srgbClr val="E8F6F3"/>
          </a:solidFill>
          <a:ln/>
        </p:spPr>
      </p:sp>
      <p:sp>
        <p:nvSpPr>
          <p:cNvPr id="21" name="Text 15"/>
          <p:cNvSpPr/>
          <p:nvPr/>
        </p:nvSpPr>
        <p:spPr>
          <a:xfrm>
            <a:off x="2604790" y="4665120"/>
            <a:ext cx="1305520" cy="175022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BILANÇO DIŞI FONLAMA</a:t>
            </a:r>
            <a:endParaRPr lang="en-US" sz="584" dirty="0"/>
          </a:p>
        </p:txBody>
      </p:sp>
      <p:sp>
        <p:nvSpPr>
          <p:cNvPr id="22" name="Shape 16"/>
          <p:cNvSpPr/>
          <p:nvPr/>
        </p:nvSpPr>
        <p:spPr>
          <a:xfrm>
            <a:off x="4443413" y="2404179"/>
            <a:ext cx="1957388" cy="26502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443413" y="2404179"/>
            <a:ext cx="1957388" cy="35719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24" name="Shape 18"/>
          <p:cNvSpPr/>
          <p:nvPr/>
        </p:nvSpPr>
        <p:spPr>
          <a:xfrm>
            <a:off x="6393656" y="2404179"/>
            <a:ext cx="7144" cy="265027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4443413" y="5047311"/>
            <a:ext cx="1957388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" name="Shape 20"/>
          <p:cNvSpPr/>
          <p:nvPr/>
        </p:nvSpPr>
        <p:spPr>
          <a:xfrm>
            <a:off x="4443413" y="2404179"/>
            <a:ext cx="7144" cy="265027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Shape 21"/>
          <p:cNvSpPr/>
          <p:nvPr/>
        </p:nvSpPr>
        <p:spPr>
          <a:xfrm>
            <a:off x="5136356" y="2618491"/>
            <a:ext cx="571500" cy="571500"/>
          </a:xfrm>
          <a:prstGeom prst="ellipse">
            <a:avLst/>
          </a:prstGeom>
          <a:solidFill>
            <a:srgbClr val="F9F9F9"/>
          </a:solidFill>
          <a:ln w="18288">
            <a:solidFill>
              <a:srgbClr val="B0E5D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806" y="2789941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29163" y="3368585"/>
            <a:ext cx="13858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 Piyasalar</a:t>
            </a:r>
            <a:endParaRPr lang="en-US" sz="987" dirty="0"/>
          </a:p>
        </p:txBody>
      </p:sp>
      <p:sp>
        <p:nvSpPr>
          <p:cNvPr id="30" name="Text 23"/>
          <p:cNvSpPr/>
          <p:nvPr/>
        </p:nvSpPr>
        <p:spPr>
          <a:xfrm>
            <a:off x="4662497" y="3648977"/>
            <a:ext cx="1519247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BİST ve Takasbank bünyesindeki organize para piyasalarında işlem çeşitliliğinin artırılması ve yeni swap/repo ürünlerinin aktif kullanımı.</a:t>
            </a:r>
            <a:endParaRPr lang="en-US" sz="727" dirty="0"/>
          </a:p>
        </p:txBody>
      </p:sp>
      <p:sp>
        <p:nvSpPr>
          <p:cNvPr id="31" name="Shape 24"/>
          <p:cNvSpPr/>
          <p:nvPr/>
        </p:nvSpPr>
        <p:spPr>
          <a:xfrm>
            <a:off x="4912221" y="4665120"/>
            <a:ext cx="1019770" cy="175022"/>
          </a:xfrm>
          <a:prstGeom prst="roundRect">
            <a:avLst/>
          </a:prstGeom>
          <a:solidFill>
            <a:srgbClr val="E8F6F3"/>
          </a:solidFill>
          <a:ln/>
        </p:spPr>
      </p:sp>
      <p:sp>
        <p:nvSpPr>
          <p:cNvPr id="32" name="Text 25"/>
          <p:cNvSpPr/>
          <p:nvPr/>
        </p:nvSpPr>
        <p:spPr>
          <a:xfrm>
            <a:off x="4912221" y="4665120"/>
            <a:ext cx="1019770" cy="175022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DERINLIĞI</a:t>
            </a:r>
            <a:endParaRPr lang="en-US" sz="584" dirty="0"/>
          </a:p>
        </p:txBody>
      </p:sp>
      <p:sp>
        <p:nvSpPr>
          <p:cNvPr id="33" name="Shape 26"/>
          <p:cNvSpPr/>
          <p:nvPr/>
        </p:nvSpPr>
        <p:spPr>
          <a:xfrm>
            <a:off x="6610369" y="2404179"/>
            <a:ext cx="1962159" cy="26502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7"/>
          <p:cNvSpPr/>
          <p:nvPr/>
        </p:nvSpPr>
        <p:spPr>
          <a:xfrm>
            <a:off x="6610369" y="2404179"/>
            <a:ext cx="1962159" cy="35719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35" name="Shape 28"/>
          <p:cNvSpPr/>
          <p:nvPr/>
        </p:nvSpPr>
        <p:spPr>
          <a:xfrm>
            <a:off x="8565384" y="2404179"/>
            <a:ext cx="7144" cy="265027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6" name="Shape 29"/>
          <p:cNvSpPr/>
          <p:nvPr/>
        </p:nvSpPr>
        <p:spPr>
          <a:xfrm>
            <a:off x="6610369" y="5047311"/>
            <a:ext cx="1962159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7" name="Shape 30"/>
          <p:cNvSpPr/>
          <p:nvPr/>
        </p:nvSpPr>
        <p:spPr>
          <a:xfrm>
            <a:off x="6610369" y="2404179"/>
            <a:ext cx="7144" cy="265027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8" name="Shape 31"/>
          <p:cNvSpPr/>
          <p:nvPr/>
        </p:nvSpPr>
        <p:spPr>
          <a:xfrm>
            <a:off x="7310400" y="2618491"/>
            <a:ext cx="571500" cy="571500"/>
          </a:xfrm>
          <a:prstGeom prst="ellipse">
            <a:avLst/>
          </a:prstGeom>
          <a:solidFill>
            <a:srgbClr val="F9F9F9"/>
          </a:solidFill>
          <a:ln w="18288">
            <a:solidFill>
              <a:srgbClr val="B0E5DD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850" y="2789941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34169" y="3368585"/>
            <a:ext cx="152399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Sürdürülebilir Fonlama</a:t>
            </a:r>
            <a:endParaRPr lang="en-US" sz="987" dirty="0"/>
          </a:p>
        </p:txBody>
      </p:sp>
      <p:sp>
        <p:nvSpPr>
          <p:cNvPr id="41" name="Text 33"/>
          <p:cNvSpPr/>
          <p:nvPr/>
        </p:nvSpPr>
        <p:spPr>
          <a:xfrm>
            <a:off x="6834169" y="3822213"/>
            <a:ext cx="1523991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Yeşil Sukuk ve ESG (Çevresel, Sosyal, Yönetişim) temalı likidite araçlarının ihraç edilerek uluslararası sorumlu yatırımcı tabanına ulaşılması.</a:t>
            </a:r>
            <a:endParaRPr lang="en-US" sz="727" dirty="0"/>
          </a:p>
        </p:txBody>
      </p:sp>
      <p:sp>
        <p:nvSpPr>
          <p:cNvPr id="42" name="Shape 34"/>
          <p:cNvSpPr/>
          <p:nvPr/>
        </p:nvSpPr>
        <p:spPr>
          <a:xfrm>
            <a:off x="7214853" y="4622257"/>
            <a:ext cx="762595" cy="175022"/>
          </a:xfrm>
          <a:prstGeom prst="roundRect">
            <a:avLst/>
          </a:prstGeom>
          <a:solidFill>
            <a:srgbClr val="E8F6F3"/>
          </a:solidFill>
          <a:ln/>
        </p:spPr>
      </p:sp>
      <p:sp>
        <p:nvSpPr>
          <p:cNvPr id="43" name="Text 35"/>
          <p:cNvSpPr/>
          <p:nvPr/>
        </p:nvSpPr>
        <p:spPr>
          <a:xfrm>
            <a:off x="7214853" y="4622257"/>
            <a:ext cx="762595" cy="175022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ESG ODAKLI</a:t>
            </a:r>
            <a:endParaRPr lang="en-US" sz="58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Yurtdışı Fonlarla YP İşlemleri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Uluslararası Likidite Erişiminin Güçlendirilmesi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284089"/>
            <a:ext cx="6286500" cy="74295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8" name="Shape 4"/>
          <p:cNvSpPr/>
          <p:nvPr/>
        </p:nvSpPr>
        <p:spPr>
          <a:xfrm>
            <a:off x="2286000" y="1284089"/>
            <a:ext cx="57150" cy="74295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5"/>
          <p:cNvSpPr/>
          <p:nvPr/>
        </p:nvSpPr>
        <p:spPr>
          <a:xfrm>
            <a:off x="2464594" y="1462683"/>
            <a:ext cx="59293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"Yabancı yatırım fonları ve uluslararası bankalarla doğrudan işlem kanalları kurarak, YP likidite yönetiminde kaynak çeşitliliği sağlamak ve piyasa derinliğini artırmak."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2428875" y="2384227"/>
            <a:ext cx="1571625" cy="857250"/>
          </a:xfrm>
          <a:prstGeom prst="rect">
            <a:avLst/>
          </a:prstGeom>
          <a:solidFill>
            <a:srgbClr val="F0F7F4"/>
          </a:solidFill>
          <a:ln w="18288">
            <a:solidFill>
              <a:srgbClr val="096A3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8" y="2589609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95885" y="2918222"/>
            <a:ext cx="83760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KUVEYT TÜRK</a:t>
            </a:r>
            <a:endParaRPr lang="en-US" sz="784" dirty="0"/>
          </a:p>
        </p:txBody>
      </p:sp>
      <p:sp>
        <p:nvSpPr>
          <p:cNvPr id="13" name="Shape 8"/>
          <p:cNvSpPr/>
          <p:nvPr/>
        </p:nvSpPr>
        <p:spPr>
          <a:xfrm>
            <a:off x="4143375" y="2798564"/>
            <a:ext cx="2571750" cy="2857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" name="Shape 9"/>
          <p:cNvSpPr/>
          <p:nvPr/>
        </p:nvSpPr>
        <p:spPr>
          <a:xfrm>
            <a:off x="4623792" y="2718197"/>
            <a:ext cx="1610916" cy="189309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623792" y="2718197"/>
            <a:ext cx="1610916" cy="18930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SWAP &amp; FORWARD &amp; OPSIYON</a:t>
            </a:r>
            <a:endParaRPr lang="en-US" sz="584" dirty="0"/>
          </a:p>
        </p:txBody>
      </p:sp>
      <p:sp>
        <p:nvSpPr>
          <p:cNvPr id="16" name="Shape 11"/>
          <p:cNvSpPr/>
          <p:nvPr/>
        </p:nvSpPr>
        <p:spPr>
          <a:xfrm>
            <a:off x="6858000" y="2384227"/>
            <a:ext cx="1571625" cy="857250"/>
          </a:xfrm>
          <a:prstGeom prst="rect">
            <a:avLst/>
          </a:prstGeom>
          <a:solidFill>
            <a:srgbClr val="F0F8FF"/>
          </a:solidFill>
          <a:ln w="18288">
            <a:solidFill>
              <a:srgbClr val="2980B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088" y="2589609"/>
            <a:ext cx="17145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27677" y="2918222"/>
            <a:ext cx="103227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FONLAR</a:t>
            </a:r>
            <a:endParaRPr lang="en-US" sz="784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782616"/>
            <a:ext cx="142875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500313" y="3770114"/>
            <a:ext cx="60900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Erişim Ağı</a:t>
            </a:r>
            <a:endParaRPr lang="en-US" sz="784" dirty="0"/>
          </a:p>
        </p:txBody>
      </p:sp>
      <p:sp>
        <p:nvSpPr>
          <p:cNvPr id="21" name="Text 14"/>
          <p:cNvSpPr/>
          <p:nvPr/>
        </p:nvSpPr>
        <p:spPr>
          <a:xfrm>
            <a:off x="2286000" y="3980855"/>
            <a:ext cx="195261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Londra ve Körfez merkezli yatırım fonları ile muhabir banka ilişkilerinin geliştirilmesi ve yeni limit tahsisleri.</a:t>
            </a:r>
            <a:endParaRPr lang="en-US" sz="727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2928" y="3782616"/>
            <a:ext cx="142875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667241" y="3770114"/>
            <a:ext cx="8751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Ürün Çeşitliliği</a:t>
            </a:r>
            <a:endParaRPr lang="en-US" sz="784" dirty="0"/>
          </a:p>
        </p:txBody>
      </p:sp>
      <p:sp>
        <p:nvSpPr>
          <p:cNvPr id="24" name="Text 16"/>
          <p:cNvSpPr/>
          <p:nvPr/>
        </p:nvSpPr>
        <p:spPr>
          <a:xfrm>
            <a:off x="4452928" y="3980855"/>
            <a:ext cx="195261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Sadece spot işlemler değil, türev ürünler (Swap, Forward) ile kur riskinin etkin yönetimi ve getiri optimizasyonu.</a:t>
            </a:r>
            <a:endParaRPr lang="en-US" sz="727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856" y="3782616"/>
            <a:ext cx="114300" cy="1143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05594" y="3770114"/>
            <a:ext cx="80903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Hacim Hedefi</a:t>
            </a:r>
            <a:endParaRPr lang="en-US" sz="784" dirty="0"/>
          </a:p>
        </p:txBody>
      </p:sp>
      <p:sp>
        <p:nvSpPr>
          <p:cNvPr id="27" name="Text 18"/>
          <p:cNvSpPr/>
          <p:nvPr/>
        </p:nvSpPr>
        <p:spPr>
          <a:xfrm>
            <a:off x="6619856" y="3980855"/>
            <a:ext cx="195261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 yılı sonuna kadar uluslararası fonlarla yapılan işlem hacminin toplam YP işlemlerindeki payının %25'e çıkarılması.</a:t>
            </a:r>
            <a:endParaRPr lang="en-US" sz="727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İştiraklerle Sinerji Odaklı İşbirlikleri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 Ekosisteminde Ortak Değer Yaratımı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212652"/>
            <a:ext cx="6286500" cy="2244337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929188" y="1832372"/>
            <a:ext cx="1000125" cy="1000125"/>
          </a:xfrm>
          <a:prstGeom prst="ellipse">
            <a:avLst/>
          </a:prstGeom>
          <a:solidFill>
            <a:srgbClr val="096A3D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2135981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15818" y="2428875"/>
            <a:ext cx="6268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Kuveyt Türk</a:t>
            </a:r>
            <a:endParaRPr lang="en-US" sz="683" dirty="0"/>
          </a:p>
        </p:txBody>
      </p:sp>
      <p:sp>
        <p:nvSpPr>
          <p:cNvPr id="11" name="Shape 6"/>
          <p:cNvSpPr/>
          <p:nvPr/>
        </p:nvSpPr>
        <p:spPr>
          <a:xfrm>
            <a:off x="3357563" y="1426964"/>
            <a:ext cx="785813" cy="78581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6A086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028" y="1665387"/>
            <a:ext cx="192881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41514" y="1893987"/>
            <a:ext cx="41790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 Portföy</a:t>
            </a:r>
            <a:endParaRPr lang="en-US" sz="534" dirty="0"/>
          </a:p>
        </p:txBody>
      </p:sp>
      <p:sp>
        <p:nvSpPr>
          <p:cNvPr id="14" name="Shape 8"/>
          <p:cNvSpPr/>
          <p:nvPr/>
        </p:nvSpPr>
        <p:spPr>
          <a:xfrm>
            <a:off x="6715125" y="1426964"/>
            <a:ext cx="785813" cy="78581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6A086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306" y="1665387"/>
            <a:ext cx="171450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70502" y="1893987"/>
            <a:ext cx="47505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 Bank AG</a:t>
            </a:r>
            <a:endParaRPr lang="en-US" sz="534" dirty="0"/>
          </a:p>
        </p:txBody>
      </p:sp>
      <p:sp>
        <p:nvSpPr>
          <p:cNvPr id="17" name="Shape 10"/>
          <p:cNvSpPr/>
          <p:nvPr/>
        </p:nvSpPr>
        <p:spPr>
          <a:xfrm>
            <a:off x="5036344" y="2452092"/>
            <a:ext cx="785813" cy="78581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6A086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2809" y="2690515"/>
            <a:ext cx="192881" cy="1714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86350" y="2919115"/>
            <a:ext cx="6858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Katılım Emeklilik</a:t>
            </a:r>
            <a:endParaRPr lang="en-US" sz="534" dirty="0"/>
          </a:p>
        </p:txBody>
      </p:sp>
      <p:sp>
        <p:nvSpPr>
          <p:cNvPr id="20" name="Shape 12"/>
          <p:cNvSpPr/>
          <p:nvPr/>
        </p:nvSpPr>
        <p:spPr>
          <a:xfrm>
            <a:off x="2286000" y="3666530"/>
            <a:ext cx="1952616" cy="111978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1" name="Shape 13"/>
          <p:cNvSpPr/>
          <p:nvPr/>
        </p:nvSpPr>
        <p:spPr>
          <a:xfrm>
            <a:off x="2286000" y="3666530"/>
            <a:ext cx="1952616" cy="285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875" y="3821906"/>
            <a:ext cx="128588" cy="1143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628900" y="3809405"/>
            <a:ext cx="100905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Likidite Yönetimi</a:t>
            </a:r>
            <a:endParaRPr lang="en-US" sz="784" dirty="0"/>
          </a:p>
        </p:txBody>
      </p:sp>
      <p:sp>
        <p:nvSpPr>
          <p:cNvPr id="24" name="Text 15"/>
          <p:cNvSpPr/>
          <p:nvPr/>
        </p:nvSpPr>
        <p:spPr>
          <a:xfrm>
            <a:off x="2428875" y="4020145"/>
            <a:ext cx="166686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 içi atıl fonların etkin devri ve KT Bank AG üzerinden Euro bölgesi likiditesine doğrudan erişim sağlanması.</a:t>
            </a:r>
            <a:endParaRPr lang="en-US" sz="674" dirty="0"/>
          </a:p>
        </p:txBody>
      </p:sp>
      <p:sp>
        <p:nvSpPr>
          <p:cNvPr id="25" name="Shape 16"/>
          <p:cNvSpPr/>
          <p:nvPr/>
        </p:nvSpPr>
        <p:spPr>
          <a:xfrm>
            <a:off x="4452928" y="3666530"/>
            <a:ext cx="1952616" cy="111978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6" name="Shape 17"/>
          <p:cNvSpPr/>
          <p:nvPr/>
        </p:nvSpPr>
        <p:spPr>
          <a:xfrm>
            <a:off x="4452928" y="3666530"/>
            <a:ext cx="1952616" cy="285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5803" y="3821906"/>
            <a:ext cx="142875" cy="1143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810116" y="3809405"/>
            <a:ext cx="94118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Ürün Geliştirme</a:t>
            </a:r>
            <a:endParaRPr lang="en-US" sz="784" dirty="0"/>
          </a:p>
        </p:txBody>
      </p:sp>
      <p:sp>
        <p:nvSpPr>
          <p:cNvPr id="29" name="Text 19"/>
          <p:cNvSpPr/>
          <p:nvPr/>
        </p:nvSpPr>
        <p:spPr>
          <a:xfrm>
            <a:off x="4595803" y="4020145"/>
            <a:ext cx="166686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 Portföy ile ortak yatırım fonları ve Katılım Emeklilik ile uzun vadeli birikim ürünlerinin müşterilere sunulması.</a:t>
            </a:r>
            <a:endParaRPr lang="en-US" sz="674" dirty="0"/>
          </a:p>
        </p:txBody>
      </p:sp>
      <p:sp>
        <p:nvSpPr>
          <p:cNvPr id="30" name="Shape 20"/>
          <p:cNvSpPr/>
          <p:nvPr/>
        </p:nvSpPr>
        <p:spPr>
          <a:xfrm>
            <a:off x="6619856" y="3666530"/>
            <a:ext cx="1952616" cy="111978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1" name="Shape 21"/>
          <p:cNvSpPr/>
          <p:nvPr/>
        </p:nvSpPr>
        <p:spPr>
          <a:xfrm>
            <a:off x="6619856" y="3666530"/>
            <a:ext cx="1952616" cy="285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31" y="3821906"/>
            <a:ext cx="85725" cy="1143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919894" y="3809405"/>
            <a:ext cx="8715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Bilgi Paylaşımı</a:t>
            </a:r>
            <a:endParaRPr lang="en-US" sz="784" dirty="0"/>
          </a:p>
        </p:txBody>
      </p:sp>
      <p:sp>
        <p:nvSpPr>
          <p:cNvPr id="34" name="Text 23"/>
          <p:cNvSpPr/>
          <p:nvPr/>
        </p:nvSpPr>
        <p:spPr>
          <a:xfrm>
            <a:off x="6762731" y="4020145"/>
            <a:ext cx="166686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Piyasa analizleri, makroekonomik beklentiler ve teknik know-how transferi ile karar alma süreçlerinin güçlendirilmesi.</a:t>
            </a:r>
            <a:endParaRPr lang="en-US" sz="67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Dinamik ALM Projesi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 Odaklı ve Çevik Karar Alma Altyapısı</a:t>
            </a:r>
            <a:endParaRPr lang="en-US" sz="942" dirty="0"/>
          </a:p>
        </p:txBody>
      </p:sp>
      <p:sp>
        <p:nvSpPr>
          <p:cNvPr id="7" name="Text 3"/>
          <p:cNvSpPr/>
          <p:nvPr/>
        </p:nvSpPr>
        <p:spPr>
          <a:xfrm>
            <a:off x="2286000" y="1284089"/>
            <a:ext cx="6286500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Statik raporlama yapısından, geleceğe yönelik senaryoları simüle edebilen ve yapay zeka destekli davranışsal modellerle güçlendirilmiş dinamik bir yönetim sistemine geçiş.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2286000" y="1912739"/>
            <a:ext cx="6286500" cy="1435894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00313" y="2127052"/>
            <a:ext cx="1571625" cy="992981"/>
          </a:xfrm>
          <a:prstGeom prst="rect">
            <a:avLst/>
          </a:prstGeom>
          <a:solidFill>
            <a:srgbClr val="FFFFFF"/>
          </a:solidFill>
          <a:ln w="18288">
            <a:solidFill>
              <a:srgbClr val="7F8C8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614" y="2302073"/>
            <a:ext cx="175022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08387" y="2598539"/>
            <a:ext cx="95547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 KAYNAKLARI</a:t>
            </a:r>
            <a:endParaRPr lang="en-US" sz="683" dirty="0"/>
          </a:p>
        </p:txBody>
      </p:sp>
      <p:sp>
        <p:nvSpPr>
          <p:cNvPr id="12" name="Text 7"/>
          <p:cNvSpPr/>
          <p:nvPr/>
        </p:nvSpPr>
        <p:spPr>
          <a:xfrm>
            <a:off x="2643188" y="2755702"/>
            <a:ext cx="1285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Büyük Veri, Piyasa Verileri, Müşteri İşlemleri</a:t>
            </a:r>
            <a:endParaRPr lang="en-US" sz="621" dirty="0"/>
          </a:p>
        </p:txBody>
      </p:sp>
      <p:sp>
        <p:nvSpPr>
          <p:cNvPr id="13" name="Shape 8"/>
          <p:cNvSpPr/>
          <p:nvPr/>
        </p:nvSpPr>
        <p:spPr>
          <a:xfrm>
            <a:off x="4179094" y="2616398"/>
            <a:ext cx="357188" cy="14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Shape 9"/>
          <p:cNvSpPr/>
          <p:nvPr/>
        </p:nvSpPr>
        <p:spPr>
          <a:xfrm>
            <a:off x="4643438" y="2127052"/>
            <a:ext cx="1571625" cy="992981"/>
          </a:xfrm>
          <a:prstGeom prst="rect">
            <a:avLst/>
          </a:prstGeom>
          <a:solidFill>
            <a:srgbClr val="F0F7F4"/>
          </a:solidFill>
          <a:ln w="18288">
            <a:solidFill>
              <a:srgbClr val="096A3D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234" y="2302073"/>
            <a:ext cx="250031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81873" y="2598539"/>
            <a:ext cx="89475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DINAMIK MOTOR</a:t>
            </a:r>
            <a:endParaRPr lang="en-US" sz="683" dirty="0"/>
          </a:p>
        </p:txBody>
      </p:sp>
      <p:sp>
        <p:nvSpPr>
          <p:cNvPr id="17" name="Text 11"/>
          <p:cNvSpPr/>
          <p:nvPr/>
        </p:nvSpPr>
        <p:spPr>
          <a:xfrm>
            <a:off x="4786313" y="2755702"/>
            <a:ext cx="1285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Nakit Akışı Simülasyonu, Yapay Zeka Modelleri</a:t>
            </a:r>
            <a:endParaRPr lang="en-US" sz="621" dirty="0"/>
          </a:p>
        </p:txBody>
      </p:sp>
      <p:sp>
        <p:nvSpPr>
          <p:cNvPr id="18" name="Shape 12"/>
          <p:cNvSpPr/>
          <p:nvPr/>
        </p:nvSpPr>
        <p:spPr>
          <a:xfrm>
            <a:off x="6322219" y="2616398"/>
            <a:ext cx="357188" cy="14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" name="Shape 13"/>
          <p:cNvSpPr/>
          <p:nvPr/>
        </p:nvSpPr>
        <p:spPr>
          <a:xfrm>
            <a:off x="6786563" y="2127052"/>
            <a:ext cx="1571625" cy="992981"/>
          </a:xfrm>
          <a:prstGeom prst="rect">
            <a:avLst/>
          </a:prstGeom>
          <a:solidFill>
            <a:srgbClr val="FFFFFF"/>
          </a:solidFill>
          <a:ln w="18288">
            <a:solidFill>
              <a:srgbClr val="2980B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363" y="2287786"/>
            <a:ext cx="200025" cy="2000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92851" y="2584252"/>
            <a:ext cx="9590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STRATEJIK KARAR</a:t>
            </a:r>
            <a:endParaRPr lang="en-US" sz="683" dirty="0"/>
          </a:p>
        </p:txBody>
      </p:sp>
      <p:sp>
        <p:nvSpPr>
          <p:cNvPr id="22" name="Text 15"/>
          <p:cNvSpPr/>
          <p:nvPr/>
        </p:nvSpPr>
        <p:spPr>
          <a:xfrm>
            <a:off x="6929438" y="2741414"/>
            <a:ext cx="1285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Optimum Bilanço Yapısı, Riskten Korunma</a:t>
            </a:r>
            <a:endParaRPr lang="en-US" sz="621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3811191"/>
            <a:ext cx="114300" cy="1143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471738" y="3798689"/>
            <a:ext cx="91618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Senaryo Analizi</a:t>
            </a:r>
            <a:endParaRPr lang="en-US" sz="784" dirty="0"/>
          </a:p>
        </p:txBody>
      </p:sp>
      <p:sp>
        <p:nvSpPr>
          <p:cNvPr id="25" name="Text 17"/>
          <p:cNvSpPr/>
          <p:nvPr/>
        </p:nvSpPr>
        <p:spPr>
          <a:xfrm>
            <a:off x="2286000" y="4009430"/>
            <a:ext cx="195261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Farklı faiz, kur ve makroekonomik senaryoların bilanço üzerindeki etkilerinin anlık olarak simüle edilmesi ("What-if" analizleri).</a:t>
            </a:r>
            <a:endParaRPr lang="en-US" sz="674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2928" y="3811191"/>
            <a:ext cx="142875" cy="1143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667241" y="3798689"/>
            <a:ext cx="138053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Davranışsal Modelleme</a:t>
            </a:r>
            <a:endParaRPr lang="en-US" sz="784" dirty="0"/>
          </a:p>
        </p:txBody>
      </p:sp>
      <p:sp>
        <p:nvSpPr>
          <p:cNvPr id="28" name="Text 19"/>
          <p:cNvSpPr/>
          <p:nvPr/>
        </p:nvSpPr>
        <p:spPr>
          <a:xfrm>
            <a:off x="4452928" y="4009430"/>
            <a:ext cx="195261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Müşterilerin erken kapama, vadesiz mevduat alışkanlıkları gibi davranışlarının makine öğrenmesi ile modellenerek nakit akışına yansıtılması.</a:t>
            </a:r>
            <a:endParaRPr lang="en-US" sz="674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9856" y="3811191"/>
            <a:ext cx="142875" cy="1143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834169" y="3798689"/>
            <a:ext cx="11394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Süreç Otomasyonu</a:t>
            </a:r>
            <a:endParaRPr lang="en-US" sz="784" dirty="0"/>
          </a:p>
        </p:txBody>
      </p:sp>
      <p:sp>
        <p:nvSpPr>
          <p:cNvPr id="31" name="Text 21"/>
          <p:cNvSpPr/>
          <p:nvPr/>
        </p:nvSpPr>
        <p:spPr>
          <a:xfrm>
            <a:off x="6619856" y="4009430"/>
            <a:ext cx="195261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Manuel veri toplama ve raporlama süreçlerinin minimize edilerek, karar vericilere daha hızlı ve hatasız veri akışı sağlanması.</a:t>
            </a:r>
            <a:endParaRPr lang="en-US" sz="674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665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4500" cy="1057275"/>
          </a:xfrm>
          <a:prstGeom prst="rect">
            <a:avLst/>
          </a:prstGeom>
          <a:solidFill>
            <a:srgbClr val="16A08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1143000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357188"/>
            <a:ext cx="6286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 Stratejik Yol Haritası Özet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2286000" y="705445"/>
            <a:ext cx="62865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Sürdürülebilir Büyüme İçin Dört Temel Sütun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2286000" y="1212652"/>
            <a:ext cx="3036094" cy="1440861"/>
          </a:xfrm>
          <a:prstGeom prst="rect">
            <a:avLst/>
          </a:prstGeom>
          <a:solidFill>
            <a:srgbClr val="F0F7F4"/>
          </a:solidFill>
          <a:ln/>
        </p:spPr>
      </p:sp>
      <p:sp>
        <p:nvSpPr>
          <p:cNvPr id="8" name="Shape 4"/>
          <p:cNvSpPr/>
          <p:nvPr/>
        </p:nvSpPr>
        <p:spPr>
          <a:xfrm>
            <a:off x="2286000" y="1212652"/>
            <a:ext cx="42863" cy="1440861"/>
          </a:xfrm>
          <a:prstGeom prst="rect">
            <a:avLst/>
          </a:prstGeom>
          <a:solidFill>
            <a:srgbClr val="16A086"/>
          </a:solidFill>
          <a:ln/>
        </p:spPr>
      </p:sp>
      <p:sp>
        <p:nvSpPr>
          <p:cNvPr id="9" name="Shape 5"/>
          <p:cNvSpPr/>
          <p:nvPr/>
        </p:nvSpPr>
        <p:spPr>
          <a:xfrm>
            <a:off x="2464594" y="1391245"/>
            <a:ext cx="285750" cy="2857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744" y="1448395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57500" y="1455539"/>
            <a:ext cx="164484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ARAÇ ÇEŞITLENDIRMESI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2464594" y="1784152"/>
            <a:ext cx="26789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 likidite yönetiminde VDMK, Yeşil Sukuk ve organize para piyasası ürünleri ile fonlama kaynaklarının derinleştirilmesi.</a:t>
            </a:r>
            <a:endParaRPr lang="en-US" sz="72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594" y="2380264"/>
            <a:ext cx="96441" cy="857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596753" y="2371334"/>
            <a:ext cx="81974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ÖNCELIK: YÜKSEK</a:t>
            </a:r>
            <a:endParaRPr lang="en-US" sz="584" dirty="0"/>
          </a:p>
        </p:txBody>
      </p:sp>
      <p:sp>
        <p:nvSpPr>
          <p:cNvPr id="15" name="Shape 9"/>
          <p:cNvSpPr/>
          <p:nvPr/>
        </p:nvSpPr>
        <p:spPr>
          <a:xfrm>
            <a:off x="5536406" y="1212652"/>
            <a:ext cx="3036094" cy="1440861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16" name="Shape 10"/>
          <p:cNvSpPr/>
          <p:nvPr/>
        </p:nvSpPr>
        <p:spPr>
          <a:xfrm>
            <a:off x="5536406" y="1212652"/>
            <a:ext cx="42863" cy="144086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Shape 11"/>
          <p:cNvSpPr/>
          <p:nvPr/>
        </p:nvSpPr>
        <p:spPr>
          <a:xfrm>
            <a:off x="5715000" y="1391245"/>
            <a:ext cx="285750" cy="2857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150" y="1448395"/>
            <a:ext cx="171450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07906" y="1455539"/>
            <a:ext cx="10644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ERIŞIM</a:t>
            </a:r>
            <a:endParaRPr lang="en-US" sz="885" dirty="0"/>
          </a:p>
        </p:txBody>
      </p:sp>
      <p:sp>
        <p:nvSpPr>
          <p:cNvPr id="20" name="Text 13"/>
          <p:cNvSpPr/>
          <p:nvPr/>
        </p:nvSpPr>
        <p:spPr>
          <a:xfrm>
            <a:off x="5715000" y="1784152"/>
            <a:ext cx="26789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Yurtdışı fonlar ve muhabir bankalarla doğrudan işlem kanalları kurarak YP likidite ve türev işlem hacminin artırılması.</a:t>
            </a:r>
            <a:endParaRPr lang="en-US" sz="727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380264"/>
            <a:ext cx="96441" cy="857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847159" y="2371334"/>
            <a:ext cx="7572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980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ÖNCELIK: KRITIK</a:t>
            </a:r>
            <a:endParaRPr lang="en-US" sz="584" dirty="0"/>
          </a:p>
        </p:txBody>
      </p:sp>
      <p:sp>
        <p:nvSpPr>
          <p:cNvPr id="23" name="Shape 15"/>
          <p:cNvSpPr/>
          <p:nvPr/>
        </p:nvSpPr>
        <p:spPr>
          <a:xfrm>
            <a:off x="2286000" y="2867825"/>
            <a:ext cx="3036094" cy="1440861"/>
          </a:xfrm>
          <a:prstGeom prst="rect">
            <a:avLst/>
          </a:prstGeom>
          <a:solidFill>
            <a:srgbClr val="F5FFFE"/>
          </a:solidFill>
          <a:ln/>
        </p:spPr>
      </p:sp>
      <p:sp>
        <p:nvSpPr>
          <p:cNvPr id="24" name="Shape 16"/>
          <p:cNvSpPr/>
          <p:nvPr/>
        </p:nvSpPr>
        <p:spPr>
          <a:xfrm>
            <a:off x="2286000" y="2867825"/>
            <a:ext cx="42863" cy="1440861"/>
          </a:xfrm>
          <a:prstGeom prst="rect">
            <a:avLst/>
          </a:prstGeom>
          <a:solidFill>
            <a:srgbClr val="B0E5DD"/>
          </a:solidFill>
          <a:ln/>
        </p:spPr>
      </p:sp>
      <p:sp>
        <p:nvSpPr>
          <p:cNvPr id="25" name="Shape 17"/>
          <p:cNvSpPr/>
          <p:nvPr/>
        </p:nvSpPr>
        <p:spPr>
          <a:xfrm>
            <a:off x="2464594" y="3046419"/>
            <a:ext cx="285750" cy="2857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0313" y="3103569"/>
            <a:ext cx="214313" cy="1714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857500" y="3110712"/>
            <a:ext cx="10715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 SINERJISI</a:t>
            </a:r>
            <a:endParaRPr lang="en-US" sz="885" dirty="0"/>
          </a:p>
        </p:txBody>
      </p:sp>
      <p:sp>
        <p:nvSpPr>
          <p:cNvPr id="28" name="Text 19"/>
          <p:cNvSpPr/>
          <p:nvPr/>
        </p:nvSpPr>
        <p:spPr>
          <a:xfrm>
            <a:off x="2464594" y="3439325"/>
            <a:ext cx="26789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İştiraklerle (KT Portföy, KT Bank AG) entegre hazine yönetimi ve ortak ürün geliştirme süreçlerinin hayata geçirilmesi.</a:t>
            </a:r>
            <a:endParaRPr lang="en-US" sz="727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4594" y="4035437"/>
            <a:ext cx="96441" cy="8572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2596753" y="4026508"/>
            <a:ext cx="11001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A0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ÖNCELIK: ORTA-YÜKSEK</a:t>
            </a:r>
            <a:endParaRPr lang="en-US" sz="584" dirty="0"/>
          </a:p>
        </p:txBody>
      </p:sp>
      <p:sp>
        <p:nvSpPr>
          <p:cNvPr id="31" name="Shape 21"/>
          <p:cNvSpPr/>
          <p:nvPr/>
        </p:nvSpPr>
        <p:spPr>
          <a:xfrm>
            <a:off x="5536406" y="2867825"/>
            <a:ext cx="3036094" cy="1440861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Shape 22"/>
          <p:cNvSpPr/>
          <p:nvPr/>
        </p:nvSpPr>
        <p:spPr>
          <a:xfrm>
            <a:off x="5536406" y="2867825"/>
            <a:ext cx="42863" cy="1440861"/>
          </a:xfrm>
          <a:prstGeom prst="rect">
            <a:avLst/>
          </a:prstGeom>
          <a:solidFill>
            <a:srgbClr val="096A3D"/>
          </a:solidFill>
          <a:ln/>
        </p:spPr>
      </p:sp>
      <p:sp>
        <p:nvSpPr>
          <p:cNvPr id="33" name="Shape 23"/>
          <p:cNvSpPr/>
          <p:nvPr/>
        </p:nvSpPr>
        <p:spPr>
          <a:xfrm>
            <a:off x="5715000" y="3046419"/>
            <a:ext cx="285750" cy="2857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2150" y="3103569"/>
            <a:ext cx="171450" cy="17145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107906" y="3110712"/>
            <a:ext cx="94476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DINAMIK ALM</a:t>
            </a:r>
            <a:endParaRPr lang="en-US" sz="885" dirty="0"/>
          </a:p>
        </p:txBody>
      </p:sp>
      <p:sp>
        <p:nvSpPr>
          <p:cNvPr id="36" name="Text 25"/>
          <p:cNvSpPr/>
          <p:nvPr/>
        </p:nvSpPr>
        <p:spPr>
          <a:xfrm>
            <a:off x="5715000" y="3439325"/>
            <a:ext cx="26789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 odaklı, yapay zeka destekli bilanço simülasyonları ile proaktif risk ve getiri yönetimi altyapısının kurulması.</a:t>
            </a:r>
            <a:endParaRPr lang="en-US" sz="727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0" y="4035437"/>
            <a:ext cx="96441" cy="85725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847159" y="4026508"/>
            <a:ext cx="81974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96A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ÖNCELIK: YÜKSEK</a:t>
            </a:r>
            <a:endParaRPr lang="en-US" sz="584" dirty="0"/>
          </a:p>
        </p:txBody>
      </p:sp>
      <p:sp>
        <p:nvSpPr>
          <p:cNvPr id="39" name="Shape 27"/>
          <p:cNvSpPr/>
          <p:nvPr/>
        </p:nvSpPr>
        <p:spPr>
          <a:xfrm>
            <a:off x="2286000" y="4522998"/>
            <a:ext cx="6286500" cy="425053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0" name="Text 28"/>
          <p:cNvSpPr/>
          <p:nvPr/>
        </p:nvSpPr>
        <p:spPr>
          <a:xfrm>
            <a:off x="2500313" y="4665873"/>
            <a:ext cx="857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VIZYON 2027</a:t>
            </a:r>
            <a:endParaRPr lang="en-US" sz="784" dirty="0"/>
          </a:p>
        </p:txBody>
      </p:sp>
      <p:sp>
        <p:nvSpPr>
          <p:cNvPr id="41" name="Text 29"/>
          <p:cNvSpPr/>
          <p:nvPr/>
        </p:nvSpPr>
        <p:spPr>
          <a:xfrm>
            <a:off x="3693319" y="4674803"/>
            <a:ext cx="46648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"Aktif-Pasif yönetiminde bölgenin en yenilikçi, verimli ve dirençli katılım finans hazinesi olmak."</a:t>
            </a:r>
            <a:endParaRPr lang="en-US" sz="727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53753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486025" y="2182416"/>
            <a:ext cx="4171950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spc="-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Teşekkür Ederiz</a:t>
            </a:r>
            <a:endParaRPr lang="en-US" sz="3731" dirty="0"/>
          </a:p>
        </p:txBody>
      </p:sp>
      <p:sp>
        <p:nvSpPr>
          <p:cNvPr id="5" name="Text 1"/>
          <p:cNvSpPr/>
          <p:nvPr/>
        </p:nvSpPr>
        <p:spPr>
          <a:xfrm>
            <a:off x="3000375" y="3209330"/>
            <a:ext cx="31432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spc="1" kern="0" dirty="0">
                <a:solidFill>
                  <a:srgbClr val="B0E5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Aktif-Pasif Yönetimi Birimi</a:t>
            </a:r>
            <a:endParaRPr lang="en-US" sz="1704" dirty="0"/>
          </a:p>
        </p:txBody>
      </p:sp>
      <p:sp>
        <p:nvSpPr>
          <p:cNvPr id="6" name="Text 2"/>
          <p:cNvSpPr/>
          <p:nvPr/>
        </p:nvSpPr>
        <p:spPr>
          <a:xfrm>
            <a:off x="3778151" y="3559373"/>
            <a:ext cx="158769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 Faaliyet Sunumu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0" y="4736306"/>
            <a:ext cx="9144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KUVEYT TÜRK KATILIM BANKASI A.Ş.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2026-03-11T14:18:12Z</dcterms:created>
  <dcterms:modified xsi:type="dcterms:W3CDTF">2026-03-11T14:18:12Z</dcterms:modified>
</cp:coreProperties>
</file>