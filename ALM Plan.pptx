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972" r:id="rId4"/>
    <p:sldId id="973" r:id="rId5"/>
    <p:sldId id="974" r:id="rId6"/>
    <p:sldId id="968" r:id="rId7"/>
    <p:sldId id="984" r:id="rId8"/>
    <p:sldId id="948" r:id="rId9"/>
    <p:sldId id="955" r:id="rId10"/>
    <p:sldId id="963" r:id="rId11"/>
    <p:sldId id="480" r:id="rId12"/>
    <p:sldId id="986" r:id="rId13"/>
    <p:sldId id="985" r:id="rId14"/>
    <p:sldId id="276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berksoy\AppData\Local\Microsoft\Windows\INetCache\Content.Outlook\4B2XNQ8Z\yurtd&#305;s&#305;%20t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uraydin\Desktop\tahh&#252;tl&#252;%20hacmi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lktfs\Aktif%20Pasif%20Yonetimi\Aktif%20Pasif\PARA%20P&#304;YASALARI\G&#252;nl&#252;k%20Maliyet%20Tablosu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087446344748791E-2"/>
          <c:y val="2.4122065594751371E-2"/>
          <c:w val="0.879821360254884"/>
          <c:h val="0.77814399267324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Grafik!$B$1</c:f>
              <c:strCache>
                <c:ptCount val="1"/>
                <c:pt idx="0">
                  <c:v>Fonlama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Grafik!$A$2:$A$40</c:f>
              <c:strCache>
                <c:ptCount val="39"/>
                <c:pt idx="0">
                  <c:v>09/01/2024 - 15/01/2024</c:v>
                </c:pt>
                <c:pt idx="1">
                  <c:v>30/01/2024 - 05/02/2024</c:v>
                </c:pt>
                <c:pt idx="2">
                  <c:v>06/02/2024 - 12/02/2024</c:v>
                </c:pt>
                <c:pt idx="3">
                  <c:v>27/02/2024 - 04/03/2024</c:v>
                </c:pt>
                <c:pt idx="4">
                  <c:v>26/03/2024 - 01/04/2024</c:v>
                </c:pt>
                <c:pt idx="5">
                  <c:v>02/04/2024 - 08/04/2024</c:v>
                </c:pt>
                <c:pt idx="6">
                  <c:v>30/04/2024 - 06/05/2024</c:v>
                </c:pt>
                <c:pt idx="7">
                  <c:v>07/05/2024 - 13/05/2024</c:v>
                </c:pt>
                <c:pt idx="8">
                  <c:v>14/05/2024 - 20/05/2024</c:v>
                </c:pt>
                <c:pt idx="9">
                  <c:v>21/05/2024 - 27/05/2024</c:v>
                </c:pt>
                <c:pt idx="10">
                  <c:v>28/05/2024 - 03/06/2024</c:v>
                </c:pt>
                <c:pt idx="11">
                  <c:v>04/06/2024 - 10/06/2024</c:v>
                </c:pt>
                <c:pt idx="12">
                  <c:v>11/06/2024 - 17/06/2024</c:v>
                </c:pt>
                <c:pt idx="13">
                  <c:v>18/06/2024 - 24/06/2024</c:v>
                </c:pt>
                <c:pt idx="14">
                  <c:v>25/06/2024 - 01/07/2024</c:v>
                </c:pt>
                <c:pt idx="15">
                  <c:v>02/07/2024 - 08/07/2024</c:v>
                </c:pt>
                <c:pt idx="16">
                  <c:v>09/07/2024 - 15/07/2024</c:v>
                </c:pt>
                <c:pt idx="17">
                  <c:v>16/07/2024 - 22/07/2024</c:v>
                </c:pt>
                <c:pt idx="18">
                  <c:v>23/07/2024 - 29/07/2024</c:v>
                </c:pt>
                <c:pt idx="19">
                  <c:v>30/07/2024 - 05/08/2024</c:v>
                </c:pt>
                <c:pt idx="20">
                  <c:v>06/08/2024 - 12/08/2024</c:v>
                </c:pt>
                <c:pt idx="21">
                  <c:v>13/08/2024 - 19/08/2024</c:v>
                </c:pt>
                <c:pt idx="22">
                  <c:v>20/08/2024 - 26/08/2024</c:v>
                </c:pt>
                <c:pt idx="23">
                  <c:v>27/08/2024 - 02/09/2024</c:v>
                </c:pt>
                <c:pt idx="24">
                  <c:v>03/09/2024 - 09/09/2024</c:v>
                </c:pt>
                <c:pt idx="25">
                  <c:v>10/09/2024 - 16/09/2024</c:v>
                </c:pt>
                <c:pt idx="26">
                  <c:v>17/09/2024 - 23/09/2024</c:v>
                </c:pt>
                <c:pt idx="27">
                  <c:v>24/09/2024 - 30/09/2024</c:v>
                </c:pt>
                <c:pt idx="28">
                  <c:v>01/10/2024 - 07/10/2024</c:v>
                </c:pt>
                <c:pt idx="29">
                  <c:v>08/10/2024 - 14/10/2024</c:v>
                </c:pt>
                <c:pt idx="30">
                  <c:v>15/10/2024 - 21/10/2024</c:v>
                </c:pt>
                <c:pt idx="31">
                  <c:v>22/10/2024 - 28/10/2024</c:v>
                </c:pt>
                <c:pt idx="32">
                  <c:v>05/11/2024 - 11/11/2024</c:v>
                </c:pt>
                <c:pt idx="33">
                  <c:v>12/11/2024 - 18/11/2024</c:v>
                </c:pt>
                <c:pt idx="34">
                  <c:v>19/11/2024 - 25/11/2024</c:v>
                </c:pt>
                <c:pt idx="35">
                  <c:v>26/11/2024 - 02/12/2024</c:v>
                </c:pt>
                <c:pt idx="36">
                  <c:v>03/12/2024 - 09/12/2024</c:v>
                </c:pt>
                <c:pt idx="37">
                  <c:v>10/12/2024 - 16/12/2024</c:v>
                </c:pt>
                <c:pt idx="38">
                  <c:v>17/12/2024 - 23/12/2024</c:v>
                </c:pt>
              </c:strCache>
            </c:strRef>
          </c:cat>
          <c:val>
            <c:numRef>
              <c:f>Grafik!$B$2:$B$40</c:f>
              <c:numCache>
                <c:formatCode>_-* #,##0\ _T_L_-;\-* #,##0\ _T_L_-;_-* "-"??\ _T_L_-;_-@_-</c:formatCode>
                <c:ptCount val="39"/>
                <c:pt idx="0">
                  <c:v>2095450000</c:v>
                </c:pt>
                <c:pt idx="1">
                  <c:v>4856065000</c:v>
                </c:pt>
                <c:pt idx="2">
                  <c:v>5245295000</c:v>
                </c:pt>
                <c:pt idx="3">
                  <c:v>1561250000</c:v>
                </c:pt>
                <c:pt idx="4">
                  <c:v>642950000</c:v>
                </c:pt>
                <c:pt idx="5">
                  <c:v>4164080000</c:v>
                </c:pt>
                <c:pt idx="6">
                  <c:v>2806890000</c:v>
                </c:pt>
                <c:pt idx="7">
                  <c:v>161162500</c:v>
                </c:pt>
                <c:pt idx="8">
                  <c:v>1774600000</c:v>
                </c:pt>
                <c:pt idx="9">
                  <c:v>1607500000</c:v>
                </c:pt>
                <c:pt idx="10">
                  <c:v>3224025000</c:v>
                </c:pt>
                <c:pt idx="11">
                  <c:v>4371615000</c:v>
                </c:pt>
                <c:pt idx="12">
                  <c:v>5696462500</c:v>
                </c:pt>
                <c:pt idx="13">
                  <c:v>327000000</c:v>
                </c:pt>
                <c:pt idx="14">
                  <c:v>1316115000</c:v>
                </c:pt>
                <c:pt idx="15">
                  <c:v>654000000</c:v>
                </c:pt>
                <c:pt idx="16">
                  <c:v>163927500</c:v>
                </c:pt>
                <c:pt idx="17">
                  <c:v>2152865000</c:v>
                </c:pt>
                <c:pt idx="18">
                  <c:v>3567260000</c:v>
                </c:pt>
                <c:pt idx="19">
                  <c:v>4642275000</c:v>
                </c:pt>
                <c:pt idx="20">
                  <c:v>3519837500</c:v>
                </c:pt>
                <c:pt idx="21">
                  <c:v>3520607500</c:v>
                </c:pt>
                <c:pt idx="22">
                  <c:v>674800000</c:v>
                </c:pt>
                <c:pt idx="23">
                  <c:v>679700000</c:v>
                </c:pt>
                <c:pt idx="24">
                  <c:v>3402875000</c:v>
                </c:pt>
                <c:pt idx="25">
                  <c:v>3570307500</c:v>
                </c:pt>
                <c:pt idx="26">
                  <c:v>1189992500</c:v>
                </c:pt>
                <c:pt idx="27">
                  <c:v>4097770000</c:v>
                </c:pt>
                <c:pt idx="28">
                  <c:v>3249659000</c:v>
                </c:pt>
                <c:pt idx="29">
                  <c:v>4276000000</c:v>
                </c:pt>
                <c:pt idx="30">
                  <c:v>3250066000</c:v>
                </c:pt>
                <c:pt idx="31">
                  <c:v>3256705000</c:v>
                </c:pt>
                <c:pt idx="32">
                  <c:v>1710669000</c:v>
                </c:pt>
                <c:pt idx="33">
                  <c:v>4431887500</c:v>
                </c:pt>
                <c:pt idx="34">
                  <c:v>4174097500</c:v>
                </c:pt>
                <c:pt idx="35">
                  <c:v>1387192000</c:v>
                </c:pt>
                <c:pt idx="36">
                  <c:v>6820764000</c:v>
                </c:pt>
                <c:pt idx="37">
                  <c:v>2444465500</c:v>
                </c:pt>
                <c:pt idx="38">
                  <c:v>1054925000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B0-4B32-88A0-3410640001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29184"/>
        <c:axId val="1778242224"/>
      </c:barChart>
      <c:lineChart>
        <c:grouping val="standard"/>
        <c:varyColors val="0"/>
        <c:ser>
          <c:idx val="1"/>
          <c:order val="1"/>
          <c:tx>
            <c:strRef>
              <c:f>Grafik!$C$1</c:f>
              <c:strCache>
                <c:ptCount val="1"/>
                <c:pt idx="0">
                  <c:v>Maliyet (%)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Grafik!$A$2:$A$40</c:f>
              <c:strCache>
                <c:ptCount val="39"/>
                <c:pt idx="0">
                  <c:v>09/01/2024 - 15/01/2024</c:v>
                </c:pt>
                <c:pt idx="1">
                  <c:v>30/01/2024 - 05/02/2024</c:v>
                </c:pt>
                <c:pt idx="2">
                  <c:v>06/02/2024 - 12/02/2024</c:v>
                </c:pt>
                <c:pt idx="3">
                  <c:v>27/02/2024 - 04/03/2024</c:v>
                </c:pt>
                <c:pt idx="4">
                  <c:v>26/03/2024 - 01/04/2024</c:v>
                </c:pt>
                <c:pt idx="5">
                  <c:v>02/04/2024 - 08/04/2024</c:v>
                </c:pt>
                <c:pt idx="6">
                  <c:v>30/04/2024 - 06/05/2024</c:v>
                </c:pt>
                <c:pt idx="7">
                  <c:v>07/05/2024 - 13/05/2024</c:v>
                </c:pt>
                <c:pt idx="8">
                  <c:v>14/05/2024 - 20/05/2024</c:v>
                </c:pt>
                <c:pt idx="9">
                  <c:v>21/05/2024 - 27/05/2024</c:v>
                </c:pt>
                <c:pt idx="10">
                  <c:v>28/05/2024 - 03/06/2024</c:v>
                </c:pt>
                <c:pt idx="11">
                  <c:v>04/06/2024 - 10/06/2024</c:v>
                </c:pt>
                <c:pt idx="12">
                  <c:v>11/06/2024 - 17/06/2024</c:v>
                </c:pt>
                <c:pt idx="13">
                  <c:v>18/06/2024 - 24/06/2024</c:v>
                </c:pt>
                <c:pt idx="14">
                  <c:v>25/06/2024 - 01/07/2024</c:v>
                </c:pt>
                <c:pt idx="15">
                  <c:v>02/07/2024 - 08/07/2024</c:v>
                </c:pt>
                <c:pt idx="16">
                  <c:v>09/07/2024 - 15/07/2024</c:v>
                </c:pt>
                <c:pt idx="17">
                  <c:v>16/07/2024 - 22/07/2024</c:v>
                </c:pt>
                <c:pt idx="18">
                  <c:v>23/07/2024 - 29/07/2024</c:v>
                </c:pt>
                <c:pt idx="19">
                  <c:v>30/07/2024 - 05/08/2024</c:v>
                </c:pt>
                <c:pt idx="20">
                  <c:v>06/08/2024 - 12/08/2024</c:v>
                </c:pt>
                <c:pt idx="21">
                  <c:v>13/08/2024 - 19/08/2024</c:v>
                </c:pt>
                <c:pt idx="22">
                  <c:v>20/08/2024 - 26/08/2024</c:v>
                </c:pt>
                <c:pt idx="23">
                  <c:v>27/08/2024 - 02/09/2024</c:v>
                </c:pt>
                <c:pt idx="24">
                  <c:v>03/09/2024 - 09/09/2024</c:v>
                </c:pt>
                <c:pt idx="25">
                  <c:v>10/09/2024 - 16/09/2024</c:v>
                </c:pt>
                <c:pt idx="26">
                  <c:v>17/09/2024 - 23/09/2024</c:v>
                </c:pt>
                <c:pt idx="27">
                  <c:v>24/09/2024 - 30/09/2024</c:v>
                </c:pt>
                <c:pt idx="28">
                  <c:v>01/10/2024 - 07/10/2024</c:v>
                </c:pt>
                <c:pt idx="29">
                  <c:v>08/10/2024 - 14/10/2024</c:v>
                </c:pt>
                <c:pt idx="30">
                  <c:v>15/10/2024 - 21/10/2024</c:v>
                </c:pt>
                <c:pt idx="31">
                  <c:v>22/10/2024 - 28/10/2024</c:v>
                </c:pt>
                <c:pt idx="32">
                  <c:v>05/11/2024 - 11/11/2024</c:v>
                </c:pt>
                <c:pt idx="33">
                  <c:v>12/11/2024 - 18/11/2024</c:v>
                </c:pt>
                <c:pt idx="34">
                  <c:v>19/11/2024 - 25/11/2024</c:v>
                </c:pt>
                <c:pt idx="35">
                  <c:v>26/11/2024 - 02/12/2024</c:v>
                </c:pt>
                <c:pt idx="36">
                  <c:v>03/12/2024 - 09/12/2024</c:v>
                </c:pt>
                <c:pt idx="37">
                  <c:v>10/12/2024 - 16/12/2024</c:v>
                </c:pt>
                <c:pt idx="38">
                  <c:v>17/12/2024 - 23/12/2024</c:v>
                </c:pt>
              </c:strCache>
            </c:strRef>
          </c:cat>
          <c:val>
            <c:numRef>
              <c:f>Grafik!$C$2:$C$40</c:f>
              <c:numCache>
                <c:formatCode>0.00</c:formatCode>
                <c:ptCount val="39"/>
                <c:pt idx="0">
                  <c:v>40.4982156981023</c:v>
                </c:pt>
                <c:pt idx="1">
                  <c:v>41.377928970474898</c:v>
                </c:pt>
                <c:pt idx="2">
                  <c:v>43.326997297840698</c:v>
                </c:pt>
                <c:pt idx="3">
                  <c:v>43.7138233039773</c:v>
                </c:pt>
                <c:pt idx="4">
                  <c:v>47.4657356459943</c:v>
                </c:pt>
                <c:pt idx="5">
                  <c:v>48.360854417358873</c:v>
                </c:pt>
                <c:pt idx="6">
                  <c:v>47.320847426408605</c:v>
                </c:pt>
                <c:pt idx="7">
                  <c:v>45.831546916926598</c:v>
                </c:pt>
                <c:pt idx="8">
                  <c:v>43.127102504971198</c:v>
                </c:pt>
                <c:pt idx="9">
                  <c:v>34.5560953236618</c:v>
                </c:pt>
                <c:pt idx="10">
                  <c:v>41.638301524775024</c:v>
                </c:pt>
                <c:pt idx="11">
                  <c:v>38.861393466116986</c:v>
                </c:pt>
                <c:pt idx="12">
                  <c:v>39.217351738411949</c:v>
                </c:pt>
                <c:pt idx="13">
                  <c:v>40.013226067294902</c:v>
                </c:pt>
                <c:pt idx="14">
                  <c:v>46.493996462926901</c:v>
                </c:pt>
                <c:pt idx="15">
                  <c:v>45.942063963790403</c:v>
                </c:pt>
                <c:pt idx="16">
                  <c:v>44.916975188378402</c:v>
                </c:pt>
                <c:pt idx="17">
                  <c:v>43.508812322700528</c:v>
                </c:pt>
                <c:pt idx="18">
                  <c:v>44.775709012417032</c:v>
                </c:pt>
                <c:pt idx="19">
                  <c:v>44.182429369159898</c:v>
                </c:pt>
                <c:pt idx="20">
                  <c:v>45.717687362894232</c:v>
                </c:pt>
                <c:pt idx="21">
                  <c:v>46.148292343481501</c:v>
                </c:pt>
                <c:pt idx="22">
                  <c:v>42.870633180201352</c:v>
                </c:pt>
                <c:pt idx="23">
                  <c:v>47.902498220761998</c:v>
                </c:pt>
                <c:pt idx="24">
                  <c:v>48.598804078289852</c:v>
                </c:pt>
                <c:pt idx="25">
                  <c:v>46.532376483154515</c:v>
                </c:pt>
                <c:pt idx="26">
                  <c:v>45.4969266715636</c:v>
                </c:pt>
                <c:pt idx="27">
                  <c:v>43.700493612990883</c:v>
                </c:pt>
                <c:pt idx="28">
                  <c:v>45.431765230954078</c:v>
                </c:pt>
                <c:pt idx="29">
                  <c:v>42.613456796487462</c:v>
                </c:pt>
                <c:pt idx="30">
                  <c:v>42.22730501034782</c:v>
                </c:pt>
                <c:pt idx="31">
                  <c:v>43.550294813429758</c:v>
                </c:pt>
                <c:pt idx="32">
                  <c:v>41.491364618404177</c:v>
                </c:pt>
                <c:pt idx="33">
                  <c:v>41.345715740060164</c:v>
                </c:pt>
                <c:pt idx="34">
                  <c:v>43.040882231163543</c:v>
                </c:pt>
                <c:pt idx="35">
                  <c:v>41.39406742543585</c:v>
                </c:pt>
                <c:pt idx="36">
                  <c:v>42.219565473818406</c:v>
                </c:pt>
                <c:pt idx="37">
                  <c:v>43.762562061533508</c:v>
                </c:pt>
                <c:pt idx="38">
                  <c:v>43.1499356324139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B0-4B32-88A0-3410640001B4}"/>
            </c:ext>
          </c:extLst>
        </c:ser>
        <c:ser>
          <c:idx val="2"/>
          <c:order val="2"/>
          <c:tx>
            <c:strRef>
              <c:f>Grafik!$D$1</c:f>
              <c:strCache>
                <c:ptCount val="1"/>
                <c:pt idx="0">
                  <c:v>TCMB Politika Faizi (%)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Grafik!$A$2:$A$40</c:f>
              <c:strCache>
                <c:ptCount val="39"/>
                <c:pt idx="0">
                  <c:v>09/01/2024 - 15/01/2024</c:v>
                </c:pt>
                <c:pt idx="1">
                  <c:v>30/01/2024 - 05/02/2024</c:v>
                </c:pt>
                <c:pt idx="2">
                  <c:v>06/02/2024 - 12/02/2024</c:v>
                </c:pt>
                <c:pt idx="3">
                  <c:v>27/02/2024 - 04/03/2024</c:v>
                </c:pt>
                <c:pt idx="4">
                  <c:v>26/03/2024 - 01/04/2024</c:v>
                </c:pt>
                <c:pt idx="5">
                  <c:v>02/04/2024 - 08/04/2024</c:v>
                </c:pt>
                <c:pt idx="6">
                  <c:v>30/04/2024 - 06/05/2024</c:v>
                </c:pt>
                <c:pt idx="7">
                  <c:v>07/05/2024 - 13/05/2024</c:v>
                </c:pt>
                <c:pt idx="8">
                  <c:v>14/05/2024 - 20/05/2024</c:v>
                </c:pt>
                <c:pt idx="9">
                  <c:v>21/05/2024 - 27/05/2024</c:v>
                </c:pt>
                <c:pt idx="10">
                  <c:v>28/05/2024 - 03/06/2024</c:v>
                </c:pt>
                <c:pt idx="11">
                  <c:v>04/06/2024 - 10/06/2024</c:v>
                </c:pt>
                <c:pt idx="12">
                  <c:v>11/06/2024 - 17/06/2024</c:v>
                </c:pt>
                <c:pt idx="13">
                  <c:v>18/06/2024 - 24/06/2024</c:v>
                </c:pt>
                <c:pt idx="14">
                  <c:v>25/06/2024 - 01/07/2024</c:v>
                </c:pt>
                <c:pt idx="15">
                  <c:v>02/07/2024 - 08/07/2024</c:v>
                </c:pt>
                <c:pt idx="16">
                  <c:v>09/07/2024 - 15/07/2024</c:v>
                </c:pt>
                <c:pt idx="17">
                  <c:v>16/07/2024 - 22/07/2024</c:v>
                </c:pt>
                <c:pt idx="18">
                  <c:v>23/07/2024 - 29/07/2024</c:v>
                </c:pt>
                <c:pt idx="19">
                  <c:v>30/07/2024 - 05/08/2024</c:v>
                </c:pt>
                <c:pt idx="20">
                  <c:v>06/08/2024 - 12/08/2024</c:v>
                </c:pt>
                <c:pt idx="21">
                  <c:v>13/08/2024 - 19/08/2024</c:v>
                </c:pt>
                <c:pt idx="22">
                  <c:v>20/08/2024 - 26/08/2024</c:v>
                </c:pt>
                <c:pt idx="23">
                  <c:v>27/08/2024 - 02/09/2024</c:v>
                </c:pt>
                <c:pt idx="24">
                  <c:v>03/09/2024 - 09/09/2024</c:v>
                </c:pt>
                <c:pt idx="25">
                  <c:v>10/09/2024 - 16/09/2024</c:v>
                </c:pt>
                <c:pt idx="26">
                  <c:v>17/09/2024 - 23/09/2024</c:v>
                </c:pt>
                <c:pt idx="27">
                  <c:v>24/09/2024 - 30/09/2024</c:v>
                </c:pt>
                <c:pt idx="28">
                  <c:v>01/10/2024 - 07/10/2024</c:v>
                </c:pt>
                <c:pt idx="29">
                  <c:v>08/10/2024 - 14/10/2024</c:v>
                </c:pt>
                <c:pt idx="30">
                  <c:v>15/10/2024 - 21/10/2024</c:v>
                </c:pt>
                <c:pt idx="31">
                  <c:v>22/10/2024 - 28/10/2024</c:v>
                </c:pt>
                <c:pt idx="32">
                  <c:v>05/11/2024 - 11/11/2024</c:v>
                </c:pt>
                <c:pt idx="33">
                  <c:v>12/11/2024 - 18/11/2024</c:v>
                </c:pt>
                <c:pt idx="34">
                  <c:v>19/11/2024 - 25/11/2024</c:v>
                </c:pt>
                <c:pt idx="35">
                  <c:v>26/11/2024 - 02/12/2024</c:v>
                </c:pt>
                <c:pt idx="36">
                  <c:v>03/12/2024 - 09/12/2024</c:v>
                </c:pt>
                <c:pt idx="37">
                  <c:v>10/12/2024 - 16/12/2024</c:v>
                </c:pt>
                <c:pt idx="38">
                  <c:v>17/12/2024 - 23/12/2024</c:v>
                </c:pt>
              </c:strCache>
            </c:strRef>
          </c:cat>
          <c:val>
            <c:numRef>
              <c:f>Grafik!$D$2:$D$40</c:f>
              <c:numCache>
                <c:formatCode>0.00</c:formatCode>
                <c:ptCount val="39"/>
                <c:pt idx="0">
                  <c:v>42.5</c:v>
                </c:pt>
                <c:pt idx="1">
                  <c:v>42.5</c:v>
                </c:pt>
                <c:pt idx="2">
                  <c:v>42.5</c:v>
                </c:pt>
                <c:pt idx="3">
                  <c:v>45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</c:v>
                </c:pt>
                <c:pt idx="28">
                  <c:v>50</c:v>
                </c:pt>
                <c:pt idx="29">
                  <c:v>50</c:v>
                </c:pt>
                <c:pt idx="30">
                  <c:v>50</c:v>
                </c:pt>
                <c:pt idx="31">
                  <c:v>50</c:v>
                </c:pt>
                <c:pt idx="32">
                  <c:v>50</c:v>
                </c:pt>
                <c:pt idx="33">
                  <c:v>50</c:v>
                </c:pt>
                <c:pt idx="34">
                  <c:v>50</c:v>
                </c:pt>
                <c:pt idx="35">
                  <c:v>50</c:v>
                </c:pt>
                <c:pt idx="36">
                  <c:v>50</c:v>
                </c:pt>
                <c:pt idx="37">
                  <c:v>50</c:v>
                </c:pt>
                <c:pt idx="38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B0-4B32-88A0-3410640001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383296"/>
        <c:axId val="1778248880"/>
      </c:lineChart>
      <c:catAx>
        <c:axId val="502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tr-TR" sz="7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1778242224"/>
        <c:crosses val="autoZero"/>
        <c:auto val="1"/>
        <c:lblAlgn val="ctr"/>
        <c:lblOffset val="100"/>
        <c:noMultiLvlLbl val="0"/>
      </c:catAx>
      <c:valAx>
        <c:axId val="1778242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_T_L_-;\-* #,##0\ _T_L_-;_-* &quot;-&quot;??\ _T_L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tr-TR"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502918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lang="tr-TR" sz="7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tr-TR"/>
              </a:p>
            </c:txPr>
          </c:dispUnitsLbl>
        </c:dispUnits>
      </c:valAx>
      <c:valAx>
        <c:axId val="1778248880"/>
        <c:scaling>
          <c:orientation val="minMax"/>
          <c:max val="52"/>
          <c:min val="30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tr-TR"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6383296"/>
        <c:crosses val="max"/>
        <c:crossBetween val="between"/>
      </c:valAx>
      <c:catAx>
        <c:axId val="63832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782488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tr-TR" sz="105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tr-T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tr-TR" sz="700" b="0" i="0" u="none" strike="noStrike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Taahhütlü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İşlemler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Haftalık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Hacmi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(TL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Alış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Sheet3!$D$1</c:f>
              <c:strCache>
                <c:ptCount val="1"/>
                <c:pt idx="0">
                  <c:v>Hacim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Sheet3!$C$2:$C$52</c:f>
              <c:numCache>
                <c:formatCode>d\-mmm</c:formatCode>
                <c:ptCount val="51"/>
                <c:pt idx="0">
                  <c:v>45293</c:v>
                </c:pt>
                <c:pt idx="1">
                  <c:v>45300</c:v>
                </c:pt>
                <c:pt idx="2">
                  <c:v>45307</c:v>
                </c:pt>
                <c:pt idx="3">
                  <c:v>45314</c:v>
                </c:pt>
                <c:pt idx="4">
                  <c:v>45321</c:v>
                </c:pt>
                <c:pt idx="5">
                  <c:v>45328</c:v>
                </c:pt>
                <c:pt idx="6">
                  <c:v>45335</c:v>
                </c:pt>
                <c:pt idx="7">
                  <c:v>45342</c:v>
                </c:pt>
                <c:pt idx="8">
                  <c:v>45349</c:v>
                </c:pt>
                <c:pt idx="9">
                  <c:v>45356</c:v>
                </c:pt>
                <c:pt idx="10">
                  <c:v>45363</c:v>
                </c:pt>
                <c:pt idx="11">
                  <c:v>45370</c:v>
                </c:pt>
                <c:pt idx="12">
                  <c:v>45377</c:v>
                </c:pt>
                <c:pt idx="13">
                  <c:v>45384</c:v>
                </c:pt>
                <c:pt idx="14">
                  <c:v>45391</c:v>
                </c:pt>
                <c:pt idx="15">
                  <c:v>45398</c:v>
                </c:pt>
                <c:pt idx="16">
                  <c:v>45405</c:v>
                </c:pt>
                <c:pt idx="17">
                  <c:v>45412</c:v>
                </c:pt>
                <c:pt idx="18">
                  <c:v>45419</c:v>
                </c:pt>
                <c:pt idx="19">
                  <c:v>45426</c:v>
                </c:pt>
                <c:pt idx="20">
                  <c:v>45433</c:v>
                </c:pt>
                <c:pt idx="21">
                  <c:v>45440</c:v>
                </c:pt>
                <c:pt idx="22">
                  <c:v>45447</c:v>
                </c:pt>
                <c:pt idx="23">
                  <c:v>45454</c:v>
                </c:pt>
                <c:pt idx="24">
                  <c:v>45461</c:v>
                </c:pt>
                <c:pt idx="25">
                  <c:v>45468</c:v>
                </c:pt>
                <c:pt idx="26">
                  <c:v>45475</c:v>
                </c:pt>
                <c:pt idx="27">
                  <c:v>45482</c:v>
                </c:pt>
                <c:pt idx="28">
                  <c:v>45489</c:v>
                </c:pt>
                <c:pt idx="29">
                  <c:v>45496</c:v>
                </c:pt>
                <c:pt idx="30">
                  <c:v>45503</c:v>
                </c:pt>
                <c:pt idx="31">
                  <c:v>45510</c:v>
                </c:pt>
                <c:pt idx="32">
                  <c:v>45517</c:v>
                </c:pt>
                <c:pt idx="33">
                  <c:v>45524</c:v>
                </c:pt>
                <c:pt idx="34">
                  <c:v>45531</c:v>
                </c:pt>
                <c:pt idx="35">
                  <c:v>45538</c:v>
                </c:pt>
                <c:pt idx="36">
                  <c:v>45545</c:v>
                </c:pt>
                <c:pt idx="37">
                  <c:v>45552</c:v>
                </c:pt>
                <c:pt idx="38">
                  <c:v>45559</c:v>
                </c:pt>
                <c:pt idx="39">
                  <c:v>45566</c:v>
                </c:pt>
                <c:pt idx="40">
                  <c:v>45573</c:v>
                </c:pt>
                <c:pt idx="41">
                  <c:v>45580</c:v>
                </c:pt>
                <c:pt idx="42">
                  <c:v>45587</c:v>
                </c:pt>
                <c:pt idx="43">
                  <c:v>45594</c:v>
                </c:pt>
                <c:pt idx="44">
                  <c:v>45601</c:v>
                </c:pt>
                <c:pt idx="45">
                  <c:v>45608</c:v>
                </c:pt>
                <c:pt idx="46">
                  <c:v>45615</c:v>
                </c:pt>
                <c:pt idx="47">
                  <c:v>45622</c:v>
                </c:pt>
                <c:pt idx="48">
                  <c:v>45629</c:v>
                </c:pt>
                <c:pt idx="49">
                  <c:v>45636</c:v>
                </c:pt>
                <c:pt idx="50">
                  <c:v>45643</c:v>
                </c:pt>
              </c:numCache>
            </c:numRef>
          </c:cat>
          <c:val>
            <c:numRef>
              <c:f>Sheet3!$D$2:$D$52</c:f>
              <c:numCache>
                <c:formatCode>_(* #,##0.00_);_(* \(#,##0.00\);_(* "-"??_);_(@_)</c:formatCode>
                <c:ptCount val="51"/>
                <c:pt idx="0">
                  <c:v>5.45594</c:v>
                </c:pt>
                <c:pt idx="1">
                  <c:v>5.6692200000000001</c:v>
                </c:pt>
                <c:pt idx="2">
                  <c:v>5.3356199999999996</c:v>
                </c:pt>
                <c:pt idx="3">
                  <c:v>10.349</c:v>
                </c:pt>
                <c:pt idx="4">
                  <c:v>6.3274900000000001</c:v>
                </c:pt>
                <c:pt idx="5">
                  <c:v>7.1936999999999998</c:v>
                </c:pt>
                <c:pt idx="6">
                  <c:v>5.2706</c:v>
                </c:pt>
                <c:pt idx="7">
                  <c:v>1.3995</c:v>
                </c:pt>
                <c:pt idx="8">
                  <c:v>2.3460000000000001</c:v>
                </c:pt>
                <c:pt idx="9">
                  <c:v>3.40462036548</c:v>
                </c:pt>
                <c:pt idx="10">
                  <c:v>5.8113299999999999</c:v>
                </c:pt>
                <c:pt idx="11">
                  <c:v>5.6668000000000003</c:v>
                </c:pt>
                <c:pt idx="12">
                  <c:v>1.776</c:v>
                </c:pt>
                <c:pt idx="13">
                  <c:v>2.7927</c:v>
                </c:pt>
                <c:pt idx="14">
                  <c:v>1.2024999999999999</c:v>
                </c:pt>
                <c:pt idx="15">
                  <c:v>2.2993999999999999</c:v>
                </c:pt>
                <c:pt idx="16">
                  <c:v>3.7616999999999998</c:v>
                </c:pt>
                <c:pt idx="17">
                  <c:v>2.9184999999999999</c:v>
                </c:pt>
                <c:pt idx="18">
                  <c:v>3.5059999999999998</c:v>
                </c:pt>
                <c:pt idx="19">
                  <c:v>3.3660000000000001</c:v>
                </c:pt>
                <c:pt idx="20">
                  <c:v>3.3859699999999999</c:v>
                </c:pt>
                <c:pt idx="21">
                  <c:v>4.4015000000000004</c:v>
                </c:pt>
                <c:pt idx="22">
                  <c:v>6.5019200000000001</c:v>
                </c:pt>
                <c:pt idx="23">
                  <c:v>3.7536800000000001</c:v>
                </c:pt>
                <c:pt idx="24">
                  <c:v>12.403650000000001</c:v>
                </c:pt>
                <c:pt idx="25">
                  <c:v>3.5059999999999998</c:v>
                </c:pt>
                <c:pt idx="26">
                  <c:v>3.3660000000000001</c:v>
                </c:pt>
                <c:pt idx="27">
                  <c:v>3.3859699999999999</c:v>
                </c:pt>
                <c:pt idx="28">
                  <c:v>4.4015000000000004</c:v>
                </c:pt>
                <c:pt idx="29">
                  <c:v>6.5019200000000001</c:v>
                </c:pt>
                <c:pt idx="30">
                  <c:v>3.7536800000000001</c:v>
                </c:pt>
                <c:pt idx="31">
                  <c:v>12.403650000000001</c:v>
                </c:pt>
                <c:pt idx="32">
                  <c:v>15.111969089740001</c:v>
                </c:pt>
                <c:pt idx="33">
                  <c:v>13.39457</c:v>
                </c:pt>
                <c:pt idx="34">
                  <c:v>15.404479009940001</c:v>
                </c:pt>
                <c:pt idx="35">
                  <c:v>6.5019200000000001</c:v>
                </c:pt>
                <c:pt idx="36">
                  <c:v>9.8633299999999995</c:v>
                </c:pt>
                <c:pt idx="37">
                  <c:v>4.484</c:v>
                </c:pt>
                <c:pt idx="38">
                  <c:v>3.2189999999999999</c:v>
                </c:pt>
                <c:pt idx="39">
                  <c:v>21.698060000000002</c:v>
                </c:pt>
                <c:pt idx="40">
                  <c:v>24.53389</c:v>
                </c:pt>
                <c:pt idx="41">
                  <c:v>7.2329999999999997</c:v>
                </c:pt>
                <c:pt idx="42">
                  <c:v>7.4188000000000001</c:v>
                </c:pt>
                <c:pt idx="43">
                  <c:v>6.2610000000000001</c:v>
                </c:pt>
                <c:pt idx="44">
                  <c:v>43.486603764329999</c:v>
                </c:pt>
                <c:pt idx="45">
                  <c:v>55.970660000000002</c:v>
                </c:pt>
                <c:pt idx="46">
                  <c:v>19.205770000000001</c:v>
                </c:pt>
                <c:pt idx="47">
                  <c:v>73.769890000000004</c:v>
                </c:pt>
                <c:pt idx="48">
                  <c:v>38.198729999999998</c:v>
                </c:pt>
                <c:pt idx="49">
                  <c:v>46.143970000000003</c:v>
                </c:pt>
                <c:pt idx="50">
                  <c:v>36.141350000000003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40-4FCC-9A0F-1F1648782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7368672"/>
        <c:axId val="1661031936"/>
      </c:barChart>
      <c:catAx>
        <c:axId val="1967368672"/>
        <c:scaling>
          <c:orientation val="minMax"/>
        </c:scaling>
        <c:delete val="0"/>
        <c:axPos val="b"/>
        <c:numFmt formatCode="d\-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1661031936"/>
        <c:crosses val="autoZero"/>
        <c:auto val="0"/>
        <c:lblAlgn val="ctr"/>
        <c:lblOffset val="50"/>
        <c:tickLblSkip val="2"/>
        <c:noMultiLvlLbl val="0"/>
      </c:catAx>
      <c:valAx>
        <c:axId val="166103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1967368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tr-TR" sz="1600" b="1" dirty="0">
                <a:solidFill>
                  <a:schemeClr val="tx2"/>
                </a:solidFill>
              </a:rPr>
              <a:t>Kuveyt Türk: TL Fonlama &amp; Maliyeti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tr-TR"/>
        </a:p>
      </c:txPr>
    </c:title>
    <c:autoTitleDeleted val="0"/>
    <c:plotArea>
      <c:layout>
        <c:manualLayout>
          <c:layoutTarget val="inner"/>
          <c:xMode val="edge"/>
          <c:yMode val="edge"/>
          <c:x val="5.5031797391661724E-2"/>
          <c:y val="6.6920170954783087E-2"/>
          <c:w val="0.88947664354922629"/>
          <c:h val="0.83217125681373172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TarihselVeri!$D$1</c:f>
              <c:strCache>
                <c:ptCount val="1"/>
                <c:pt idx="0">
                  <c:v>Tutar (1Y+ İslemler Dahil)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numRef>
              <c:f>TarihselVeri!$A$218:$A$267</c:f>
              <c:numCache>
                <c:formatCode>m/d/yyyy</c:formatCode>
                <c:ptCount val="50"/>
                <c:pt idx="0">
                  <c:v>45289</c:v>
                </c:pt>
                <c:pt idx="1">
                  <c:v>45296</c:v>
                </c:pt>
                <c:pt idx="2">
                  <c:v>45303</c:v>
                </c:pt>
                <c:pt idx="3">
                  <c:v>45310</c:v>
                </c:pt>
                <c:pt idx="4">
                  <c:v>45317</c:v>
                </c:pt>
                <c:pt idx="5">
                  <c:v>45324</c:v>
                </c:pt>
                <c:pt idx="6">
                  <c:v>45331</c:v>
                </c:pt>
                <c:pt idx="7">
                  <c:v>45338</c:v>
                </c:pt>
                <c:pt idx="8">
                  <c:v>45345</c:v>
                </c:pt>
                <c:pt idx="9">
                  <c:v>45352</c:v>
                </c:pt>
                <c:pt idx="10">
                  <c:v>45359</c:v>
                </c:pt>
                <c:pt idx="11">
                  <c:v>45366</c:v>
                </c:pt>
                <c:pt idx="12">
                  <c:v>45373</c:v>
                </c:pt>
                <c:pt idx="13">
                  <c:v>45380</c:v>
                </c:pt>
                <c:pt idx="14">
                  <c:v>45387</c:v>
                </c:pt>
                <c:pt idx="15">
                  <c:v>45394</c:v>
                </c:pt>
                <c:pt idx="16">
                  <c:v>45401</c:v>
                </c:pt>
                <c:pt idx="17">
                  <c:v>45408</c:v>
                </c:pt>
                <c:pt idx="18">
                  <c:v>45415</c:v>
                </c:pt>
                <c:pt idx="19">
                  <c:v>45422</c:v>
                </c:pt>
                <c:pt idx="20">
                  <c:v>45429</c:v>
                </c:pt>
                <c:pt idx="21">
                  <c:v>45436</c:v>
                </c:pt>
                <c:pt idx="22">
                  <c:v>45443</c:v>
                </c:pt>
                <c:pt idx="23">
                  <c:v>45450</c:v>
                </c:pt>
                <c:pt idx="24">
                  <c:v>45464</c:v>
                </c:pt>
                <c:pt idx="25">
                  <c:v>45471</c:v>
                </c:pt>
                <c:pt idx="26">
                  <c:v>45478</c:v>
                </c:pt>
                <c:pt idx="27">
                  <c:v>45485</c:v>
                </c:pt>
                <c:pt idx="28">
                  <c:v>45492</c:v>
                </c:pt>
                <c:pt idx="29">
                  <c:v>45499</c:v>
                </c:pt>
                <c:pt idx="30">
                  <c:v>45506</c:v>
                </c:pt>
                <c:pt idx="31">
                  <c:v>45513</c:v>
                </c:pt>
                <c:pt idx="32">
                  <c:v>45520</c:v>
                </c:pt>
                <c:pt idx="33">
                  <c:v>45527</c:v>
                </c:pt>
                <c:pt idx="34">
                  <c:v>45533</c:v>
                </c:pt>
                <c:pt idx="35">
                  <c:v>45541</c:v>
                </c:pt>
                <c:pt idx="36">
                  <c:v>45548</c:v>
                </c:pt>
                <c:pt idx="37">
                  <c:v>45555</c:v>
                </c:pt>
                <c:pt idx="38">
                  <c:v>45562</c:v>
                </c:pt>
                <c:pt idx="39">
                  <c:v>45569</c:v>
                </c:pt>
                <c:pt idx="40">
                  <c:v>45576</c:v>
                </c:pt>
                <c:pt idx="41">
                  <c:v>45583</c:v>
                </c:pt>
                <c:pt idx="42">
                  <c:v>45590</c:v>
                </c:pt>
                <c:pt idx="43">
                  <c:v>45597</c:v>
                </c:pt>
                <c:pt idx="44">
                  <c:v>45604</c:v>
                </c:pt>
                <c:pt idx="45">
                  <c:v>45611</c:v>
                </c:pt>
                <c:pt idx="46">
                  <c:v>45618</c:v>
                </c:pt>
                <c:pt idx="47">
                  <c:v>45625</c:v>
                </c:pt>
                <c:pt idx="48">
                  <c:v>45632</c:v>
                </c:pt>
                <c:pt idx="49">
                  <c:v>45639</c:v>
                </c:pt>
              </c:numCache>
            </c:numRef>
          </c:cat>
          <c:val>
            <c:numRef>
              <c:f>TarihselVeri!$D$218:$D$267</c:f>
              <c:numCache>
                <c:formatCode>#,##0_ ;\-#,##0\ </c:formatCode>
                <c:ptCount val="50"/>
                <c:pt idx="0">
                  <c:v>24435.3</c:v>
                </c:pt>
                <c:pt idx="1">
                  <c:v>30756.2</c:v>
                </c:pt>
                <c:pt idx="2">
                  <c:v>39505.599999999999</c:v>
                </c:pt>
                <c:pt idx="3">
                  <c:v>35744.9</c:v>
                </c:pt>
                <c:pt idx="4">
                  <c:v>39506.699999999997</c:v>
                </c:pt>
                <c:pt idx="5">
                  <c:v>41489.799999999996</c:v>
                </c:pt>
                <c:pt idx="6">
                  <c:v>42694.299999999996</c:v>
                </c:pt>
                <c:pt idx="7">
                  <c:v>38586.6</c:v>
                </c:pt>
                <c:pt idx="8">
                  <c:v>35067.100999999995</c:v>
                </c:pt>
                <c:pt idx="9">
                  <c:v>40349.300999999999</c:v>
                </c:pt>
                <c:pt idx="10">
                  <c:v>49609.700000000004</c:v>
                </c:pt>
                <c:pt idx="11">
                  <c:v>48696.5</c:v>
                </c:pt>
                <c:pt idx="12">
                  <c:v>51428.01</c:v>
                </c:pt>
                <c:pt idx="13">
                  <c:v>52865.9</c:v>
                </c:pt>
                <c:pt idx="14">
                  <c:v>52099.310000000005</c:v>
                </c:pt>
                <c:pt idx="15">
                  <c:v>50570.910000000011</c:v>
                </c:pt>
                <c:pt idx="16">
                  <c:v>43347.91</c:v>
                </c:pt>
                <c:pt idx="17">
                  <c:v>44319.010000000009</c:v>
                </c:pt>
                <c:pt idx="18">
                  <c:v>46360.61</c:v>
                </c:pt>
                <c:pt idx="19">
                  <c:v>45813.41</c:v>
                </c:pt>
                <c:pt idx="20">
                  <c:v>46720.31</c:v>
                </c:pt>
                <c:pt idx="21">
                  <c:v>45887.299999999996</c:v>
                </c:pt>
                <c:pt idx="22">
                  <c:v>49492.700000000004</c:v>
                </c:pt>
                <c:pt idx="23">
                  <c:v>54921.000000000007</c:v>
                </c:pt>
                <c:pt idx="24">
                  <c:v>44937.000000000007</c:v>
                </c:pt>
                <c:pt idx="25">
                  <c:v>34860.020000000004</c:v>
                </c:pt>
                <c:pt idx="26">
                  <c:v>35294.720000000001</c:v>
                </c:pt>
                <c:pt idx="27">
                  <c:v>37197.730000000003</c:v>
                </c:pt>
                <c:pt idx="28">
                  <c:v>41504.130000000005</c:v>
                </c:pt>
                <c:pt idx="29">
                  <c:v>34795.24</c:v>
                </c:pt>
                <c:pt idx="30">
                  <c:v>36134.47</c:v>
                </c:pt>
                <c:pt idx="31">
                  <c:v>38860.750000000007</c:v>
                </c:pt>
                <c:pt idx="32">
                  <c:v>40054.54</c:v>
                </c:pt>
                <c:pt idx="33">
                  <c:v>30880.740000000005</c:v>
                </c:pt>
                <c:pt idx="34">
                  <c:v>35719.94</c:v>
                </c:pt>
                <c:pt idx="35">
                  <c:v>39454.54</c:v>
                </c:pt>
                <c:pt idx="36">
                  <c:v>35925.440000000002</c:v>
                </c:pt>
                <c:pt idx="37">
                  <c:v>37902.65</c:v>
                </c:pt>
                <c:pt idx="38">
                  <c:v>37058.15</c:v>
                </c:pt>
                <c:pt idx="39">
                  <c:v>39370.35</c:v>
                </c:pt>
                <c:pt idx="40">
                  <c:v>46542.15</c:v>
                </c:pt>
                <c:pt idx="41">
                  <c:v>40928.950000000004</c:v>
                </c:pt>
                <c:pt idx="42">
                  <c:v>44054.35</c:v>
                </c:pt>
                <c:pt idx="43">
                  <c:v>44885.250000000007</c:v>
                </c:pt>
                <c:pt idx="44">
                  <c:v>58529.35</c:v>
                </c:pt>
                <c:pt idx="45">
                  <c:v>64094.648000000001</c:v>
                </c:pt>
                <c:pt idx="46">
                  <c:v>56411.450000000004</c:v>
                </c:pt>
                <c:pt idx="47">
                  <c:v>63746.05</c:v>
                </c:pt>
                <c:pt idx="48">
                  <c:v>59580.75</c:v>
                </c:pt>
                <c:pt idx="49">
                  <c:v>59916.049999999996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4-49C2-9DDD-D4A3A135A1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5126575"/>
        <c:axId val="140122343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TarihselVeri!$B$1</c15:sqref>
                        </c15:formulaRef>
                      </c:ext>
                    </c:extLst>
                    <c:strCache>
                      <c:ptCount val="1"/>
                      <c:pt idx="0">
                        <c:v>Tutar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TarihselVeri!$A$218:$A$267</c15:sqref>
                        </c15:formulaRef>
                      </c:ext>
                    </c:extLst>
                    <c:numCache>
                      <c:formatCode>m/d/yyyy</c:formatCode>
                      <c:ptCount val="50"/>
                      <c:pt idx="0">
                        <c:v>45289</c:v>
                      </c:pt>
                      <c:pt idx="1">
                        <c:v>45296</c:v>
                      </c:pt>
                      <c:pt idx="2">
                        <c:v>45303</c:v>
                      </c:pt>
                      <c:pt idx="3">
                        <c:v>45310</c:v>
                      </c:pt>
                      <c:pt idx="4">
                        <c:v>45317</c:v>
                      </c:pt>
                      <c:pt idx="5">
                        <c:v>45324</c:v>
                      </c:pt>
                      <c:pt idx="6">
                        <c:v>45331</c:v>
                      </c:pt>
                      <c:pt idx="7">
                        <c:v>45338</c:v>
                      </c:pt>
                      <c:pt idx="8">
                        <c:v>45345</c:v>
                      </c:pt>
                      <c:pt idx="9">
                        <c:v>45352</c:v>
                      </c:pt>
                      <c:pt idx="10">
                        <c:v>45359</c:v>
                      </c:pt>
                      <c:pt idx="11">
                        <c:v>45366</c:v>
                      </c:pt>
                      <c:pt idx="12">
                        <c:v>45373</c:v>
                      </c:pt>
                      <c:pt idx="13">
                        <c:v>45380</c:v>
                      </c:pt>
                      <c:pt idx="14">
                        <c:v>45387</c:v>
                      </c:pt>
                      <c:pt idx="15">
                        <c:v>45394</c:v>
                      </c:pt>
                      <c:pt idx="16">
                        <c:v>45401</c:v>
                      </c:pt>
                      <c:pt idx="17">
                        <c:v>45408</c:v>
                      </c:pt>
                      <c:pt idx="18">
                        <c:v>45415</c:v>
                      </c:pt>
                      <c:pt idx="19">
                        <c:v>45422</c:v>
                      </c:pt>
                      <c:pt idx="20">
                        <c:v>45429</c:v>
                      </c:pt>
                      <c:pt idx="21">
                        <c:v>45436</c:v>
                      </c:pt>
                      <c:pt idx="22">
                        <c:v>45443</c:v>
                      </c:pt>
                      <c:pt idx="23">
                        <c:v>45450</c:v>
                      </c:pt>
                      <c:pt idx="24">
                        <c:v>45464</c:v>
                      </c:pt>
                      <c:pt idx="25">
                        <c:v>45471</c:v>
                      </c:pt>
                      <c:pt idx="26">
                        <c:v>45478</c:v>
                      </c:pt>
                      <c:pt idx="27">
                        <c:v>45485</c:v>
                      </c:pt>
                      <c:pt idx="28">
                        <c:v>45492</c:v>
                      </c:pt>
                      <c:pt idx="29">
                        <c:v>45499</c:v>
                      </c:pt>
                      <c:pt idx="30">
                        <c:v>45506</c:v>
                      </c:pt>
                      <c:pt idx="31">
                        <c:v>45513</c:v>
                      </c:pt>
                      <c:pt idx="32">
                        <c:v>45520</c:v>
                      </c:pt>
                      <c:pt idx="33">
                        <c:v>45527</c:v>
                      </c:pt>
                      <c:pt idx="34">
                        <c:v>45533</c:v>
                      </c:pt>
                      <c:pt idx="35">
                        <c:v>45541</c:v>
                      </c:pt>
                      <c:pt idx="36">
                        <c:v>45548</c:v>
                      </c:pt>
                      <c:pt idx="37">
                        <c:v>45555</c:v>
                      </c:pt>
                      <c:pt idx="38">
                        <c:v>45562</c:v>
                      </c:pt>
                      <c:pt idx="39">
                        <c:v>45569</c:v>
                      </c:pt>
                      <c:pt idx="40">
                        <c:v>45576</c:v>
                      </c:pt>
                      <c:pt idx="41">
                        <c:v>45583</c:v>
                      </c:pt>
                      <c:pt idx="42">
                        <c:v>45590</c:v>
                      </c:pt>
                      <c:pt idx="43">
                        <c:v>45597</c:v>
                      </c:pt>
                      <c:pt idx="44">
                        <c:v>45604</c:v>
                      </c:pt>
                      <c:pt idx="45">
                        <c:v>45611</c:v>
                      </c:pt>
                      <c:pt idx="46">
                        <c:v>45618</c:v>
                      </c:pt>
                      <c:pt idx="47">
                        <c:v>45625</c:v>
                      </c:pt>
                      <c:pt idx="48">
                        <c:v>45632</c:v>
                      </c:pt>
                      <c:pt idx="49">
                        <c:v>45639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TarihselVeri!$B$218:$B$267</c15:sqref>
                        </c15:formulaRef>
                      </c:ext>
                    </c:extLst>
                    <c:numCache>
                      <c:formatCode>#,##0_ ;\-#,##0\ </c:formatCode>
                      <c:ptCount val="50"/>
                      <c:pt idx="0">
                        <c:v>24207.7</c:v>
                      </c:pt>
                      <c:pt idx="1">
                        <c:v>30528.600000000002</c:v>
                      </c:pt>
                      <c:pt idx="2">
                        <c:v>39278</c:v>
                      </c:pt>
                      <c:pt idx="3">
                        <c:v>35517.300000000003</c:v>
                      </c:pt>
                      <c:pt idx="4">
                        <c:v>39279.1</c:v>
                      </c:pt>
                      <c:pt idx="5">
                        <c:v>41262.199999999997</c:v>
                      </c:pt>
                      <c:pt idx="6">
                        <c:v>42466.7</c:v>
                      </c:pt>
                      <c:pt idx="7">
                        <c:v>38359</c:v>
                      </c:pt>
                      <c:pt idx="8">
                        <c:v>35013.700999999994</c:v>
                      </c:pt>
                      <c:pt idx="9">
                        <c:v>40295.900999999998</c:v>
                      </c:pt>
                      <c:pt idx="10">
                        <c:v>49556.3</c:v>
                      </c:pt>
                      <c:pt idx="11">
                        <c:v>48643.1</c:v>
                      </c:pt>
                      <c:pt idx="12">
                        <c:v>51374.61</c:v>
                      </c:pt>
                      <c:pt idx="13">
                        <c:v>52812.5</c:v>
                      </c:pt>
                      <c:pt idx="14">
                        <c:v>52045.91</c:v>
                      </c:pt>
                      <c:pt idx="15">
                        <c:v>50517.510000000009</c:v>
                      </c:pt>
                      <c:pt idx="16">
                        <c:v>43294.51</c:v>
                      </c:pt>
                      <c:pt idx="17">
                        <c:v>44265.610000000008</c:v>
                      </c:pt>
                      <c:pt idx="18">
                        <c:v>46307.21</c:v>
                      </c:pt>
                      <c:pt idx="19">
                        <c:v>45760.01</c:v>
                      </c:pt>
                      <c:pt idx="20">
                        <c:v>46666.909999999996</c:v>
                      </c:pt>
                      <c:pt idx="21">
                        <c:v>45833.899999999994</c:v>
                      </c:pt>
                      <c:pt idx="22">
                        <c:v>49439.3</c:v>
                      </c:pt>
                      <c:pt idx="23">
                        <c:v>52115.600000000006</c:v>
                      </c:pt>
                      <c:pt idx="24">
                        <c:v>42131.600000000006</c:v>
                      </c:pt>
                      <c:pt idx="25">
                        <c:v>32054.620000000003</c:v>
                      </c:pt>
                      <c:pt idx="26">
                        <c:v>32489.32</c:v>
                      </c:pt>
                      <c:pt idx="27">
                        <c:v>34392.33</c:v>
                      </c:pt>
                      <c:pt idx="28">
                        <c:v>38698.730000000003</c:v>
                      </c:pt>
                      <c:pt idx="29">
                        <c:v>31989.839999999997</c:v>
                      </c:pt>
                      <c:pt idx="30">
                        <c:v>33329.07</c:v>
                      </c:pt>
                      <c:pt idx="31">
                        <c:v>36055.350000000006</c:v>
                      </c:pt>
                      <c:pt idx="32">
                        <c:v>37249.14</c:v>
                      </c:pt>
                      <c:pt idx="33">
                        <c:v>28075.340000000004</c:v>
                      </c:pt>
                      <c:pt idx="34">
                        <c:v>32914.54</c:v>
                      </c:pt>
                      <c:pt idx="35">
                        <c:v>36649.14</c:v>
                      </c:pt>
                      <c:pt idx="36">
                        <c:v>33120.04</c:v>
                      </c:pt>
                      <c:pt idx="37">
                        <c:v>35097.25</c:v>
                      </c:pt>
                      <c:pt idx="38">
                        <c:v>34252.75</c:v>
                      </c:pt>
                      <c:pt idx="39">
                        <c:v>36564.949999999997</c:v>
                      </c:pt>
                      <c:pt idx="40">
                        <c:v>43736.75</c:v>
                      </c:pt>
                      <c:pt idx="41">
                        <c:v>38123.550000000003</c:v>
                      </c:pt>
                      <c:pt idx="42">
                        <c:v>41248.949999999997</c:v>
                      </c:pt>
                      <c:pt idx="43">
                        <c:v>42079.850000000006</c:v>
                      </c:pt>
                      <c:pt idx="44">
                        <c:v>55723.95</c:v>
                      </c:pt>
                      <c:pt idx="45">
                        <c:v>61289.248</c:v>
                      </c:pt>
                      <c:pt idx="46">
                        <c:v>53606.05</c:v>
                      </c:pt>
                      <c:pt idx="47">
                        <c:v>60994.05</c:v>
                      </c:pt>
                      <c:pt idx="48">
                        <c:v>56775.35</c:v>
                      </c:pt>
                      <c:pt idx="49">
                        <c:v>57110.649999999994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60F4-49C2-9DDD-D4A3A135A16C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3"/>
          <c:order val="3"/>
          <c:tx>
            <c:strRef>
              <c:f>TarihselVeri!$E$1</c:f>
              <c:strCache>
                <c:ptCount val="1"/>
                <c:pt idx="0">
                  <c:v>Maliyet (%) (1Y+ İslemler Dahil)</c:v>
                </c:pt>
              </c:strCache>
            </c:strRef>
          </c:tx>
          <c:spPr>
            <a:ln w="28575" cap="rnd">
              <a:solidFill>
                <a:srgbClr val="9E0000"/>
              </a:solidFill>
              <a:round/>
            </a:ln>
            <a:effectLst/>
          </c:spPr>
          <c:marker>
            <c:symbol val="none"/>
          </c:marker>
          <c:cat>
            <c:numRef>
              <c:f>TarihselVeri!$A$218:$A$267</c:f>
              <c:numCache>
                <c:formatCode>m/d/yyyy</c:formatCode>
                <c:ptCount val="50"/>
                <c:pt idx="0">
                  <c:v>45289</c:v>
                </c:pt>
                <c:pt idx="1">
                  <c:v>45296</c:v>
                </c:pt>
                <c:pt idx="2">
                  <c:v>45303</c:v>
                </c:pt>
                <c:pt idx="3">
                  <c:v>45310</c:v>
                </c:pt>
                <c:pt idx="4">
                  <c:v>45317</c:v>
                </c:pt>
                <c:pt idx="5">
                  <c:v>45324</c:v>
                </c:pt>
                <c:pt idx="6">
                  <c:v>45331</c:v>
                </c:pt>
                <c:pt idx="7">
                  <c:v>45338</c:v>
                </c:pt>
                <c:pt idx="8">
                  <c:v>45345</c:v>
                </c:pt>
                <c:pt idx="9">
                  <c:v>45352</c:v>
                </c:pt>
                <c:pt idx="10">
                  <c:v>45359</c:v>
                </c:pt>
                <c:pt idx="11">
                  <c:v>45366</c:v>
                </c:pt>
                <c:pt idx="12">
                  <c:v>45373</c:v>
                </c:pt>
                <c:pt idx="13">
                  <c:v>45380</c:v>
                </c:pt>
                <c:pt idx="14">
                  <c:v>45387</c:v>
                </c:pt>
                <c:pt idx="15">
                  <c:v>45394</c:v>
                </c:pt>
                <c:pt idx="16">
                  <c:v>45401</c:v>
                </c:pt>
                <c:pt idx="17">
                  <c:v>45408</c:v>
                </c:pt>
                <c:pt idx="18">
                  <c:v>45415</c:v>
                </c:pt>
                <c:pt idx="19">
                  <c:v>45422</c:v>
                </c:pt>
                <c:pt idx="20">
                  <c:v>45429</c:v>
                </c:pt>
                <c:pt idx="21">
                  <c:v>45436</c:v>
                </c:pt>
                <c:pt idx="22">
                  <c:v>45443</c:v>
                </c:pt>
                <c:pt idx="23">
                  <c:v>45450</c:v>
                </c:pt>
                <c:pt idx="24">
                  <c:v>45464</c:v>
                </c:pt>
                <c:pt idx="25">
                  <c:v>45471</c:v>
                </c:pt>
                <c:pt idx="26">
                  <c:v>45478</c:v>
                </c:pt>
                <c:pt idx="27">
                  <c:v>45485</c:v>
                </c:pt>
                <c:pt idx="28">
                  <c:v>45492</c:v>
                </c:pt>
                <c:pt idx="29">
                  <c:v>45499</c:v>
                </c:pt>
                <c:pt idx="30">
                  <c:v>45506</c:v>
                </c:pt>
                <c:pt idx="31">
                  <c:v>45513</c:v>
                </c:pt>
                <c:pt idx="32">
                  <c:v>45520</c:v>
                </c:pt>
                <c:pt idx="33">
                  <c:v>45527</c:v>
                </c:pt>
                <c:pt idx="34">
                  <c:v>45533</c:v>
                </c:pt>
                <c:pt idx="35">
                  <c:v>45541</c:v>
                </c:pt>
                <c:pt idx="36">
                  <c:v>45548</c:v>
                </c:pt>
                <c:pt idx="37">
                  <c:v>45555</c:v>
                </c:pt>
                <c:pt idx="38">
                  <c:v>45562</c:v>
                </c:pt>
                <c:pt idx="39">
                  <c:v>45569</c:v>
                </c:pt>
                <c:pt idx="40">
                  <c:v>45576</c:v>
                </c:pt>
                <c:pt idx="41">
                  <c:v>45583</c:v>
                </c:pt>
                <c:pt idx="42">
                  <c:v>45590</c:v>
                </c:pt>
                <c:pt idx="43">
                  <c:v>45597</c:v>
                </c:pt>
                <c:pt idx="44">
                  <c:v>45604</c:v>
                </c:pt>
                <c:pt idx="45">
                  <c:v>45611</c:v>
                </c:pt>
                <c:pt idx="46">
                  <c:v>45618</c:v>
                </c:pt>
                <c:pt idx="47">
                  <c:v>45625</c:v>
                </c:pt>
                <c:pt idx="48">
                  <c:v>45632</c:v>
                </c:pt>
                <c:pt idx="49">
                  <c:v>45639</c:v>
                </c:pt>
              </c:numCache>
            </c:numRef>
          </c:cat>
          <c:val>
            <c:numRef>
              <c:f>TarihselVeri!$E$218:$E$267</c:f>
              <c:numCache>
                <c:formatCode>#,##0.00_ ;\-#,##0.00\ </c:formatCode>
                <c:ptCount val="50"/>
                <c:pt idx="0">
                  <c:v>35.675342926012775</c:v>
                </c:pt>
                <c:pt idx="1">
                  <c:v>37.234161047203493</c:v>
                </c:pt>
                <c:pt idx="2">
                  <c:v>38.077111675306789</c:v>
                </c:pt>
                <c:pt idx="3">
                  <c:v>37.890487649986426</c:v>
                </c:pt>
                <c:pt idx="4">
                  <c:v>39.654441904790836</c:v>
                </c:pt>
                <c:pt idx="5">
                  <c:v>40.066587281693344</c:v>
                </c:pt>
                <c:pt idx="6">
                  <c:v>40.353904689853216</c:v>
                </c:pt>
                <c:pt idx="7">
                  <c:v>40.398379852073006</c:v>
                </c:pt>
                <c:pt idx="8">
                  <c:v>41.215241316925514</c:v>
                </c:pt>
                <c:pt idx="9">
                  <c:v>42.784832242818773</c:v>
                </c:pt>
                <c:pt idx="10">
                  <c:v>43.282888616540717</c:v>
                </c:pt>
                <c:pt idx="11">
                  <c:v>43.289522306531268</c:v>
                </c:pt>
                <c:pt idx="12">
                  <c:v>43.91873224338255</c:v>
                </c:pt>
                <c:pt idx="13">
                  <c:v>44.028554096307829</c:v>
                </c:pt>
                <c:pt idx="14">
                  <c:v>44.335063481646877</c:v>
                </c:pt>
                <c:pt idx="15">
                  <c:v>44.350892341071187</c:v>
                </c:pt>
                <c:pt idx="16">
                  <c:v>44.627879498688628</c:v>
                </c:pt>
                <c:pt idx="17">
                  <c:v>45.76665525696535</c:v>
                </c:pt>
                <c:pt idx="18">
                  <c:v>45.907008061369339</c:v>
                </c:pt>
                <c:pt idx="19">
                  <c:v>45.929333245440588</c:v>
                </c:pt>
                <c:pt idx="20">
                  <c:v>45.651660556190663</c:v>
                </c:pt>
                <c:pt idx="21">
                  <c:v>45.758165636243589</c:v>
                </c:pt>
                <c:pt idx="22">
                  <c:v>45.497762558922823</c:v>
                </c:pt>
                <c:pt idx="23">
                  <c:v>45.02</c:v>
                </c:pt>
                <c:pt idx="24">
                  <c:v>44.06</c:v>
                </c:pt>
                <c:pt idx="25">
                  <c:v>45.24</c:v>
                </c:pt>
                <c:pt idx="26">
                  <c:v>45.07</c:v>
                </c:pt>
                <c:pt idx="27">
                  <c:v>43.14</c:v>
                </c:pt>
                <c:pt idx="28">
                  <c:v>43.12</c:v>
                </c:pt>
                <c:pt idx="29">
                  <c:v>41.938145364136005</c:v>
                </c:pt>
                <c:pt idx="30">
                  <c:v>44.727091339654351</c:v>
                </c:pt>
                <c:pt idx="31">
                  <c:v>43.144702441409386</c:v>
                </c:pt>
                <c:pt idx="32">
                  <c:v>44.022800361706807</c:v>
                </c:pt>
                <c:pt idx="33">
                  <c:v>43.638655291291592</c:v>
                </c:pt>
                <c:pt idx="34">
                  <c:v>44.484528277483108</c:v>
                </c:pt>
                <c:pt idx="35">
                  <c:v>44.916702792631718</c:v>
                </c:pt>
                <c:pt idx="36">
                  <c:v>44.652606203292152</c:v>
                </c:pt>
                <c:pt idx="37">
                  <c:v>44.281999939318226</c:v>
                </c:pt>
                <c:pt idx="38">
                  <c:v>44.258961847798659</c:v>
                </c:pt>
                <c:pt idx="39">
                  <c:v>44.492144342125485</c:v>
                </c:pt>
                <c:pt idx="40">
                  <c:v>44.649427153666089</c:v>
                </c:pt>
                <c:pt idx="41">
                  <c:v>44.057209041521951</c:v>
                </c:pt>
                <c:pt idx="42">
                  <c:v>43.903989801234154</c:v>
                </c:pt>
                <c:pt idx="43">
                  <c:v>43.865386840888704</c:v>
                </c:pt>
                <c:pt idx="44">
                  <c:v>44.61923558009785</c:v>
                </c:pt>
                <c:pt idx="45">
                  <c:v>44.679816408384049</c:v>
                </c:pt>
                <c:pt idx="46">
                  <c:v>44.245632952175484</c:v>
                </c:pt>
                <c:pt idx="47">
                  <c:v>45.632308699923591</c:v>
                </c:pt>
                <c:pt idx="48">
                  <c:v>44.447613482542607</c:v>
                </c:pt>
                <c:pt idx="49">
                  <c:v>44.424018205472485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F4-49C2-9DDD-D4A3A135A16C}"/>
            </c:ext>
          </c:extLst>
        </c:ser>
        <c:ser>
          <c:idx val="4"/>
          <c:order val="4"/>
          <c:tx>
            <c:strRef>
              <c:f>TarihselVeri!$F$1</c:f>
              <c:strCache>
                <c:ptCount val="1"/>
                <c:pt idx="0">
                  <c:v>TCMB Politika Faizi (%)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TarihselVeri!$A$218:$A$267</c:f>
              <c:numCache>
                <c:formatCode>m/d/yyyy</c:formatCode>
                <c:ptCount val="50"/>
                <c:pt idx="0">
                  <c:v>45289</c:v>
                </c:pt>
                <c:pt idx="1">
                  <c:v>45296</c:v>
                </c:pt>
                <c:pt idx="2">
                  <c:v>45303</c:v>
                </c:pt>
                <c:pt idx="3">
                  <c:v>45310</c:v>
                </c:pt>
                <c:pt idx="4">
                  <c:v>45317</c:v>
                </c:pt>
                <c:pt idx="5">
                  <c:v>45324</c:v>
                </c:pt>
                <c:pt idx="6">
                  <c:v>45331</c:v>
                </c:pt>
                <c:pt idx="7">
                  <c:v>45338</c:v>
                </c:pt>
                <c:pt idx="8">
                  <c:v>45345</c:v>
                </c:pt>
                <c:pt idx="9">
                  <c:v>45352</c:v>
                </c:pt>
                <c:pt idx="10">
                  <c:v>45359</c:v>
                </c:pt>
                <c:pt idx="11">
                  <c:v>45366</c:v>
                </c:pt>
                <c:pt idx="12">
                  <c:v>45373</c:v>
                </c:pt>
                <c:pt idx="13">
                  <c:v>45380</c:v>
                </c:pt>
                <c:pt idx="14">
                  <c:v>45387</c:v>
                </c:pt>
                <c:pt idx="15">
                  <c:v>45394</c:v>
                </c:pt>
                <c:pt idx="16">
                  <c:v>45401</c:v>
                </c:pt>
                <c:pt idx="17">
                  <c:v>45408</c:v>
                </c:pt>
                <c:pt idx="18">
                  <c:v>45415</c:v>
                </c:pt>
                <c:pt idx="19">
                  <c:v>45422</c:v>
                </c:pt>
                <c:pt idx="20">
                  <c:v>45429</c:v>
                </c:pt>
                <c:pt idx="21">
                  <c:v>45436</c:v>
                </c:pt>
                <c:pt idx="22">
                  <c:v>45443</c:v>
                </c:pt>
                <c:pt idx="23">
                  <c:v>45450</c:v>
                </c:pt>
                <c:pt idx="24">
                  <c:v>45464</c:v>
                </c:pt>
                <c:pt idx="25">
                  <c:v>45471</c:v>
                </c:pt>
                <c:pt idx="26">
                  <c:v>45478</c:v>
                </c:pt>
                <c:pt idx="27">
                  <c:v>45485</c:v>
                </c:pt>
                <c:pt idx="28">
                  <c:v>45492</c:v>
                </c:pt>
                <c:pt idx="29">
                  <c:v>45499</c:v>
                </c:pt>
                <c:pt idx="30">
                  <c:v>45506</c:v>
                </c:pt>
                <c:pt idx="31">
                  <c:v>45513</c:v>
                </c:pt>
                <c:pt idx="32">
                  <c:v>45520</c:v>
                </c:pt>
                <c:pt idx="33">
                  <c:v>45527</c:v>
                </c:pt>
                <c:pt idx="34">
                  <c:v>45533</c:v>
                </c:pt>
                <c:pt idx="35">
                  <c:v>45541</c:v>
                </c:pt>
                <c:pt idx="36">
                  <c:v>45548</c:v>
                </c:pt>
                <c:pt idx="37">
                  <c:v>45555</c:v>
                </c:pt>
                <c:pt idx="38">
                  <c:v>45562</c:v>
                </c:pt>
                <c:pt idx="39">
                  <c:v>45569</c:v>
                </c:pt>
                <c:pt idx="40">
                  <c:v>45576</c:v>
                </c:pt>
                <c:pt idx="41">
                  <c:v>45583</c:v>
                </c:pt>
                <c:pt idx="42">
                  <c:v>45590</c:v>
                </c:pt>
                <c:pt idx="43">
                  <c:v>45597</c:v>
                </c:pt>
                <c:pt idx="44">
                  <c:v>45604</c:v>
                </c:pt>
                <c:pt idx="45">
                  <c:v>45611</c:v>
                </c:pt>
                <c:pt idx="46">
                  <c:v>45618</c:v>
                </c:pt>
                <c:pt idx="47">
                  <c:v>45625</c:v>
                </c:pt>
                <c:pt idx="48">
                  <c:v>45632</c:v>
                </c:pt>
                <c:pt idx="49">
                  <c:v>45639</c:v>
                </c:pt>
              </c:numCache>
            </c:numRef>
          </c:cat>
          <c:val>
            <c:numRef>
              <c:f>TarihselVeri!$F$218:$F$267</c:f>
              <c:numCache>
                <c:formatCode>#,##0.00_ ;\-#,##0.00\ </c:formatCode>
                <c:ptCount val="50"/>
                <c:pt idx="0">
                  <c:v>42.5</c:v>
                </c:pt>
                <c:pt idx="1">
                  <c:v>42.5</c:v>
                </c:pt>
                <c:pt idx="2">
                  <c:v>42.5</c:v>
                </c:pt>
                <c:pt idx="3">
                  <c:v>42.5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  <c:pt idx="8">
                  <c:v>45</c:v>
                </c:pt>
                <c:pt idx="9">
                  <c:v>45</c:v>
                </c:pt>
                <c:pt idx="10">
                  <c:v>45</c:v>
                </c:pt>
                <c:pt idx="11">
                  <c:v>45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</c:v>
                </c:pt>
                <c:pt idx="28">
                  <c:v>50</c:v>
                </c:pt>
                <c:pt idx="29">
                  <c:v>50</c:v>
                </c:pt>
                <c:pt idx="30">
                  <c:v>50</c:v>
                </c:pt>
                <c:pt idx="31">
                  <c:v>50</c:v>
                </c:pt>
                <c:pt idx="32">
                  <c:v>50</c:v>
                </c:pt>
                <c:pt idx="33">
                  <c:v>50</c:v>
                </c:pt>
                <c:pt idx="34">
                  <c:v>50</c:v>
                </c:pt>
                <c:pt idx="35">
                  <c:v>50</c:v>
                </c:pt>
                <c:pt idx="36">
                  <c:v>50</c:v>
                </c:pt>
                <c:pt idx="37">
                  <c:v>50</c:v>
                </c:pt>
                <c:pt idx="38">
                  <c:v>50</c:v>
                </c:pt>
                <c:pt idx="39">
                  <c:v>50</c:v>
                </c:pt>
                <c:pt idx="40">
                  <c:v>50</c:v>
                </c:pt>
                <c:pt idx="41">
                  <c:v>50</c:v>
                </c:pt>
                <c:pt idx="42">
                  <c:v>50</c:v>
                </c:pt>
                <c:pt idx="43">
                  <c:v>50</c:v>
                </c:pt>
                <c:pt idx="44">
                  <c:v>50</c:v>
                </c:pt>
                <c:pt idx="45">
                  <c:v>50</c:v>
                </c:pt>
                <c:pt idx="46">
                  <c:v>50</c:v>
                </c:pt>
                <c:pt idx="47">
                  <c:v>50</c:v>
                </c:pt>
                <c:pt idx="48">
                  <c:v>50</c:v>
                </c:pt>
                <c:pt idx="49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F4-49C2-9DDD-D4A3A135A1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5071775"/>
        <c:axId val="1401213455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TarihselVeri!$C$1</c15:sqref>
                        </c15:formulaRef>
                      </c:ext>
                    </c:extLst>
                    <c:strCache>
                      <c:ptCount val="1"/>
                      <c:pt idx="0">
                        <c:v>Maliyet (%)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TarihselVeri!$A$218:$A$267</c15:sqref>
                        </c15:formulaRef>
                      </c:ext>
                    </c:extLst>
                    <c:numCache>
                      <c:formatCode>m/d/yyyy</c:formatCode>
                      <c:ptCount val="50"/>
                      <c:pt idx="0">
                        <c:v>45289</c:v>
                      </c:pt>
                      <c:pt idx="1">
                        <c:v>45296</c:v>
                      </c:pt>
                      <c:pt idx="2">
                        <c:v>45303</c:v>
                      </c:pt>
                      <c:pt idx="3">
                        <c:v>45310</c:v>
                      </c:pt>
                      <c:pt idx="4">
                        <c:v>45317</c:v>
                      </c:pt>
                      <c:pt idx="5">
                        <c:v>45324</c:v>
                      </c:pt>
                      <c:pt idx="6">
                        <c:v>45331</c:v>
                      </c:pt>
                      <c:pt idx="7">
                        <c:v>45338</c:v>
                      </c:pt>
                      <c:pt idx="8">
                        <c:v>45345</c:v>
                      </c:pt>
                      <c:pt idx="9">
                        <c:v>45352</c:v>
                      </c:pt>
                      <c:pt idx="10">
                        <c:v>45359</c:v>
                      </c:pt>
                      <c:pt idx="11">
                        <c:v>45366</c:v>
                      </c:pt>
                      <c:pt idx="12">
                        <c:v>45373</c:v>
                      </c:pt>
                      <c:pt idx="13">
                        <c:v>45380</c:v>
                      </c:pt>
                      <c:pt idx="14">
                        <c:v>45387</c:v>
                      </c:pt>
                      <c:pt idx="15">
                        <c:v>45394</c:v>
                      </c:pt>
                      <c:pt idx="16">
                        <c:v>45401</c:v>
                      </c:pt>
                      <c:pt idx="17">
                        <c:v>45408</c:v>
                      </c:pt>
                      <c:pt idx="18">
                        <c:v>45415</c:v>
                      </c:pt>
                      <c:pt idx="19">
                        <c:v>45422</c:v>
                      </c:pt>
                      <c:pt idx="20">
                        <c:v>45429</c:v>
                      </c:pt>
                      <c:pt idx="21">
                        <c:v>45436</c:v>
                      </c:pt>
                      <c:pt idx="22">
                        <c:v>45443</c:v>
                      </c:pt>
                      <c:pt idx="23">
                        <c:v>45450</c:v>
                      </c:pt>
                      <c:pt idx="24">
                        <c:v>45464</c:v>
                      </c:pt>
                      <c:pt idx="25">
                        <c:v>45471</c:v>
                      </c:pt>
                      <c:pt idx="26">
                        <c:v>45478</c:v>
                      </c:pt>
                      <c:pt idx="27">
                        <c:v>45485</c:v>
                      </c:pt>
                      <c:pt idx="28">
                        <c:v>45492</c:v>
                      </c:pt>
                      <c:pt idx="29">
                        <c:v>45499</c:v>
                      </c:pt>
                      <c:pt idx="30">
                        <c:v>45506</c:v>
                      </c:pt>
                      <c:pt idx="31">
                        <c:v>45513</c:v>
                      </c:pt>
                      <c:pt idx="32">
                        <c:v>45520</c:v>
                      </c:pt>
                      <c:pt idx="33">
                        <c:v>45527</c:v>
                      </c:pt>
                      <c:pt idx="34">
                        <c:v>45533</c:v>
                      </c:pt>
                      <c:pt idx="35">
                        <c:v>45541</c:v>
                      </c:pt>
                      <c:pt idx="36">
                        <c:v>45548</c:v>
                      </c:pt>
                      <c:pt idx="37">
                        <c:v>45555</c:v>
                      </c:pt>
                      <c:pt idx="38">
                        <c:v>45562</c:v>
                      </c:pt>
                      <c:pt idx="39">
                        <c:v>45569</c:v>
                      </c:pt>
                      <c:pt idx="40">
                        <c:v>45576</c:v>
                      </c:pt>
                      <c:pt idx="41">
                        <c:v>45583</c:v>
                      </c:pt>
                      <c:pt idx="42">
                        <c:v>45590</c:v>
                      </c:pt>
                      <c:pt idx="43">
                        <c:v>45597</c:v>
                      </c:pt>
                      <c:pt idx="44">
                        <c:v>45604</c:v>
                      </c:pt>
                      <c:pt idx="45">
                        <c:v>45611</c:v>
                      </c:pt>
                      <c:pt idx="46">
                        <c:v>45618</c:v>
                      </c:pt>
                      <c:pt idx="47">
                        <c:v>45625</c:v>
                      </c:pt>
                      <c:pt idx="48">
                        <c:v>45632</c:v>
                      </c:pt>
                      <c:pt idx="49">
                        <c:v>45639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TarihselVeri!$C$218:$C$267</c15:sqref>
                        </c15:formulaRef>
                      </c:ext>
                    </c:extLst>
                    <c:numCache>
                      <c:formatCode>#,##0.00_ ;\-#,##0.00\ </c:formatCode>
                      <c:ptCount val="50"/>
                      <c:pt idx="0">
                        <c:v>35.819995414682104</c:v>
                      </c:pt>
                      <c:pt idx="1">
                        <c:v>37.360484922335118</c:v>
                      </c:pt>
                      <c:pt idx="2">
                        <c:v>38.180180737308419</c:v>
                      </c:pt>
                      <c:pt idx="3">
                        <c:v>38.003274122751442</c:v>
                      </c:pt>
                      <c:pt idx="4">
                        <c:v>39.766647810158588</c:v>
                      </c:pt>
                      <c:pt idx="5">
                        <c:v>40.17567383707123</c:v>
                      </c:pt>
                      <c:pt idx="6">
                        <c:v>40.461437055386931</c:v>
                      </c:pt>
                      <c:pt idx="7">
                        <c:v>40.517691284965721</c:v>
                      </c:pt>
                      <c:pt idx="8">
                        <c:v>41.216332143808508</c:v>
                      </c:pt>
                      <c:pt idx="9">
                        <c:v>42.787860095248895</c:v>
                      </c:pt>
                      <c:pt idx="10">
                        <c:v>43.285887352364881</c:v>
                      </c:pt>
                      <c:pt idx="11">
                        <c:v>43.292584621457095</c:v>
                      </c:pt>
                      <c:pt idx="12">
                        <c:v>43.922285755551236</c:v>
                      </c:pt>
                      <c:pt idx="13">
                        <c:v>44.032121902958579</c:v>
                      </c:pt>
                      <c:pt idx="14">
                        <c:v>44.338998322826903</c:v>
                      </c:pt>
                      <c:pt idx="15">
                        <c:v>44.354962962347123</c:v>
                      </c:pt>
                      <c:pt idx="16">
                        <c:v>44.632970877831852</c:v>
                      </c:pt>
                      <c:pt idx="17">
                        <c:v>45.773008708114496</c:v>
                      </c:pt>
                      <c:pt idx="18">
                        <c:v>45.913243250889003</c:v>
                      </c:pt>
                      <c:pt idx="19">
                        <c:v>45.935669048149251</c:v>
                      </c:pt>
                      <c:pt idx="20">
                        <c:v>45.65755549703205</c:v>
                      </c:pt>
                      <c:pt idx="21">
                        <c:v>45.764291801483182</c:v>
                      </c:pt>
                      <c:pt idx="22">
                        <c:v>45.503160704136178</c:v>
                      </c:pt>
                      <c:pt idx="23">
                        <c:v>45.251914685813844</c:v>
                      </c:pt>
                      <c:pt idx="24">
                        <c:v>44.197434965678966</c:v>
                      </c:pt>
                      <c:pt idx="25">
                        <c:v>45.520327650117203</c:v>
                      </c:pt>
                      <c:pt idx="26">
                        <c:v>45.350486255175547</c:v>
                      </c:pt>
                      <c:pt idx="27">
                        <c:v>43.558173921336525</c:v>
                      </c:pt>
                      <c:pt idx="28">
                        <c:v>43.436330238744269</c:v>
                      </c:pt>
                      <c:pt idx="29">
                        <c:v>42.258952251714916</c:v>
                      </c:pt>
                      <c:pt idx="30">
                        <c:v>45.269760848412517</c:v>
                      </c:pt>
                      <c:pt idx="31">
                        <c:v>43.523215927733325</c:v>
                      </c:pt>
                      <c:pt idx="32">
                        <c:v>44.455316444889732</c:v>
                      </c:pt>
                      <c:pt idx="33">
                        <c:v>44.174113510290525</c:v>
                      </c:pt>
                      <c:pt idx="34">
                        <c:v>45.01335789593292</c:v>
                      </c:pt>
                      <c:pt idx="35">
                        <c:v>45.424725791655682</c:v>
                      </c:pt>
                      <c:pt idx="36">
                        <c:v>45.192391464503061</c:v>
                      </c:pt>
                      <c:pt idx="37">
                        <c:v>44.761752929360561</c:v>
                      </c:pt>
                      <c:pt idx="38">
                        <c:v>44.748656239280052</c:v>
                      </c:pt>
                      <c:pt idx="39">
                        <c:v>44.968763337567815</c:v>
                      </c:pt>
                      <c:pt idx="40">
                        <c:v>45.057980394062206</c:v>
                      </c:pt>
                      <c:pt idx="41">
                        <c:v>44.482336875763139</c:v>
                      </c:pt>
                      <c:pt idx="42">
                        <c:v>44.286485379627841</c:v>
                      </c:pt>
                      <c:pt idx="43">
                        <c:v>44.237756139815133</c:v>
                      </c:pt>
                      <c:pt idx="44">
                        <c:v>44.938381862735866</c:v>
                      </c:pt>
                      <c:pt idx="45">
                        <c:v>44.972755962024529</c:v>
                      </c:pt>
                      <c:pt idx="46">
                        <c:v>44.55783627034635</c:v>
                      </c:pt>
                      <c:pt idx="47">
                        <c:v>45.919250401970309</c:v>
                      </c:pt>
                      <c:pt idx="48">
                        <c:v>44.752369382135036</c:v>
                      </c:pt>
                      <c:pt idx="49">
                        <c:v>44.725825813574176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60F4-49C2-9DDD-D4A3A135A16C}"/>
                  </c:ext>
                </c:extLst>
              </c15:ser>
            </c15:filteredLineSeries>
          </c:ext>
        </c:extLst>
      </c:lineChart>
      <c:catAx>
        <c:axId val="1395126575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1401223439"/>
        <c:crosses val="autoZero"/>
        <c:auto val="0"/>
        <c:lblAlgn val="ctr"/>
        <c:lblOffset val="100"/>
        <c:tickLblSkip val="4"/>
        <c:tickMarkSkip val="1"/>
        <c:noMultiLvlLbl val="0"/>
      </c:catAx>
      <c:valAx>
        <c:axId val="1401223439"/>
        <c:scaling>
          <c:orientation val="minMax"/>
          <c:max val="70000"/>
          <c:min val="15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;\-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1395126575"/>
        <c:crossesAt val="1"/>
        <c:crossBetween val="between"/>
      </c:valAx>
      <c:valAx>
        <c:axId val="1401213455"/>
        <c:scaling>
          <c:orientation val="minMax"/>
          <c:max val="52"/>
          <c:min val="32"/>
        </c:scaling>
        <c:delete val="0"/>
        <c:axPos val="r"/>
        <c:numFmt formatCode="#,##0.00_ ;\-#,##0.0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1395071775"/>
        <c:crosses val="max"/>
        <c:crossBetween val="between"/>
      </c:valAx>
      <c:dateAx>
        <c:axId val="1395071775"/>
        <c:scaling>
          <c:orientation val="minMax"/>
        </c:scaling>
        <c:delete val="1"/>
        <c:axPos val="b"/>
        <c:numFmt formatCode="m/d/yyyy" sourceLinked="1"/>
        <c:majorTickMark val="none"/>
        <c:minorTickMark val="none"/>
        <c:tickLblPos val="nextTo"/>
        <c:crossAx val="1401213455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tr-T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Arial" panose="020B0604020202020204" pitchFamily="34" charset="0"/>
          <a:cs typeface="Arial" panose="020B0604020202020204" pitchFamily="34" charset="0"/>
        </a:defRPr>
      </a:pPr>
      <a:endParaRPr lang="tr-T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tr-TR" sz="1600" b="1" i="0" u="none" strike="noStrike" kern="1200" spc="0" baseline="0">
                <a:solidFill>
                  <a:schemeClr val="tx2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tr-TR" sz="1600" b="1" dirty="0">
                <a:solidFill>
                  <a:schemeClr val="tx2"/>
                </a:solidFill>
                <a:effectLst/>
              </a:rPr>
              <a:t>TL Fonlama Maliyeti:</a:t>
            </a:r>
            <a:r>
              <a:rPr lang="tr-TR" sz="1600" b="1" baseline="0" dirty="0">
                <a:solidFill>
                  <a:schemeClr val="tx2"/>
                </a:solidFill>
                <a:effectLst/>
              </a:rPr>
              <a:t> </a:t>
            </a:r>
            <a:r>
              <a:rPr lang="tr-TR" sz="1600" b="1" dirty="0">
                <a:solidFill>
                  <a:schemeClr val="tx2"/>
                </a:solidFill>
                <a:effectLst/>
              </a:rPr>
              <a:t>Kuveyt Türk </a:t>
            </a:r>
            <a:r>
              <a:rPr lang="tr-TR" sz="1600" b="1" dirty="0" err="1">
                <a:solidFill>
                  <a:schemeClr val="tx2"/>
                </a:solidFill>
                <a:effectLst/>
              </a:rPr>
              <a:t>vs</a:t>
            </a:r>
            <a:r>
              <a:rPr lang="tr-TR" sz="1600" b="1" dirty="0">
                <a:solidFill>
                  <a:schemeClr val="tx2"/>
                </a:solidFill>
                <a:effectLst/>
              </a:rPr>
              <a:t> Sektör Karşılaştırması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tr-TR" sz="1600" b="1" i="0" u="none" strike="noStrike" kern="1200" spc="0" baseline="0">
              <a:solidFill>
                <a:schemeClr val="tx2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tr-TR"/>
        </a:p>
      </c:txPr>
    </c:title>
    <c:autoTitleDeleted val="0"/>
    <c:plotArea>
      <c:layout>
        <c:manualLayout>
          <c:layoutTarget val="inner"/>
          <c:xMode val="edge"/>
          <c:yMode val="edge"/>
          <c:x val="4.6372308730775337E-2"/>
          <c:y val="7.7204656867531321E-2"/>
          <c:w val="0.93150426891498561"/>
          <c:h val="0.82154963799622571"/>
        </c:manualLayout>
      </c:layout>
      <c:lineChart>
        <c:grouping val="standard"/>
        <c:varyColors val="0"/>
        <c:ser>
          <c:idx val="0"/>
          <c:order val="0"/>
          <c:tx>
            <c:strRef>
              <c:f>TarihselVeri!$I$1</c:f>
              <c:strCache>
                <c:ptCount val="1"/>
                <c:pt idx="0">
                  <c:v>Sektör Oran (%)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numRef>
              <c:f>TarihselVeri!$H$218:$H$267</c:f>
              <c:numCache>
                <c:formatCode>m/d/yyyy</c:formatCode>
                <c:ptCount val="50"/>
                <c:pt idx="0">
                  <c:v>45289</c:v>
                </c:pt>
                <c:pt idx="1">
                  <c:v>45296</c:v>
                </c:pt>
                <c:pt idx="2">
                  <c:v>45303</c:v>
                </c:pt>
                <c:pt idx="3">
                  <c:v>45310</c:v>
                </c:pt>
                <c:pt idx="4">
                  <c:v>45317</c:v>
                </c:pt>
                <c:pt idx="5">
                  <c:v>45324</c:v>
                </c:pt>
                <c:pt idx="6">
                  <c:v>45331</c:v>
                </c:pt>
                <c:pt idx="7">
                  <c:v>45338</c:v>
                </c:pt>
                <c:pt idx="8">
                  <c:v>45345</c:v>
                </c:pt>
                <c:pt idx="9">
                  <c:v>45352</c:v>
                </c:pt>
                <c:pt idx="10">
                  <c:v>45359</c:v>
                </c:pt>
                <c:pt idx="11">
                  <c:v>45366</c:v>
                </c:pt>
                <c:pt idx="12">
                  <c:v>45373</c:v>
                </c:pt>
                <c:pt idx="13">
                  <c:v>45380</c:v>
                </c:pt>
                <c:pt idx="14">
                  <c:v>45387</c:v>
                </c:pt>
                <c:pt idx="15">
                  <c:v>45394</c:v>
                </c:pt>
                <c:pt idx="16">
                  <c:v>45401</c:v>
                </c:pt>
                <c:pt idx="17">
                  <c:v>45408</c:v>
                </c:pt>
                <c:pt idx="18">
                  <c:v>45415</c:v>
                </c:pt>
                <c:pt idx="19">
                  <c:v>45422</c:v>
                </c:pt>
                <c:pt idx="20">
                  <c:v>45429</c:v>
                </c:pt>
                <c:pt idx="21">
                  <c:v>45436</c:v>
                </c:pt>
                <c:pt idx="22">
                  <c:v>45443</c:v>
                </c:pt>
                <c:pt idx="23">
                  <c:v>45450</c:v>
                </c:pt>
                <c:pt idx="24">
                  <c:v>45464</c:v>
                </c:pt>
                <c:pt idx="25">
                  <c:v>45471</c:v>
                </c:pt>
                <c:pt idx="26">
                  <c:v>45478</c:v>
                </c:pt>
                <c:pt idx="27">
                  <c:v>45485</c:v>
                </c:pt>
                <c:pt idx="28">
                  <c:v>45492</c:v>
                </c:pt>
                <c:pt idx="29">
                  <c:v>45499</c:v>
                </c:pt>
                <c:pt idx="30">
                  <c:v>45506</c:v>
                </c:pt>
                <c:pt idx="31">
                  <c:v>45513</c:v>
                </c:pt>
                <c:pt idx="32">
                  <c:v>45520</c:v>
                </c:pt>
                <c:pt idx="33">
                  <c:v>45527</c:v>
                </c:pt>
                <c:pt idx="34">
                  <c:v>45533</c:v>
                </c:pt>
                <c:pt idx="35">
                  <c:v>45541</c:v>
                </c:pt>
                <c:pt idx="36">
                  <c:v>45548</c:v>
                </c:pt>
                <c:pt idx="37">
                  <c:v>45555</c:v>
                </c:pt>
                <c:pt idx="38">
                  <c:v>45562</c:v>
                </c:pt>
                <c:pt idx="39">
                  <c:v>45569</c:v>
                </c:pt>
                <c:pt idx="40">
                  <c:v>45576</c:v>
                </c:pt>
                <c:pt idx="41">
                  <c:v>45583</c:v>
                </c:pt>
                <c:pt idx="42">
                  <c:v>45590</c:v>
                </c:pt>
                <c:pt idx="43">
                  <c:v>45597</c:v>
                </c:pt>
                <c:pt idx="44">
                  <c:v>45604</c:v>
                </c:pt>
                <c:pt idx="45">
                  <c:v>45611</c:v>
                </c:pt>
                <c:pt idx="46">
                  <c:v>45618</c:v>
                </c:pt>
                <c:pt idx="47">
                  <c:v>45625</c:v>
                </c:pt>
                <c:pt idx="48">
                  <c:v>45632</c:v>
                </c:pt>
                <c:pt idx="49">
                  <c:v>45639</c:v>
                </c:pt>
              </c:numCache>
            </c:numRef>
          </c:cat>
          <c:val>
            <c:numRef>
              <c:f>TarihselVeri!$I$218:$I$267</c:f>
              <c:numCache>
                <c:formatCode>#,##0.00_ ;\-#,##0.00\ </c:formatCode>
                <c:ptCount val="50"/>
                <c:pt idx="0">
                  <c:v>37.409999999999997</c:v>
                </c:pt>
                <c:pt idx="1">
                  <c:v>37.950000000000003</c:v>
                </c:pt>
                <c:pt idx="2">
                  <c:v>38.659999999999997</c:v>
                </c:pt>
                <c:pt idx="3">
                  <c:v>39.49</c:v>
                </c:pt>
                <c:pt idx="4">
                  <c:v>40.5</c:v>
                </c:pt>
                <c:pt idx="5">
                  <c:v>40.79</c:v>
                </c:pt>
                <c:pt idx="6">
                  <c:v>40.93</c:v>
                </c:pt>
                <c:pt idx="7">
                  <c:v>41.21</c:v>
                </c:pt>
                <c:pt idx="8">
                  <c:v>42.13</c:v>
                </c:pt>
                <c:pt idx="9">
                  <c:v>43.28</c:v>
                </c:pt>
                <c:pt idx="10">
                  <c:v>44.19</c:v>
                </c:pt>
                <c:pt idx="11">
                  <c:v>44.36</c:v>
                </c:pt>
                <c:pt idx="12">
                  <c:v>45.1</c:v>
                </c:pt>
                <c:pt idx="13">
                  <c:v>45.71</c:v>
                </c:pt>
                <c:pt idx="14">
                  <c:v>45.73</c:v>
                </c:pt>
                <c:pt idx="15">
                  <c:v>45.36</c:v>
                </c:pt>
                <c:pt idx="16">
                  <c:v>45.19</c:v>
                </c:pt>
                <c:pt idx="17">
                  <c:v>45.95</c:v>
                </c:pt>
                <c:pt idx="18">
                  <c:v>46.02</c:v>
                </c:pt>
                <c:pt idx="19">
                  <c:v>46.46</c:v>
                </c:pt>
                <c:pt idx="20">
                  <c:v>46.57</c:v>
                </c:pt>
                <c:pt idx="21">
                  <c:v>46.56</c:v>
                </c:pt>
                <c:pt idx="22">
                  <c:v>46.22</c:v>
                </c:pt>
                <c:pt idx="23">
                  <c:v>46.24</c:v>
                </c:pt>
                <c:pt idx="24">
                  <c:v>46.95</c:v>
                </c:pt>
                <c:pt idx="25">
                  <c:v>47.14</c:v>
                </c:pt>
                <c:pt idx="26">
                  <c:v>47.04</c:v>
                </c:pt>
                <c:pt idx="27">
                  <c:v>47.13</c:v>
                </c:pt>
                <c:pt idx="28">
                  <c:v>46.76</c:v>
                </c:pt>
                <c:pt idx="29">
                  <c:v>46.38</c:v>
                </c:pt>
                <c:pt idx="30">
                  <c:v>47.02</c:v>
                </c:pt>
                <c:pt idx="31">
                  <c:v>46.62</c:v>
                </c:pt>
                <c:pt idx="32">
                  <c:v>46.83</c:v>
                </c:pt>
                <c:pt idx="33">
                  <c:v>47.14</c:v>
                </c:pt>
                <c:pt idx="34">
                  <c:v>47.1</c:v>
                </c:pt>
                <c:pt idx="35">
                  <c:v>47.34</c:v>
                </c:pt>
                <c:pt idx="36">
                  <c:v>47.33</c:v>
                </c:pt>
                <c:pt idx="37">
                  <c:v>46.9</c:v>
                </c:pt>
                <c:pt idx="38">
                  <c:v>45.76</c:v>
                </c:pt>
                <c:pt idx="39">
                  <c:v>45.99</c:v>
                </c:pt>
                <c:pt idx="40">
                  <c:v>46.29</c:v>
                </c:pt>
                <c:pt idx="41">
                  <c:v>46.24</c:v>
                </c:pt>
                <c:pt idx="42">
                  <c:v>46.07</c:v>
                </c:pt>
                <c:pt idx="43">
                  <c:v>45.58</c:v>
                </c:pt>
                <c:pt idx="44">
                  <c:v>45.89</c:v>
                </c:pt>
                <c:pt idx="45">
                  <c:v>45.32</c:v>
                </c:pt>
                <c:pt idx="46">
                  <c:v>45.86</c:v>
                </c:pt>
                <c:pt idx="47">
                  <c:v>45.62</c:v>
                </c:pt>
                <c:pt idx="48">
                  <c:v>45.44</c:v>
                </c:pt>
                <c:pt idx="49">
                  <c:v>45.18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35-4B29-A81B-9B9416AFCA21}"/>
            </c:ext>
          </c:extLst>
        </c:ser>
        <c:ser>
          <c:idx val="2"/>
          <c:order val="2"/>
          <c:tx>
            <c:strRef>
              <c:f>TarihselVeri!$K$1</c:f>
              <c:strCache>
                <c:ptCount val="1"/>
                <c:pt idx="0">
                  <c:v>KT Oran (%) (1Y+ İslemler Dahil)</c:v>
                </c:pt>
              </c:strCache>
            </c:strRef>
          </c:tx>
          <c:spPr>
            <a:ln w="28575" cap="rnd">
              <a:solidFill>
                <a:srgbClr val="9E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E0000"/>
              </a:solidFill>
              <a:ln w="9525">
                <a:solidFill>
                  <a:srgbClr val="9E0000"/>
                </a:solidFill>
              </a:ln>
              <a:effectLst/>
            </c:spPr>
          </c:marker>
          <c:cat>
            <c:numRef>
              <c:f>TarihselVeri!$H$218:$H$267</c:f>
              <c:numCache>
                <c:formatCode>m/d/yyyy</c:formatCode>
                <c:ptCount val="50"/>
                <c:pt idx="0">
                  <c:v>45289</c:v>
                </c:pt>
                <c:pt idx="1">
                  <c:v>45296</c:v>
                </c:pt>
                <c:pt idx="2">
                  <c:v>45303</c:v>
                </c:pt>
                <c:pt idx="3">
                  <c:v>45310</c:v>
                </c:pt>
                <c:pt idx="4">
                  <c:v>45317</c:v>
                </c:pt>
                <c:pt idx="5">
                  <c:v>45324</c:v>
                </c:pt>
                <c:pt idx="6">
                  <c:v>45331</c:v>
                </c:pt>
                <c:pt idx="7">
                  <c:v>45338</c:v>
                </c:pt>
                <c:pt idx="8">
                  <c:v>45345</c:v>
                </c:pt>
                <c:pt idx="9">
                  <c:v>45352</c:v>
                </c:pt>
                <c:pt idx="10">
                  <c:v>45359</c:v>
                </c:pt>
                <c:pt idx="11">
                  <c:v>45366</c:v>
                </c:pt>
                <c:pt idx="12">
                  <c:v>45373</c:v>
                </c:pt>
                <c:pt idx="13">
                  <c:v>45380</c:v>
                </c:pt>
                <c:pt idx="14">
                  <c:v>45387</c:v>
                </c:pt>
                <c:pt idx="15">
                  <c:v>45394</c:v>
                </c:pt>
                <c:pt idx="16">
                  <c:v>45401</c:v>
                </c:pt>
                <c:pt idx="17">
                  <c:v>45408</c:v>
                </c:pt>
                <c:pt idx="18">
                  <c:v>45415</c:v>
                </c:pt>
                <c:pt idx="19">
                  <c:v>45422</c:v>
                </c:pt>
                <c:pt idx="20">
                  <c:v>45429</c:v>
                </c:pt>
                <c:pt idx="21">
                  <c:v>45436</c:v>
                </c:pt>
                <c:pt idx="22">
                  <c:v>45443</c:v>
                </c:pt>
                <c:pt idx="23">
                  <c:v>45450</c:v>
                </c:pt>
                <c:pt idx="24">
                  <c:v>45464</c:v>
                </c:pt>
                <c:pt idx="25">
                  <c:v>45471</c:v>
                </c:pt>
                <c:pt idx="26">
                  <c:v>45478</c:v>
                </c:pt>
                <c:pt idx="27">
                  <c:v>45485</c:v>
                </c:pt>
                <c:pt idx="28">
                  <c:v>45492</c:v>
                </c:pt>
                <c:pt idx="29">
                  <c:v>45499</c:v>
                </c:pt>
                <c:pt idx="30">
                  <c:v>45506</c:v>
                </c:pt>
                <c:pt idx="31">
                  <c:v>45513</c:v>
                </c:pt>
                <c:pt idx="32">
                  <c:v>45520</c:v>
                </c:pt>
                <c:pt idx="33">
                  <c:v>45527</c:v>
                </c:pt>
                <c:pt idx="34">
                  <c:v>45533</c:v>
                </c:pt>
                <c:pt idx="35">
                  <c:v>45541</c:v>
                </c:pt>
                <c:pt idx="36">
                  <c:v>45548</c:v>
                </c:pt>
                <c:pt idx="37">
                  <c:v>45555</c:v>
                </c:pt>
                <c:pt idx="38">
                  <c:v>45562</c:v>
                </c:pt>
                <c:pt idx="39">
                  <c:v>45569</c:v>
                </c:pt>
                <c:pt idx="40">
                  <c:v>45576</c:v>
                </c:pt>
                <c:pt idx="41">
                  <c:v>45583</c:v>
                </c:pt>
                <c:pt idx="42">
                  <c:v>45590</c:v>
                </c:pt>
                <c:pt idx="43">
                  <c:v>45597</c:v>
                </c:pt>
                <c:pt idx="44">
                  <c:v>45604</c:v>
                </c:pt>
                <c:pt idx="45">
                  <c:v>45611</c:v>
                </c:pt>
                <c:pt idx="46">
                  <c:v>45618</c:v>
                </c:pt>
                <c:pt idx="47">
                  <c:v>45625</c:v>
                </c:pt>
                <c:pt idx="48">
                  <c:v>45632</c:v>
                </c:pt>
                <c:pt idx="49">
                  <c:v>45639</c:v>
                </c:pt>
              </c:numCache>
            </c:numRef>
          </c:cat>
          <c:val>
            <c:numRef>
              <c:f>TarihselVeri!$K$218:$K$267</c:f>
              <c:numCache>
                <c:formatCode>#,##0.00_ ;\-#,##0.00\ </c:formatCode>
                <c:ptCount val="50"/>
                <c:pt idx="0">
                  <c:v>35.675342926012775</c:v>
                </c:pt>
                <c:pt idx="1">
                  <c:v>37.234161047203493</c:v>
                </c:pt>
                <c:pt idx="2">
                  <c:v>38.077111675306789</c:v>
                </c:pt>
                <c:pt idx="3">
                  <c:v>37.890487649986426</c:v>
                </c:pt>
                <c:pt idx="4">
                  <c:v>39.654441904790836</c:v>
                </c:pt>
                <c:pt idx="5">
                  <c:v>40.066587281693344</c:v>
                </c:pt>
                <c:pt idx="6">
                  <c:v>40.353904689853216</c:v>
                </c:pt>
                <c:pt idx="7">
                  <c:v>40.398379852073006</c:v>
                </c:pt>
                <c:pt idx="8">
                  <c:v>41.215241316925514</c:v>
                </c:pt>
                <c:pt idx="9">
                  <c:v>42.784832242818773</c:v>
                </c:pt>
                <c:pt idx="10">
                  <c:v>43.282888616540717</c:v>
                </c:pt>
                <c:pt idx="11">
                  <c:v>43.289522306531268</c:v>
                </c:pt>
                <c:pt idx="12">
                  <c:v>43.91873224338255</c:v>
                </c:pt>
                <c:pt idx="13">
                  <c:v>44.028554096307829</c:v>
                </c:pt>
                <c:pt idx="14">
                  <c:v>44.335063481646877</c:v>
                </c:pt>
                <c:pt idx="15">
                  <c:v>44.350892341071187</c:v>
                </c:pt>
                <c:pt idx="16">
                  <c:v>44.627879498688628</c:v>
                </c:pt>
                <c:pt idx="17">
                  <c:v>45.76665525696535</c:v>
                </c:pt>
                <c:pt idx="18">
                  <c:v>45.907008061369339</c:v>
                </c:pt>
                <c:pt idx="19">
                  <c:v>45.929333245440588</c:v>
                </c:pt>
                <c:pt idx="20">
                  <c:v>45.651660556190663</c:v>
                </c:pt>
                <c:pt idx="21">
                  <c:v>45.758165636243589</c:v>
                </c:pt>
                <c:pt idx="22">
                  <c:v>45.497762558922823</c:v>
                </c:pt>
                <c:pt idx="23">
                  <c:v>45.02</c:v>
                </c:pt>
                <c:pt idx="24">
                  <c:v>44.06</c:v>
                </c:pt>
                <c:pt idx="25">
                  <c:v>45.24</c:v>
                </c:pt>
                <c:pt idx="26">
                  <c:v>45.07</c:v>
                </c:pt>
                <c:pt idx="27">
                  <c:v>43.14</c:v>
                </c:pt>
                <c:pt idx="28">
                  <c:v>43.12</c:v>
                </c:pt>
                <c:pt idx="29">
                  <c:v>41.938145364136005</c:v>
                </c:pt>
                <c:pt idx="30">
                  <c:v>44.727091339654351</c:v>
                </c:pt>
                <c:pt idx="31">
                  <c:v>43.144702441409386</c:v>
                </c:pt>
                <c:pt idx="32">
                  <c:v>44.022800361706807</c:v>
                </c:pt>
                <c:pt idx="33">
                  <c:v>43.638655291291592</c:v>
                </c:pt>
                <c:pt idx="34">
                  <c:v>44.484528277483108</c:v>
                </c:pt>
                <c:pt idx="35">
                  <c:v>44.916702792631718</c:v>
                </c:pt>
                <c:pt idx="36">
                  <c:v>44.652606203292152</c:v>
                </c:pt>
                <c:pt idx="37">
                  <c:v>44.281999939318226</c:v>
                </c:pt>
                <c:pt idx="38">
                  <c:v>44.258961847798659</c:v>
                </c:pt>
                <c:pt idx="39">
                  <c:v>44.492144342125485</c:v>
                </c:pt>
                <c:pt idx="40">
                  <c:v>44.649427153666089</c:v>
                </c:pt>
                <c:pt idx="41">
                  <c:v>44.057209041521951</c:v>
                </c:pt>
                <c:pt idx="42">
                  <c:v>43.903989801234154</c:v>
                </c:pt>
                <c:pt idx="43">
                  <c:v>43.865386840888704</c:v>
                </c:pt>
                <c:pt idx="44">
                  <c:v>44.61923558009785</c:v>
                </c:pt>
                <c:pt idx="45">
                  <c:v>44.679816408384049</c:v>
                </c:pt>
                <c:pt idx="46">
                  <c:v>44.245632952175484</c:v>
                </c:pt>
                <c:pt idx="47">
                  <c:v>45.632308699923591</c:v>
                </c:pt>
                <c:pt idx="48">
                  <c:v>44.447613482542607</c:v>
                </c:pt>
                <c:pt idx="49">
                  <c:v>44.424018205472485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35-4B29-A81B-9B9416AFC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053600"/>
        <c:axId val="907543216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TarihselVeri!$J$1</c15:sqref>
                        </c15:formulaRef>
                      </c:ext>
                    </c:extLst>
                    <c:strCache>
                      <c:ptCount val="1"/>
                      <c:pt idx="0">
                        <c:v>KT Oran (%)</c:v>
                      </c:pt>
                    </c:strCache>
                  </c:strRef>
                </c:tx>
                <c:spPr>
                  <a:ln w="28575" cap="rnd">
                    <a:solidFill>
                      <a:srgbClr val="288990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rgbClr val="288990"/>
                    </a:solidFill>
                    <a:ln w="9525">
                      <a:solidFill>
                        <a:srgbClr val="288990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TarihselVeri!$H$218:$H$267</c15:sqref>
                        </c15:formulaRef>
                      </c:ext>
                    </c:extLst>
                    <c:numCache>
                      <c:formatCode>m/d/yyyy</c:formatCode>
                      <c:ptCount val="50"/>
                      <c:pt idx="0">
                        <c:v>45289</c:v>
                      </c:pt>
                      <c:pt idx="1">
                        <c:v>45296</c:v>
                      </c:pt>
                      <c:pt idx="2">
                        <c:v>45303</c:v>
                      </c:pt>
                      <c:pt idx="3">
                        <c:v>45310</c:v>
                      </c:pt>
                      <c:pt idx="4">
                        <c:v>45317</c:v>
                      </c:pt>
                      <c:pt idx="5">
                        <c:v>45324</c:v>
                      </c:pt>
                      <c:pt idx="6">
                        <c:v>45331</c:v>
                      </c:pt>
                      <c:pt idx="7">
                        <c:v>45338</c:v>
                      </c:pt>
                      <c:pt idx="8">
                        <c:v>45345</c:v>
                      </c:pt>
                      <c:pt idx="9">
                        <c:v>45352</c:v>
                      </c:pt>
                      <c:pt idx="10">
                        <c:v>45359</c:v>
                      </c:pt>
                      <c:pt idx="11">
                        <c:v>45366</c:v>
                      </c:pt>
                      <c:pt idx="12">
                        <c:v>45373</c:v>
                      </c:pt>
                      <c:pt idx="13">
                        <c:v>45380</c:v>
                      </c:pt>
                      <c:pt idx="14">
                        <c:v>45387</c:v>
                      </c:pt>
                      <c:pt idx="15">
                        <c:v>45394</c:v>
                      </c:pt>
                      <c:pt idx="16">
                        <c:v>45401</c:v>
                      </c:pt>
                      <c:pt idx="17">
                        <c:v>45408</c:v>
                      </c:pt>
                      <c:pt idx="18">
                        <c:v>45415</c:v>
                      </c:pt>
                      <c:pt idx="19">
                        <c:v>45422</c:v>
                      </c:pt>
                      <c:pt idx="20">
                        <c:v>45429</c:v>
                      </c:pt>
                      <c:pt idx="21">
                        <c:v>45436</c:v>
                      </c:pt>
                      <c:pt idx="22">
                        <c:v>45443</c:v>
                      </c:pt>
                      <c:pt idx="23">
                        <c:v>45450</c:v>
                      </c:pt>
                      <c:pt idx="24">
                        <c:v>45464</c:v>
                      </c:pt>
                      <c:pt idx="25">
                        <c:v>45471</c:v>
                      </c:pt>
                      <c:pt idx="26">
                        <c:v>45478</c:v>
                      </c:pt>
                      <c:pt idx="27">
                        <c:v>45485</c:v>
                      </c:pt>
                      <c:pt idx="28">
                        <c:v>45492</c:v>
                      </c:pt>
                      <c:pt idx="29">
                        <c:v>45499</c:v>
                      </c:pt>
                      <c:pt idx="30">
                        <c:v>45506</c:v>
                      </c:pt>
                      <c:pt idx="31">
                        <c:v>45513</c:v>
                      </c:pt>
                      <c:pt idx="32">
                        <c:v>45520</c:v>
                      </c:pt>
                      <c:pt idx="33">
                        <c:v>45527</c:v>
                      </c:pt>
                      <c:pt idx="34">
                        <c:v>45533</c:v>
                      </c:pt>
                      <c:pt idx="35">
                        <c:v>45541</c:v>
                      </c:pt>
                      <c:pt idx="36">
                        <c:v>45548</c:v>
                      </c:pt>
                      <c:pt idx="37">
                        <c:v>45555</c:v>
                      </c:pt>
                      <c:pt idx="38">
                        <c:v>45562</c:v>
                      </c:pt>
                      <c:pt idx="39">
                        <c:v>45569</c:v>
                      </c:pt>
                      <c:pt idx="40">
                        <c:v>45576</c:v>
                      </c:pt>
                      <c:pt idx="41">
                        <c:v>45583</c:v>
                      </c:pt>
                      <c:pt idx="42">
                        <c:v>45590</c:v>
                      </c:pt>
                      <c:pt idx="43">
                        <c:v>45597</c:v>
                      </c:pt>
                      <c:pt idx="44">
                        <c:v>45604</c:v>
                      </c:pt>
                      <c:pt idx="45">
                        <c:v>45611</c:v>
                      </c:pt>
                      <c:pt idx="46">
                        <c:v>45618</c:v>
                      </c:pt>
                      <c:pt idx="47">
                        <c:v>45625</c:v>
                      </c:pt>
                      <c:pt idx="48">
                        <c:v>45632</c:v>
                      </c:pt>
                      <c:pt idx="49">
                        <c:v>45639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TarihselVeri!$J$218:$J$267</c15:sqref>
                        </c15:formulaRef>
                      </c:ext>
                    </c:extLst>
                    <c:numCache>
                      <c:formatCode>#,##0.00_ ;\-#,##0.00\ </c:formatCode>
                      <c:ptCount val="50"/>
                      <c:pt idx="0">
                        <c:v>35.819995414682104</c:v>
                      </c:pt>
                      <c:pt idx="1">
                        <c:v>37.360484922335118</c:v>
                      </c:pt>
                      <c:pt idx="2">
                        <c:v>38.180180737308419</c:v>
                      </c:pt>
                      <c:pt idx="3">
                        <c:v>38.003274122751442</c:v>
                      </c:pt>
                      <c:pt idx="4">
                        <c:v>39.766647810158588</c:v>
                      </c:pt>
                      <c:pt idx="5">
                        <c:v>40.17567383707123</c:v>
                      </c:pt>
                      <c:pt idx="6">
                        <c:v>40.461437055386931</c:v>
                      </c:pt>
                      <c:pt idx="7">
                        <c:v>40.517691284965721</c:v>
                      </c:pt>
                      <c:pt idx="8">
                        <c:v>41.216332143808508</c:v>
                      </c:pt>
                      <c:pt idx="9">
                        <c:v>42.787860095248895</c:v>
                      </c:pt>
                      <c:pt idx="10">
                        <c:v>43.285887352364881</c:v>
                      </c:pt>
                      <c:pt idx="11">
                        <c:v>43.292584621457095</c:v>
                      </c:pt>
                      <c:pt idx="12">
                        <c:v>43.922285755551236</c:v>
                      </c:pt>
                      <c:pt idx="13">
                        <c:v>44.032121902958579</c:v>
                      </c:pt>
                      <c:pt idx="14">
                        <c:v>44.338998322826903</c:v>
                      </c:pt>
                      <c:pt idx="15">
                        <c:v>44.354962962347123</c:v>
                      </c:pt>
                      <c:pt idx="16">
                        <c:v>44.632970877831852</c:v>
                      </c:pt>
                      <c:pt idx="17">
                        <c:v>45.773008708114496</c:v>
                      </c:pt>
                      <c:pt idx="18">
                        <c:v>45.913243250889003</c:v>
                      </c:pt>
                      <c:pt idx="19">
                        <c:v>45.935669048149251</c:v>
                      </c:pt>
                      <c:pt idx="20">
                        <c:v>45.65755549703205</c:v>
                      </c:pt>
                      <c:pt idx="21">
                        <c:v>45.764291801483182</c:v>
                      </c:pt>
                      <c:pt idx="22">
                        <c:v>45.503160704136178</c:v>
                      </c:pt>
                      <c:pt idx="23">
                        <c:v>45.251914685813844</c:v>
                      </c:pt>
                      <c:pt idx="24">
                        <c:v>44.197434965678966</c:v>
                      </c:pt>
                      <c:pt idx="25">
                        <c:v>45.520327650117203</c:v>
                      </c:pt>
                      <c:pt idx="26">
                        <c:v>45.350486255175547</c:v>
                      </c:pt>
                      <c:pt idx="27">
                        <c:v>43.558173921336525</c:v>
                      </c:pt>
                      <c:pt idx="28">
                        <c:v>43.436330238744269</c:v>
                      </c:pt>
                      <c:pt idx="29">
                        <c:v>42.258952251714916</c:v>
                      </c:pt>
                      <c:pt idx="30">
                        <c:v>45.269760848412517</c:v>
                      </c:pt>
                      <c:pt idx="31">
                        <c:v>43.523215927733325</c:v>
                      </c:pt>
                      <c:pt idx="32">
                        <c:v>44.455316444889732</c:v>
                      </c:pt>
                      <c:pt idx="33">
                        <c:v>44.174113510290525</c:v>
                      </c:pt>
                      <c:pt idx="34">
                        <c:v>45.01335789593292</c:v>
                      </c:pt>
                      <c:pt idx="35">
                        <c:v>45.424725791655682</c:v>
                      </c:pt>
                      <c:pt idx="36">
                        <c:v>45.192391464503061</c:v>
                      </c:pt>
                      <c:pt idx="37">
                        <c:v>44.761752929360561</c:v>
                      </c:pt>
                      <c:pt idx="38">
                        <c:v>44.748656239280052</c:v>
                      </c:pt>
                      <c:pt idx="39">
                        <c:v>44.968763337567815</c:v>
                      </c:pt>
                      <c:pt idx="40">
                        <c:v>45.057980394062206</c:v>
                      </c:pt>
                      <c:pt idx="41">
                        <c:v>44.482336875763139</c:v>
                      </c:pt>
                      <c:pt idx="42">
                        <c:v>44.286485379627841</c:v>
                      </c:pt>
                      <c:pt idx="43">
                        <c:v>44.237756139815133</c:v>
                      </c:pt>
                      <c:pt idx="44">
                        <c:v>44.938381862735866</c:v>
                      </c:pt>
                      <c:pt idx="45">
                        <c:v>44.972755962024529</c:v>
                      </c:pt>
                      <c:pt idx="46">
                        <c:v>44.55783627034635</c:v>
                      </c:pt>
                      <c:pt idx="47">
                        <c:v>45.919250401970309</c:v>
                      </c:pt>
                      <c:pt idx="48">
                        <c:v>44.752369382135036</c:v>
                      </c:pt>
                      <c:pt idx="49">
                        <c:v>44.725825813574176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C735-4B29-A81B-9B9416AFCA21}"/>
                  </c:ext>
                </c:extLst>
              </c15:ser>
            </c15:filteredLineSeries>
          </c:ext>
        </c:extLst>
      </c:lineChart>
      <c:catAx>
        <c:axId val="101205360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tr-TR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907543216"/>
        <c:crosses val="autoZero"/>
        <c:auto val="0"/>
        <c:lblAlgn val="ctr"/>
        <c:lblOffset val="100"/>
        <c:tickLblSkip val="4"/>
        <c:noMultiLvlLbl val="1"/>
      </c:catAx>
      <c:valAx>
        <c:axId val="907543216"/>
        <c:scaling>
          <c:orientation val="minMax"/>
          <c:max val="50"/>
          <c:min val="3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_ ;\-#,##0.0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tr-TR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tr-TR"/>
          </a:p>
        </c:txPr>
        <c:crossAx val="1012053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tr-TR" sz="10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tr-T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tr-TR" sz="900" b="0" i="0" u="none" strike="noStrike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6FDC4-94FD-4077-B4B0-136E666C111E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96BF1-32BB-447E-8351-2334C96404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5295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CA059-F6E7-4F61-8CA9-A8132537B19F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833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 altLang="zh-CN" sz="1400" b="1" dirty="0">
                <a:solidFill>
                  <a:srgbClr val="016865"/>
                </a:solidFill>
                <a:latin typeface="Arial" panose="020F0502020204030204"/>
                <a:ea typeface="微软雅黑"/>
                <a:cs typeface="+mn-ea"/>
                <a:sym typeface="+mn-lt"/>
              </a:rPr>
              <a:t>Avantajlar</a:t>
            </a:r>
            <a:endParaRPr lang="tr-TR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F0302020204030204"/>
              <a:ea typeface="微软雅黑"/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altLang="zh-CN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Dolar riski almadan </a:t>
            </a: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fazla TL’mizi </a:t>
            </a:r>
            <a:r>
              <a:rPr lang="tr-TR" altLang="zh-CN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yüksek oranla </a:t>
            </a: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(%50) plase ettik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TL likidite fazlalığımızı verebileceğimiz </a:t>
            </a:r>
            <a:r>
              <a:rPr lang="tr-TR" altLang="zh-CN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yeni bir kanal kazandık</a:t>
            </a: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: Yasal TL plasman </a:t>
            </a:r>
            <a:r>
              <a:rPr lang="tr-TR" altLang="zh-CN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kısıtı</a:t>
            </a: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 (BDDK), Danışma Kurulu Murabaha yasağı, Taahhütlü İşlem sınırını ortadan kaldıran yeni bir kanal!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Vergi, komisyon, </a:t>
            </a:r>
            <a:r>
              <a:rPr lang="tr-TR" altLang="zh-CN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spotaj</a:t>
            </a: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 </a:t>
            </a:r>
            <a:r>
              <a:rPr lang="tr-TR" altLang="zh-CN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giderimiz yok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altLang="zh-CN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Arbitraj</a:t>
            </a:r>
            <a:r>
              <a:rPr lang="tr-TR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ea typeface="微软雅黑"/>
                <a:cs typeface="+mn-ea"/>
                <a:sym typeface="+mn-lt"/>
              </a:rPr>
              <a:t> imkanı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Arial" panose="020F0302020204030204"/>
              <a:ea typeface="微软雅黑"/>
              <a:cs typeface="+mn-ea"/>
              <a:sym typeface="+mn-lt"/>
            </a:endParaRP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CA059-F6E7-4F61-8CA9-A8132537B19F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0922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tr-TR" sz="1200" b="0" dirty="0">
                <a:solidFill>
                  <a:srgbClr val="0070C0"/>
                </a:solidFill>
                <a:cs typeface="+mn-ea"/>
                <a:sym typeface="+mn-lt"/>
              </a:rPr>
              <a:t>Piyasalarda ciddi volatilitenin yaşandığı 2024 döneminde banka </a:t>
            </a:r>
            <a:r>
              <a:rPr lang="tr-TR" sz="1200" b="0" dirty="0" err="1">
                <a:solidFill>
                  <a:srgbClr val="0070C0"/>
                </a:solidFill>
                <a:cs typeface="+mn-ea"/>
                <a:sym typeface="+mn-lt"/>
              </a:rPr>
              <a:t>ALM’lerinin</a:t>
            </a:r>
            <a:r>
              <a:rPr lang="tr-TR" sz="1200" b="0" dirty="0">
                <a:solidFill>
                  <a:srgbClr val="0070C0"/>
                </a:solidFill>
                <a:cs typeface="+mn-ea"/>
                <a:sym typeface="+mn-lt"/>
              </a:rPr>
              <a:t> önemi ortaya çıktı. Biz de piyasanın gittiği yönde Kuveyt Türkü hazır hale getirdik.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tr-TR" sz="1200" b="0" dirty="0">
                <a:solidFill>
                  <a:srgbClr val="0070C0"/>
                </a:solidFill>
                <a:cs typeface="+mn-ea"/>
                <a:sym typeface="+mn-lt"/>
              </a:rPr>
              <a:t>Bankanın maliyetlerini faizlerin hızlı yükseldiği dönemde kontrol altına alabilmek için birden fazla şeyi yönettik.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tr-TR" sz="1200" b="0" dirty="0">
                <a:solidFill>
                  <a:srgbClr val="0070C0"/>
                </a:solidFill>
                <a:cs typeface="+mn-ea"/>
                <a:sym typeface="+mn-lt"/>
              </a:rPr>
              <a:t>1. Yurtiçinde yüksek borçlanma maliyetlerine karşın yurtdışında düşük maliyetli ve uzun vadeli borçlanmalar yaptık.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tr-TR" sz="1200" b="0" dirty="0">
                <a:solidFill>
                  <a:srgbClr val="0070C0"/>
                </a:solidFill>
                <a:cs typeface="+mn-ea"/>
                <a:sym typeface="+mn-lt"/>
              </a:rPr>
              <a:t>2. gelecekteki ihtiyaçları önden karşıladık. Düşük maliyetlerden ihtiyacımızdan daha fazla fonlama sağladık.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tr-TR" sz="1200" b="0" dirty="0">
                <a:solidFill>
                  <a:srgbClr val="0070C0"/>
                </a:solidFill>
                <a:cs typeface="+mn-ea"/>
                <a:sym typeface="+mn-lt"/>
              </a:rPr>
              <a:t>Buralarda zaman zaman pozisyonlar aldık ve bazen bu pozisyonlar terse dönüp zarar dahi ettirdi.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tr-TR" sz="1200" b="0" dirty="0">
                <a:solidFill>
                  <a:srgbClr val="0070C0"/>
                </a:solidFill>
                <a:cs typeface="+mn-ea"/>
                <a:sym typeface="+mn-lt"/>
              </a:rPr>
              <a:t>Ancak aldığım ilgili aksiyonlar sayesinde MB belirlediği politika faizinin çok daha altında ve piyasa ortalamasının aşağısında borçlanma gerçekleştirerek bankamıza 2 milyar TL kazandırdım.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200" b="1" dirty="0">
              <a:solidFill>
                <a:srgbClr val="0070C0"/>
              </a:solidFill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200" b="1" dirty="0">
              <a:solidFill>
                <a:srgbClr val="0070C0"/>
              </a:solidFill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200" b="1" dirty="0">
                <a:solidFill>
                  <a:srgbClr val="0070C0"/>
                </a:solidFill>
                <a:cs typeface="+mn-ea"/>
                <a:sym typeface="+mn-lt"/>
              </a:rPr>
              <a:t>TCMB’den Önden Yüklemeli TL Swap Fonlamalar </a:t>
            </a:r>
          </a:p>
          <a:p>
            <a:pPr lvl="1"/>
            <a:r>
              <a:rPr lang="tr-TR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TCMB 3 aylık swap kanalıyla fonladık, </a:t>
            </a:r>
          </a:p>
          <a:p>
            <a:pPr lvl="1"/>
            <a:r>
              <a:rPr lang="tr-TR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Kuveyt Türk’ü piyasaya hazırladık: %7,80 maliyet ile 18 Mia TL likidite sağladık.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200" b="1" dirty="0">
                <a:solidFill>
                  <a:srgbClr val="0070C0"/>
                </a:solidFill>
                <a:cs typeface="+mn-ea"/>
                <a:sym typeface="+mn-lt"/>
              </a:rPr>
              <a:t>TCMB Uzun Vadeli TL Swap Fonlamalarıyla Maliyet Avantajı</a:t>
            </a:r>
            <a:endParaRPr lang="tr-TR" sz="1200" dirty="0"/>
          </a:p>
          <a:p>
            <a:pPr marL="0" marR="0" lvl="0" indent="0" algn="l" defTabSz="12852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F0502020204030204"/>
              <a:ea typeface="微软雅黑"/>
              <a:cs typeface="+mn-ea"/>
              <a:sym typeface="+mn-lt"/>
            </a:endParaRP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CA059-F6E7-4F61-8CA9-A8132537B19F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0366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 eaLnBrk="1" fontAlgn="t" latinLnBrk="0" hangingPunct="1">
              <a:buFont typeface="Arial" panose="020B0604020202020204" pitchFamily="34" charset="0"/>
              <a:buChar char="•"/>
            </a:pP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Yaptığımız işlemlerle yalnızca TCMB politika faizini yenmedik; aynı zamanda sektörün de aşağısında kaldık. </a:t>
            </a:r>
          </a:p>
          <a:p>
            <a:pPr marL="171450" indent="-171450" rtl="0" eaLnBrk="1" fontAlgn="t" latinLnBrk="0" hangingPunct="1">
              <a:buFont typeface="Arial" panose="020B0604020202020204" pitchFamily="34" charset="0"/>
              <a:buChar char="•"/>
            </a:pP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Katılım bankası olmanın verdiği zorluklar, banka özelinde beliren risklere rağmen sektörü yendik. </a:t>
            </a:r>
          </a:p>
          <a:p>
            <a:pPr rtl="0" eaLnBrk="1" fontAlgn="t" latinLnBrk="0" hangingPunct="1"/>
            <a:endParaRPr lang="tr-T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tr-T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CA059-F6E7-4F61-8CA9-A8132537B19F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4648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CA059-F6E7-4F61-8CA9-A8132537B19F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1900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A3DB5B-3423-4D54-8983-4C74767B24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703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F16C-5A39-40C5-BA0A-0124D4348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885D1-CB3D-48C3-890C-D6D2215BB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1A628-8E55-4B0E-9483-A37C0E6B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3DF18-3991-453D-B301-FF0ED1A5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45E08-A0EB-4FB6-9740-3D7AC579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29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A878-01B6-46D8-BDD2-CF52DA09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C7D62-2957-4C71-A05F-6AE74852F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3A01C-D2D9-45F5-A789-8A8F9364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C1F82-A0A7-44AF-957A-029401E7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58531-5F16-4309-B490-254BD564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86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57F9-38BA-4AF1-84F5-F915C152F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66D00-463C-4124-8276-49F4EF443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987F3-E54E-4EC1-A1D3-69BE96E5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FE887-4A00-4061-94BF-8A8FE6EE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D58B8-5B2B-4F4C-A825-2647FEA8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663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7686-24E6-4061-A7F7-566BAE76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F779-0842-465A-9FC1-42307A092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AA2D8-8B64-4924-AA71-0CE683048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7629-3947-4821-AA88-84FE3172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28D09-01AE-48AE-9B37-0533D215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6D06B-D3D1-4D72-A793-007F9DF7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97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4B3D3-23EB-45E7-BC55-08917526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51A71-4B30-442E-B63D-AF66E02C5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77C79-D707-4A2E-8857-5FC892A23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D381B-C2CE-4E24-A6A5-D63949457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1E14C-ACD6-4A11-99B0-7CE0ADCC7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54378-45D4-477C-A669-1A8DDBC0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3E889-EC91-411A-8401-31A416BB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A9D5A-A34F-4673-A2C5-7834541A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3342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112E-989B-4ED2-A55C-0C8991BA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1B9C99-D02D-4B5D-B580-CF40449F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1B191-C58B-4DBA-8F32-0FD37761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B9CAE-1A28-4EE9-B568-82BA4E8E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64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D8613-9ED5-482F-833E-F60FB2D6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C5A21E-EAA1-46AF-8B83-6263291C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4A1A5-EA39-4904-9604-227E0097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613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A30E-1F7E-4AC1-B604-F17816CE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A0C13-1BB3-434C-BF87-99E79A2E7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458E5-2280-4E9D-A8DB-2477F0BEA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4A665-742B-455F-AC49-D176A775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BA973-4028-4AF3-A3B3-358B1543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20FBD-C06E-42D6-9B51-5234FC72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856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4A4A-CFBA-4B41-9478-92673AC7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6DA95-BC2B-4933-8365-4AF9D7AFBC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72F71-B064-4A26-A0E8-DDB540BBE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53D8B-73F1-4AF9-90EB-8BC0BFC2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22142-70BE-4D01-89D4-B6D34250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B69BE-8A47-4E52-A457-10347724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56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D2A9-3165-4918-BA31-6BA3D061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F5F69-6CBF-4FB7-95A5-C747D32A3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79DE2-938F-4977-AD1B-BA94A073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7BC03-3658-404C-836C-F6E8D51C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96119-6806-45E2-A56F-B3684921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373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EED5F-6848-4624-91AB-331571A59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2CBBC-C18E-465D-B8DD-5AFADC28B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6D822-05E6-4BF3-BCEA-0C26D347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802AC-CB7F-4A48-800D-66E91A34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5701-10E4-4F3C-BD71-4D9A18A0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5605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39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1000">
        <p14:prism isContent="1" isInverted="1"/>
      </p:transition>
    </mc:Choice>
    <mc:Fallback xmlns="">
      <p:transition spd="slow" advClick="0" advTm="1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49508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67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C0F3E8C-8BCD-4A8F-98D8-F8D96B87BD28}" type="datetimeFigureOut">
              <a:rPr lang="zh-CN" altLang="en-US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mtClean="0"/>
            </a:lvl1pPr>
          </a:lstStyle>
          <a:p>
            <a:pPr>
              <a:defRPr/>
            </a:pPr>
            <a:fld id="{4AAA05D2-2F82-4D1D-9A69-4CC173608BC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166006"/>
      </p:ext>
    </p:extLst>
  </p:cSld>
  <p:clrMapOvr>
    <a:masterClrMapping/>
  </p:clrMapOvr>
  <p:transition spd="slow" advClick="0" advTm="200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21D-12A3-824C-80FA-D34F01E9177B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CFEDB-804C-9249-87AB-F8162CDD6F1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CBCEA6DB-F04C-7433-182F-48388DE2E559}"/>
              </a:ext>
            </a:extLst>
          </p:cNvPr>
          <p:cNvSpPr txBox="1"/>
          <p:nvPr userDrawn="1"/>
        </p:nvSpPr>
        <p:spPr>
          <a:xfrm>
            <a:off x="1973797" y="6721477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222616700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" y="0"/>
            <a:ext cx="12191332" cy="6858000"/>
          </a:xfrm>
          <a:prstGeom prst="rect">
            <a:avLst/>
          </a:prstGeom>
        </p:spPr>
      </p:pic>
      <p:grpSp>
        <p:nvGrpSpPr>
          <p:cNvPr id="2" name="组合 3"/>
          <p:cNvGrpSpPr/>
          <p:nvPr userDrawn="1"/>
        </p:nvGrpSpPr>
        <p:grpSpPr bwMode="auto">
          <a:xfrm flipH="1">
            <a:off x="-1" y="330691"/>
            <a:ext cx="2396221" cy="676275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3" name="矩形 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867" dirty="0"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867" dirty="0">
                <a:cs typeface="+mn-ea"/>
                <a:sym typeface="+mn-lt"/>
              </a:endParaRPr>
            </a:p>
          </p:txBody>
        </p:sp>
      </p:grpSp>
      <p:sp>
        <p:nvSpPr>
          <p:cNvPr id="6" name="文本框 12"/>
          <p:cNvSpPr txBox="1">
            <a:spLocks noChangeArrowheads="1"/>
          </p:cNvSpPr>
          <p:nvPr userDrawn="1"/>
        </p:nvSpPr>
        <p:spPr bwMode="auto">
          <a:xfrm>
            <a:off x="-2" y="493729"/>
            <a:ext cx="2394787" cy="45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6697" tIns="43348" rIns="86697" bIns="43348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Add title text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506678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99457" y="319451"/>
            <a:ext cx="1215059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zh-CN" altLang="en-US" sz="1867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工作回顾</a:t>
            </a:r>
          </a:p>
        </p:txBody>
      </p:sp>
      <p:sp>
        <p:nvSpPr>
          <p:cNvPr id="15" name="文本框 38"/>
          <p:cNvSpPr txBox="1"/>
          <p:nvPr userDrawn="1"/>
        </p:nvSpPr>
        <p:spPr>
          <a:xfrm>
            <a:off x="1199456" y="577186"/>
            <a:ext cx="1180884" cy="345277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Work review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右箭头 9"/>
          <p:cNvSpPr/>
          <p:nvPr userDrawn="1"/>
        </p:nvSpPr>
        <p:spPr>
          <a:xfrm>
            <a:off x="623392" y="452669"/>
            <a:ext cx="576064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84687807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99457" y="319451"/>
            <a:ext cx="1215059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zh-CN" altLang="en-US" sz="1867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自我评价</a:t>
            </a:r>
          </a:p>
        </p:txBody>
      </p:sp>
      <p:sp>
        <p:nvSpPr>
          <p:cNvPr id="15" name="文本框 38"/>
          <p:cNvSpPr txBox="1"/>
          <p:nvPr userDrawn="1"/>
        </p:nvSpPr>
        <p:spPr>
          <a:xfrm>
            <a:off x="1199457" y="577186"/>
            <a:ext cx="1349327" cy="345277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Self-evaluation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右箭头 9"/>
          <p:cNvSpPr/>
          <p:nvPr userDrawn="1"/>
        </p:nvSpPr>
        <p:spPr>
          <a:xfrm>
            <a:off x="623392" y="452669"/>
            <a:ext cx="576064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7927740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99457" y="319451"/>
            <a:ext cx="1215059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zh-CN" altLang="en-US" sz="1867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工作体会</a:t>
            </a:r>
          </a:p>
        </p:txBody>
      </p:sp>
      <p:sp>
        <p:nvSpPr>
          <p:cNvPr id="15" name="文本框 38"/>
          <p:cNvSpPr txBox="1"/>
          <p:nvPr userDrawn="1"/>
        </p:nvSpPr>
        <p:spPr>
          <a:xfrm>
            <a:off x="1199456" y="577186"/>
            <a:ext cx="1494944" cy="345277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Work experience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右箭头 9"/>
          <p:cNvSpPr/>
          <p:nvPr userDrawn="1"/>
        </p:nvSpPr>
        <p:spPr>
          <a:xfrm>
            <a:off x="623392" y="452669"/>
            <a:ext cx="576064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35667601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99456" y="319451"/>
            <a:ext cx="1931602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zh-CN" altLang="en-US" sz="1867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工作规划和展望</a:t>
            </a:r>
          </a:p>
        </p:txBody>
      </p:sp>
      <p:sp>
        <p:nvSpPr>
          <p:cNvPr id="15" name="文本框 38"/>
          <p:cNvSpPr txBox="1"/>
          <p:nvPr userDrawn="1"/>
        </p:nvSpPr>
        <p:spPr>
          <a:xfrm>
            <a:off x="1199457" y="577186"/>
            <a:ext cx="2122359" cy="345277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208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Job planning and Outlook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右箭头 9"/>
          <p:cNvSpPr/>
          <p:nvPr userDrawn="1"/>
        </p:nvSpPr>
        <p:spPr>
          <a:xfrm>
            <a:off x="623392" y="452669"/>
            <a:ext cx="576064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30515099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ic li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>
          <a:xfrm>
            <a:off x="644176" y="1638675"/>
            <a:ext cx="3030357" cy="7829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7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1101382" y="1684397"/>
            <a:ext cx="704141" cy="67451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1918408" y="1827910"/>
            <a:ext cx="1581147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03251" y="2588939"/>
            <a:ext cx="3071283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6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03257" y="2979950"/>
            <a:ext cx="3071281" cy="7799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08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65" name="Rounded Rectangle 64"/>
          <p:cNvSpPr/>
          <p:nvPr userDrawn="1"/>
        </p:nvSpPr>
        <p:spPr>
          <a:xfrm>
            <a:off x="4548719" y="1638675"/>
            <a:ext cx="3071283" cy="78295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7"/>
          </a:p>
        </p:txBody>
      </p:sp>
      <p:sp>
        <p:nvSpPr>
          <p:cNvPr id="66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5046847" y="1684397"/>
            <a:ext cx="704141" cy="67451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9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5818720" y="1827910"/>
            <a:ext cx="1581147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548719" y="2588939"/>
            <a:ext cx="3071283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6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4548722" y="2979950"/>
            <a:ext cx="3071281" cy="7799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08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110" name="Rounded Rectangle 109"/>
          <p:cNvSpPr/>
          <p:nvPr userDrawn="1"/>
        </p:nvSpPr>
        <p:spPr>
          <a:xfrm>
            <a:off x="8504769" y="1638675"/>
            <a:ext cx="3071283" cy="78295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7"/>
          </a:p>
        </p:txBody>
      </p:sp>
      <p:sp>
        <p:nvSpPr>
          <p:cNvPr id="111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9002898" y="1684397"/>
            <a:ext cx="704141" cy="67451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2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9752193" y="1827910"/>
            <a:ext cx="1581147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113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8504769" y="2588939"/>
            <a:ext cx="3071283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6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14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8504773" y="2979950"/>
            <a:ext cx="3071281" cy="7799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08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130" name="Rounded Rectangle 129"/>
          <p:cNvSpPr/>
          <p:nvPr userDrawn="1"/>
        </p:nvSpPr>
        <p:spPr>
          <a:xfrm>
            <a:off x="644181" y="4066912"/>
            <a:ext cx="3030356" cy="78295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7"/>
          </a:p>
        </p:txBody>
      </p:sp>
      <p:sp>
        <p:nvSpPr>
          <p:cNvPr id="131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101382" y="4112634"/>
            <a:ext cx="704141" cy="67451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36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1918408" y="4254871"/>
            <a:ext cx="1581147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139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603251" y="5017175"/>
            <a:ext cx="3071283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6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40" name="Text Placeholder 2"/>
          <p:cNvSpPr>
            <a:spLocks noGrp="1"/>
          </p:cNvSpPr>
          <p:nvPr>
            <p:ph type="body" sz="quarter" idx="48" hasCustomPrompt="1"/>
          </p:nvPr>
        </p:nvSpPr>
        <p:spPr>
          <a:xfrm>
            <a:off x="603257" y="5428506"/>
            <a:ext cx="3071281" cy="7799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08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145" name="Rounded Rectangle 144"/>
          <p:cNvSpPr/>
          <p:nvPr userDrawn="1"/>
        </p:nvSpPr>
        <p:spPr>
          <a:xfrm>
            <a:off x="4548720" y="4066912"/>
            <a:ext cx="3071280" cy="7829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7"/>
          </a:p>
        </p:txBody>
      </p:sp>
      <p:sp>
        <p:nvSpPr>
          <p:cNvPr id="146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5046847" y="4112634"/>
            <a:ext cx="704141" cy="67451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49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818720" y="4254871"/>
            <a:ext cx="1581147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15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4548719" y="5017175"/>
            <a:ext cx="3071283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6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sz="quarter" idx="51" hasCustomPrompt="1"/>
          </p:nvPr>
        </p:nvSpPr>
        <p:spPr>
          <a:xfrm>
            <a:off x="4548722" y="5428506"/>
            <a:ext cx="3071281" cy="7799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08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155" name="Rounded Rectangle 154"/>
          <p:cNvSpPr/>
          <p:nvPr userDrawn="1"/>
        </p:nvSpPr>
        <p:spPr>
          <a:xfrm>
            <a:off x="8504771" y="4066912"/>
            <a:ext cx="3071280" cy="78295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7"/>
          </a:p>
        </p:txBody>
      </p:sp>
      <p:sp>
        <p:nvSpPr>
          <p:cNvPr id="156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9002898" y="4112634"/>
            <a:ext cx="704141" cy="67451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57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9752193" y="4254871"/>
            <a:ext cx="1581147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158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8504769" y="5017175"/>
            <a:ext cx="3071283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6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59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8504773" y="5428506"/>
            <a:ext cx="3071281" cy="7799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08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368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00" fill="hold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00" fill="hold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4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4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500"/>
                            </p:stCondLst>
                            <p:childTnLst>
                              <p:par>
                                <p:cTn id="1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30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0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3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0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40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6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6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0" grpId="0" animBg="1"/>
      <p:bldP spid="11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1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0" grpId="0" animBg="1"/>
      <p:bldP spid="1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3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5" grpId="0" animBg="1"/>
      <p:bldP spid="14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4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4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4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5" grpId="0" animBg="1"/>
      <p:bldP spid="15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5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5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57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31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1000">
        <p14:prism isContent="1" isInverted="1"/>
      </p:transition>
    </mc:Choice>
    <mc:Fallback xmlns="">
      <p:transition spd="slow" advClick="0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61B71-B992-4209-B476-BCDF08CE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4C4F8-BC57-4889-B3DB-663C27D04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D12C6-942F-4555-8484-5D3D68139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D578D-41E2-40CD-9899-1250E2430481}" type="datetimeFigureOut">
              <a:rPr lang="tr-TR" smtClean="0"/>
              <a:t>05/03/2026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6B9B1-CDB9-4A66-A729-7EE4B2BA3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D9DFF-3B9D-4196-A0B5-50E87B2B6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66C3E-203B-4C56-8D85-1222539842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474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4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ransition/>
  <p:txStyles>
    <p:titleStyle>
      <a:lvl1pPr algn="ctr" defTabSz="1218323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8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8323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8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8323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8323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1870" indent="-304792" algn="l" defTabSz="1218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454" indent="-304792" algn="l" defTabSz="1218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039" indent="-304792" algn="l" defTabSz="1218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624" indent="-304792" algn="l" defTabSz="12183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62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247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831" algn="l" defTabSz="121832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B4EA58-068B-4673-909A-1CBD7DFF1DD2}"/>
              </a:ext>
            </a:extLst>
          </p:cNvPr>
          <p:cNvSpPr txBox="1"/>
          <p:nvPr/>
        </p:nvSpPr>
        <p:spPr>
          <a:xfrm>
            <a:off x="576649" y="492211"/>
            <a:ext cx="106103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Makroekonomik göstergeler </a:t>
            </a:r>
          </a:p>
          <a:p>
            <a:r>
              <a:rPr lang="tr-TR" dirty="0"/>
              <a:t>	</a:t>
            </a:r>
            <a:r>
              <a:rPr lang="tr-TR" dirty="0" err="1"/>
              <a:t>Carry</a:t>
            </a:r>
            <a:r>
              <a:rPr lang="tr-TR" dirty="0"/>
              <a:t> </a:t>
            </a:r>
            <a:r>
              <a:rPr lang="tr-TR" dirty="0" err="1"/>
              <a:t>Trade</a:t>
            </a:r>
            <a:r>
              <a:rPr lang="tr-TR" dirty="0"/>
              <a:t> durumu </a:t>
            </a:r>
          </a:p>
          <a:p>
            <a:r>
              <a:rPr lang="tr-TR" dirty="0"/>
              <a:t>	</a:t>
            </a:r>
            <a:r>
              <a:rPr lang="tr-TR" dirty="0" err="1"/>
              <a:t>Makroihtiyati</a:t>
            </a:r>
            <a:r>
              <a:rPr lang="tr-TR" dirty="0"/>
              <a:t> gelişmeler </a:t>
            </a:r>
          </a:p>
          <a:p>
            <a:r>
              <a:rPr lang="tr-TR" dirty="0"/>
              <a:t>	TL likidite koşulları </a:t>
            </a:r>
          </a:p>
          <a:p>
            <a:r>
              <a:rPr lang="tr-TR" dirty="0"/>
              <a:t>	Genel </a:t>
            </a:r>
            <a:r>
              <a:rPr lang="tr-TR" dirty="0" err="1"/>
              <a:t>interbank</a:t>
            </a:r>
            <a:r>
              <a:rPr lang="tr-TR" dirty="0"/>
              <a:t> faizler / </a:t>
            </a:r>
            <a:r>
              <a:rPr lang="tr-TR" dirty="0" err="1"/>
              <a:t>tlref</a:t>
            </a:r>
            <a:r>
              <a:rPr lang="tr-TR" dirty="0"/>
              <a:t>, </a:t>
            </a:r>
            <a:r>
              <a:rPr lang="tr-TR" dirty="0" err="1"/>
              <a:t>try</a:t>
            </a:r>
            <a:r>
              <a:rPr lang="tr-TR" dirty="0"/>
              <a:t> </a:t>
            </a:r>
            <a:r>
              <a:rPr lang="tr-TR" dirty="0" err="1"/>
              <a:t>ois</a:t>
            </a:r>
            <a:r>
              <a:rPr lang="tr-TR" dirty="0"/>
              <a:t> </a:t>
            </a:r>
          </a:p>
          <a:p>
            <a:r>
              <a:rPr lang="tr-TR" dirty="0"/>
              <a:t>	kur oynaklığı / km fiyat artışları </a:t>
            </a:r>
          </a:p>
          <a:p>
            <a:endParaRPr lang="tr-TR" dirty="0"/>
          </a:p>
          <a:p>
            <a:r>
              <a:rPr lang="tr-TR" dirty="0"/>
              <a:t>Likidite taşıma/aktif oranımız </a:t>
            </a:r>
            <a:r>
              <a:rPr lang="tr-TR" dirty="0" err="1"/>
              <a:t>cok</a:t>
            </a:r>
            <a:r>
              <a:rPr lang="tr-TR" dirty="0"/>
              <a:t> düşük olmakla birlikte temerrüt durumları olmadı </a:t>
            </a: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endParaRPr lang="tr-T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FC6A72-2B20-4CEB-A087-238127303314}"/>
              </a:ext>
            </a:extLst>
          </p:cNvPr>
          <p:cNvSpPr txBox="1"/>
          <p:nvPr/>
        </p:nvSpPr>
        <p:spPr>
          <a:xfrm>
            <a:off x="9605319" y="426308"/>
            <a:ext cx="2284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 err="1">
                <a:solidFill>
                  <a:srgbClr val="C00000"/>
                </a:solidFill>
              </a:rPr>
              <a:t>Oktay+Murat</a:t>
            </a:r>
            <a:r>
              <a:rPr lang="tr-TR" b="1" dirty="0">
                <a:solidFill>
                  <a:srgbClr val="C00000"/>
                </a:solidFill>
              </a:rPr>
              <a:t> yapacak</a:t>
            </a:r>
          </a:p>
        </p:txBody>
      </p:sp>
    </p:spTree>
    <p:extLst>
      <p:ext uri="{BB962C8B-B14F-4D97-AF65-F5344CB8AC3E}">
        <p14:creationId xmlns:p14="http://schemas.microsoft.com/office/powerpoint/2010/main" val="50683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D1E1BAB-86C0-4CF2-84BF-2FD385916FA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51012" y="783847"/>
          <a:ext cx="8440227" cy="5791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31D1F2D-7416-4BB2-AD19-08A405C2F2E4}"/>
              </a:ext>
            </a:extLst>
          </p:cNvPr>
          <p:cNvSpPr txBox="1"/>
          <p:nvPr/>
        </p:nvSpPr>
        <p:spPr>
          <a:xfrm>
            <a:off x="9277167" y="1859339"/>
            <a:ext cx="2621183" cy="313932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 FONLAMA HACMİ</a:t>
            </a:r>
          </a:p>
          <a:p>
            <a:pPr algn="ctr"/>
            <a:r>
              <a:rPr lang="tr-TR" sz="16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107.7 milyar TL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tr-TR" sz="1600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ORTALAMA VADE</a:t>
            </a:r>
          </a:p>
          <a:p>
            <a:pPr algn="ctr"/>
            <a:r>
              <a:rPr lang="tr-TR" sz="16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 gün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tr-TR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ORTALAMA MALİYET</a:t>
            </a:r>
          </a:p>
          <a:p>
            <a:pPr algn="ctr"/>
            <a:r>
              <a:rPr lang="tr-TR" sz="16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%43.3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tr-TR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tr-TR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TOPLAM MALİYET AVANTAJI</a:t>
            </a:r>
          </a:p>
          <a:p>
            <a:pPr algn="ctr"/>
            <a:r>
              <a:rPr lang="tr-TR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1.6 milyar TL</a:t>
            </a:r>
          </a:p>
        </p:txBody>
      </p:sp>
      <p:sp>
        <p:nvSpPr>
          <p:cNvPr id="31" name="文本框 37">
            <a:extLst>
              <a:ext uri="{FF2B5EF4-FFF2-40B4-BE49-F238E27FC236}">
                <a16:creationId xmlns:a16="http://schemas.microsoft.com/office/drawing/2014/main" id="{B8149ED2-576D-41FD-9E03-4E30FA597658}"/>
              </a:ext>
            </a:extLst>
          </p:cNvPr>
          <p:cNvSpPr txBox="1"/>
          <p:nvPr/>
        </p:nvSpPr>
        <p:spPr>
          <a:xfrm>
            <a:off x="251012" y="116480"/>
            <a:ext cx="9454880" cy="560721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/>
          <a:p>
            <a:pPr marL="342900" lvl="0" indent="-342900" defTabSz="1285208">
              <a:buFont typeface="Wingdings" panose="05000000000000000000" pitchFamily="2" charset="2"/>
              <a:buChar char="l"/>
              <a:defRPr/>
            </a:pPr>
            <a:r>
              <a:rPr lang="tr-TR" altLang="zh-CN" sz="2800" b="1" dirty="0">
                <a:solidFill>
                  <a:srgbClr val="2A7472"/>
                </a:solidFill>
                <a:cs typeface="+mn-ea"/>
                <a:sym typeface="+mn-lt"/>
              </a:rPr>
              <a:t>YURTDIŞI TL BORÇLANMALAR – </a:t>
            </a:r>
            <a:r>
              <a:rPr lang="tr-TR" altLang="zh-CN" sz="2800" b="1" i="1" dirty="0">
                <a:solidFill>
                  <a:srgbClr val="2A7472"/>
                </a:solidFill>
                <a:cs typeface="+mn-ea"/>
                <a:sym typeface="+mn-lt"/>
              </a:rPr>
              <a:t>LONDRA PİYASASI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834DF1-CC2D-42A6-9C3F-982228EEACE3}"/>
              </a:ext>
            </a:extLst>
          </p:cNvPr>
          <p:cNvCxnSpPr/>
          <p:nvPr/>
        </p:nvCxnSpPr>
        <p:spPr>
          <a:xfrm flipV="1">
            <a:off x="251012" y="783847"/>
            <a:ext cx="11647339" cy="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C45A628E-FEFC-41EC-839F-B02F4517CE0C}"/>
              </a:ext>
            </a:extLst>
          </p:cNvPr>
          <p:cNvSpPr txBox="1">
            <a:spLocks/>
          </p:cNvSpPr>
          <p:nvPr/>
        </p:nvSpPr>
        <p:spPr>
          <a:xfrm>
            <a:off x="9623394" y="6672874"/>
            <a:ext cx="2274956" cy="14355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1200" b="1" dirty="0">
                <a:solidFill>
                  <a:schemeClr val="bg1">
                    <a:lumMod val="50000"/>
                  </a:schemeClr>
                </a:solidFill>
                <a:latin typeface="Klavika CH Medium Cond"/>
              </a:rPr>
              <a:t>Aktif – Pasif Yönetimi Müdürlüğü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Klavika CH Medium Con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1C3704-AF59-4ED9-B76F-D59DB3C3DD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92" y="107483"/>
            <a:ext cx="2078810" cy="578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47465-3542-4C64-8FF0-B7AE481072A9}"/>
              </a:ext>
            </a:extLst>
          </p:cNvPr>
          <p:cNvSpPr txBox="1"/>
          <p:nvPr/>
        </p:nvSpPr>
        <p:spPr>
          <a:xfrm>
            <a:off x="9705892" y="774849"/>
            <a:ext cx="155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>
                <a:solidFill>
                  <a:srgbClr val="C00000"/>
                </a:solidFill>
              </a:rPr>
              <a:t>Ömer yapacak</a:t>
            </a:r>
          </a:p>
        </p:txBody>
      </p:sp>
    </p:spTree>
    <p:extLst>
      <p:ext uri="{BB962C8B-B14F-4D97-AF65-F5344CB8AC3E}">
        <p14:creationId xmlns:p14="http://schemas.microsoft.com/office/powerpoint/2010/main" val="360765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E63A07-08BC-4AA8-9A4B-826EA0DE1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625256"/>
              </p:ext>
            </p:extLst>
          </p:nvPr>
        </p:nvGraphicFramePr>
        <p:xfrm>
          <a:off x="739346" y="1352655"/>
          <a:ext cx="10515600" cy="4152690"/>
        </p:xfrm>
        <a:graphic>
          <a:graphicData uri="http://schemas.openxmlformats.org/drawingml/2006/table">
            <a:tbl>
              <a:tblPr/>
              <a:tblGrid>
                <a:gridCol w="919574">
                  <a:extLst>
                    <a:ext uri="{9D8B030D-6E8A-4147-A177-3AD203B41FA5}">
                      <a16:colId xmlns:a16="http://schemas.microsoft.com/office/drawing/2014/main" val="102331288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1249188283"/>
                    </a:ext>
                  </a:extLst>
                </a:gridCol>
                <a:gridCol w="681567">
                  <a:extLst>
                    <a:ext uri="{9D8B030D-6E8A-4147-A177-3AD203B41FA5}">
                      <a16:colId xmlns:a16="http://schemas.microsoft.com/office/drawing/2014/main" val="3649503457"/>
                    </a:ext>
                  </a:extLst>
                </a:gridCol>
                <a:gridCol w="681567">
                  <a:extLst>
                    <a:ext uri="{9D8B030D-6E8A-4147-A177-3AD203B41FA5}">
                      <a16:colId xmlns:a16="http://schemas.microsoft.com/office/drawing/2014/main" val="2985690433"/>
                    </a:ext>
                  </a:extLst>
                </a:gridCol>
                <a:gridCol w="1071033">
                  <a:extLst>
                    <a:ext uri="{9D8B030D-6E8A-4147-A177-3AD203B41FA5}">
                      <a16:colId xmlns:a16="http://schemas.microsoft.com/office/drawing/2014/main" val="2718637302"/>
                    </a:ext>
                  </a:extLst>
                </a:gridCol>
                <a:gridCol w="1071033">
                  <a:extLst>
                    <a:ext uri="{9D8B030D-6E8A-4147-A177-3AD203B41FA5}">
                      <a16:colId xmlns:a16="http://schemas.microsoft.com/office/drawing/2014/main" val="2292859190"/>
                    </a:ext>
                  </a:extLst>
                </a:gridCol>
                <a:gridCol w="562563">
                  <a:extLst>
                    <a:ext uri="{9D8B030D-6E8A-4147-A177-3AD203B41FA5}">
                      <a16:colId xmlns:a16="http://schemas.microsoft.com/office/drawing/2014/main" val="3584410939"/>
                    </a:ext>
                  </a:extLst>
                </a:gridCol>
                <a:gridCol w="1103489">
                  <a:extLst>
                    <a:ext uri="{9D8B030D-6E8A-4147-A177-3AD203B41FA5}">
                      <a16:colId xmlns:a16="http://schemas.microsoft.com/office/drawing/2014/main" val="241011958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389103276"/>
                    </a:ext>
                  </a:extLst>
                </a:gridCol>
                <a:gridCol w="854663">
                  <a:extLst>
                    <a:ext uri="{9D8B030D-6E8A-4147-A177-3AD203B41FA5}">
                      <a16:colId xmlns:a16="http://schemas.microsoft.com/office/drawing/2014/main" val="401910388"/>
                    </a:ext>
                  </a:extLst>
                </a:gridCol>
                <a:gridCol w="1006122">
                  <a:extLst>
                    <a:ext uri="{9D8B030D-6E8A-4147-A177-3AD203B41FA5}">
                      <a16:colId xmlns:a16="http://schemas.microsoft.com/office/drawing/2014/main" val="3914256173"/>
                    </a:ext>
                  </a:extLst>
                </a:gridCol>
              </a:tblGrid>
              <a:tr h="154164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İşlem Referansı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Karşı Kurum Adı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Valör Tarihi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Vade Tarihi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Satılan Tutar (Near)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Alınan Tutar (Far)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Oran %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Oran - 42.50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Gün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Toplam Kar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802760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CHARTERED BANK DUBAI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1,292,807,568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1,312,397,568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80.41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37.91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9,528,903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20,212,521.11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7989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BARCLAYS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866,000,000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879,080,000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80.15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37.65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6,340,461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13,496,988.75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58358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BARCLAYS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863,400,000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879,200,000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84.85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42.35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8,124,696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16,279,028.93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639314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CHARTERED BANK DUBAI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833,375,632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849,375,632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88.89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46.39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8,592,009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16,462,779.24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626618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MORGAN STANLEY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842,200,000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859,700,000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96.01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53.51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10,014,293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17,968,404.43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252494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BARCLAYS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1,236,300,000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1,250,100,000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59.86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17.36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4,173,199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14,389,845.17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457475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BARCLAYS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825,000,000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869,900,000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65.74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23.24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16,510,083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46,702,791.67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853657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91SWP20251397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DEUTSCHE BANK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821,535,200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865,735,200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65.01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22.51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15,924,319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45,990,225.11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849069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91SWP20251414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MORGAN STANLEY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822,600,000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836,600,000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79.05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33.05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5,286,348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12,644,047.50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718818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91SWP20251422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MORGAN STANLEY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614,700,000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640,050,000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47.45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  1.45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817,039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26,736,888.75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07585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91SWP20251453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BARCLAYS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28/03/2025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1,023,750,000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1,044,725,000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55.17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  9.17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3,650,806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21,964,556.25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760731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91SWP20251465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CHARTERED BANK DUBAI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819,253,800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827,083,800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51.63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  5.63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896,855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8,224,625.44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391310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91SWP20251475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BARCLAYS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16/04/2025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1,227,600,000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1,253,100,000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55.89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    9.89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4,721,486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26,681,886.00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322863"/>
                  </a:ext>
                </a:extLst>
              </a:tr>
              <a:tr h="285609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12,088,522,200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12,367,047,200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69.88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13.10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88,962,156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287,754,588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40778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10E1E9A-612C-4FC0-A708-13FBDAE481B0}"/>
              </a:ext>
            </a:extLst>
          </p:cNvPr>
          <p:cNvSpPr/>
          <p:nvPr/>
        </p:nvSpPr>
        <p:spPr>
          <a:xfrm>
            <a:off x="739346" y="649416"/>
            <a:ext cx="3287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WW swaplar /  piyasa angajmanı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390C6-8065-4CFB-97F6-5CA09A2F606A}"/>
              </a:ext>
            </a:extLst>
          </p:cNvPr>
          <p:cNvSpPr txBox="1"/>
          <p:nvPr/>
        </p:nvSpPr>
        <p:spPr>
          <a:xfrm>
            <a:off x="9681179" y="649416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>
                <a:solidFill>
                  <a:srgbClr val="C00000"/>
                </a:solidFill>
              </a:rPr>
              <a:t>Emin yapacak</a:t>
            </a:r>
          </a:p>
        </p:txBody>
      </p:sp>
    </p:spTree>
    <p:extLst>
      <p:ext uri="{BB962C8B-B14F-4D97-AF65-F5344CB8AC3E}">
        <p14:creationId xmlns:p14="http://schemas.microsoft.com/office/powerpoint/2010/main" val="355202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03C05B-76BE-435E-BC24-63E7D6F683F2}"/>
              </a:ext>
            </a:extLst>
          </p:cNvPr>
          <p:cNvSpPr/>
          <p:nvPr/>
        </p:nvSpPr>
        <p:spPr>
          <a:xfrm>
            <a:off x="738581" y="715318"/>
            <a:ext cx="440710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İlk PRS işlemi / fayda maliyet analizi yapılacak</a:t>
            </a:r>
          </a:p>
          <a:p>
            <a:r>
              <a:rPr lang="tr-TR" dirty="0"/>
              <a:t>BİST KM swap pazarında ilk bankayız </a:t>
            </a:r>
          </a:p>
          <a:p>
            <a:r>
              <a:rPr lang="tr-TR" dirty="0"/>
              <a:t>Ziraat Azerbaycan aldığımız ucuz fonlamalar </a:t>
            </a:r>
          </a:p>
          <a:p>
            <a:endParaRPr lang="tr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A07DC-BD83-45B6-8011-1569D441F866}"/>
              </a:ext>
            </a:extLst>
          </p:cNvPr>
          <p:cNvSpPr txBox="1"/>
          <p:nvPr/>
        </p:nvSpPr>
        <p:spPr>
          <a:xfrm>
            <a:off x="9681179" y="649416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>
                <a:solidFill>
                  <a:srgbClr val="C00000"/>
                </a:solidFill>
              </a:rPr>
              <a:t>Emin yapacak</a:t>
            </a:r>
          </a:p>
        </p:txBody>
      </p:sp>
    </p:spTree>
    <p:extLst>
      <p:ext uri="{BB962C8B-B14F-4D97-AF65-F5344CB8AC3E}">
        <p14:creationId xmlns:p14="http://schemas.microsoft.com/office/powerpoint/2010/main" val="349182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7">
            <a:extLst>
              <a:ext uri="{FF2B5EF4-FFF2-40B4-BE49-F238E27FC236}">
                <a16:creationId xmlns:a16="http://schemas.microsoft.com/office/drawing/2014/main" id="{8247541D-130C-44FF-8C9C-AD00FE461571}"/>
              </a:ext>
            </a:extLst>
          </p:cNvPr>
          <p:cNvSpPr txBox="1"/>
          <p:nvPr/>
        </p:nvSpPr>
        <p:spPr>
          <a:xfrm>
            <a:off x="251012" y="119396"/>
            <a:ext cx="6477019" cy="560721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>
            <a:defPPr>
              <a:defRPr lang="tr-TR"/>
            </a:defPPr>
            <a:lvl1pPr marL="342900" lvl="0" indent="-342900" defTabSz="1285208">
              <a:buFont typeface="Wingdings" panose="05000000000000000000" pitchFamily="2" charset="2"/>
              <a:buChar char="l"/>
              <a:defRPr sz="2800" b="1">
                <a:solidFill>
                  <a:srgbClr val="2A7472"/>
                </a:solidFill>
                <a:cs typeface="+mn-ea"/>
              </a:defRPr>
            </a:lvl1pPr>
          </a:lstStyle>
          <a:p>
            <a:r>
              <a:rPr lang="tr-TR" altLang="zh-CN" dirty="0">
                <a:sym typeface="+mn-lt"/>
              </a:rPr>
              <a:t>TCMB ALTIN-TL TERS SWAP İŞLEMLERİ</a:t>
            </a:r>
            <a:endParaRPr lang="zh-CN" altLang="en-US" dirty="0">
              <a:sym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4B6AA4-4EAE-4EDE-A770-4F532859B582}"/>
              </a:ext>
            </a:extLst>
          </p:cNvPr>
          <p:cNvCxnSpPr/>
          <p:nvPr/>
        </p:nvCxnSpPr>
        <p:spPr>
          <a:xfrm flipV="1">
            <a:off x="251012" y="783847"/>
            <a:ext cx="11647339" cy="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8BB7F8B-239D-4127-8C55-D09681FB54A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92" y="107483"/>
            <a:ext cx="2078810" cy="57871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140EF08-8426-4AC7-B92F-D7B5900DF98C}"/>
              </a:ext>
            </a:extLst>
          </p:cNvPr>
          <p:cNvSpPr txBox="1">
            <a:spLocks/>
          </p:cNvSpPr>
          <p:nvPr/>
        </p:nvSpPr>
        <p:spPr>
          <a:xfrm>
            <a:off x="9623394" y="6672874"/>
            <a:ext cx="2274956" cy="14355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1200" b="1" dirty="0">
                <a:solidFill>
                  <a:schemeClr val="bg1">
                    <a:lumMod val="50000"/>
                  </a:schemeClr>
                </a:solidFill>
                <a:latin typeface="Klavika CH Medium Cond"/>
              </a:rPr>
              <a:t>Aktif – Pasif Yönetimi Müdürlüğü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Klavika CH Medium Con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C4B7B-CD9E-4475-926F-A2FE14FD8D37}"/>
              </a:ext>
            </a:extLst>
          </p:cNvPr>
          <p:cNvSpPr/>
          <p:nvPr/>
        </p:nvSpPr>
        <p:spPr>
          <a:xfrm>
            <a:off x="385234" y="1547340"/>
            <a:ext cx="4379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Altın TL swapta yaptığımız hacim, adet ve kar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EAC7F-6673-4A7E-94E5-FDA3DDEA08CA}"/>
              </a:ext>
            </a:extLst>
          </p:cNvPr>
          <p:cNvSpPr txBox="1"/>
          <p:nvPr/>
        </p:nvSpPr>
        <p:spPr>
          <a:xfrm>
            <a:off x="9623394" y="1224174"/>
            <a:ext cx="1667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>
                <a:solidFill>
                  <a:srgbClr val="C00000"/>
                </a:solidFill>
              </a:rPr>
              <a:t>Saadet yapacak</a:t>
            </a:r>
          </a:p>
        </p:txBody>
      </p:sp>
    </p:spTree>
    <p:extLst>
      <p:ext uri="{BB962C8B-B14F-4D97-AF65-F5344CB8AC3E}">
        <p14:creationId xmlns:p14="http://schemas.microsoft.com/office/powerpoint/2010/main" val="222418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1000">
        <p14:prism isContent="1" isInverted="1"/>
      </p:transition>
    </mc:Choice>
    <mc:Fallback xmlns="">
      <p:transition spd="slow" advClick="0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E24D2B-E6E2-4167-A251-FAFCA29F33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3497660"/>
            <a:ext cx="7284987" cy="3207783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5ABE911-C135-4869-BA2A-52D3340DC4D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51012" y="778855"/>
          <a:ext cx="7178290" cy="2557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307CE9E-0781-4793-9B44-FD581AFD2A38}"/>
              </a:ext>
            </a:extLst>
          </p:cNvPr>
          <p:cNvSpPr txBox="1"/>
          <p:nvPr/>
        </p:nvSpPr>
        <p:spPr>
          <a:xfrm>
            <a:off x="6303145" y="1282032"/>
            <a:ext cx="1232853" cy="137718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tr-TR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AE1A8B-D88D-4C84-A1A9-8F872ACED156}"/>
              </a:ext>
            </a:extLst>
          </p:cNvPr>
          <p:cNvCxnSpPr>
            <a:cxnSpLocks/>
          </p:cNvCxnSpPr>
          <p:nvPr/>
        </p:nvCxnSpPr>
        <p:spPr>
          <a:xfrm flipV="1">
            <a:off x="7610155" y="1977787"/>
            <a:ext cx="743795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文本框 37">
            <a:extLst>
              <a:ext uri="{FF2B5EF4-FFF2-40B4-BE49-F238E27FC236}">
                <a16:creationId xmlns:a16="http://schemas.microsoft.com/office/drawing/2014/main" id="{73342211-17F9-451E-A0B5-1E81133A0D31}"/>
              </a:ext>
            </a:extLst>
          </p:cNvPr>
          <p:cNvSpPr txBox="1"/>
          <p:nvPr/>
        </p:nvSpPr>
        <p:spPr>
          <a:xfrm>
            <a:off x="251012" y="140892"/>
            <a:ext cx="9454880" cy="560721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/>
          <a:p>
            <a:pPr marL="342900" lvl="0" indent="-342900" defTabSz="1285208">
              <a:buFont typeface="Wingdings" panose="05000000000000000000" pitchFamily="2" charset="2"/>
              <a:buChar char="l"/>
              <a:defRPr/>
            </a:pPr>
            <a:r>
              <a:rPr lang="tr-TR" altLang="zh-CN" sz="2800" b="1" dirty="0">
                <a:solidFill>
                  <a:srgbClr val="2A7472"/>
                </a:solidFill>
                <a:cs typeface="+mn-ea"/>
                <a:sym typeface="+mn-lt"/>
              </a:rPr>
              <a:t>TAAHHÜTLÜ PAZARDA İŞLEM HACİMLERİMİZ</a:t>
            </a:r>
            <a:endParaRPr lang="tr-TR" altLang="zh-CN" sz="2800" b="1" i="1" dirty="0">
              <a:solidFill>
                <a:srgbClr val="2A7472"/>
              </a:solidFill>
              <a:cs typeface="+mn-ea"/>
              <a:sym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FA32663-AE4B-46AC-810E-61D8277DB90A}"/>
              </a:ext>
            </a:extLst>
          </p:cNvPr>
          <p:cNvCxnSpPr/>
          <p:nvPr/>
        </p:nvCxnSpPr>
        <p:spPr>
          <a:xfrm flipV="1">
            <a:off x="251012" y="783847"/>
            <a:ext cx="11647339" cy="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612E9AD-5A5C-4AE5-902E-B2312A986F1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92" y="107483"/>
            <a:ext cx="2078810" cy="57871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E2D09D-F596-4E33-9941-87F073284E07}"/>
              </a:ext>
            </a:extLst>
          </p:cNvPr>
          <p:cNvSpPr/>
          <p:nvPr/>
        </p:nvSpPr>
        <p:spPr>
          <a:xfrm>
            <a:off x="8353950" y="1553628"/>
            <a:ext cx="3544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sz="1400" b="1" dirty="0">
                <a:solidFill>
                  <a:schemeClr val="tx2">
                    <a:lumMod val="75000"/>
                  </a:schemeClr>
                </a:solidFill>
              </a:rPr>
              <a:t>Pazardaki hacmimizi artırdık!</a:t>
            </a:r>
          </a:p>
          <a:p>
            <a:endParaRPr lang="tr-TR" sz="1400" b="1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sz="1400" b="1" dirty="0">
                <a:solidFill>
                  <a:schemeClr val="tx2">
                    <a:lumMod val="75000"/>
                  </a:schemeClr>
                </a:solidFill>
              </a:rPr>
              <a:t>Uygun maliyetle aldığımız TL’yi Altın TL swapla verdik!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E2DCE5-8C49-4C94-979F-65D5009B3111}"/>
              </a:ext>
            </a:extLst>
          </p:cNvPr>
          <p:cNvCxnSpPr>
            <a:cxnSpLocks/>
          </p:cNvCxnSpPr>
          <p:nvPr/>
        </p:nvCxnSpPr>
        <p:spPr>
          <a:xfrm flipV="1">
            <a:off x="7573076" y="4993828"/>
            <a:ext cx="743795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AD63F5D-3119-4949-B875-689689765AFB}"/>
              </a:ext>
            </a:extLst>
          </p:cNvPr>
          <p:cNvSpPr/>
          <p:nvPr/>
        </p:nvSpPr>
        <p:spPr>
          <a:xfrm>
            <a:off x="4480524" y="3600303"/>
            <a:ext cx="12795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TLREF</a:t>
            </a:r>
          </a:p>
          <a:p>
            <a:pPr marL="285750" indent="-285750">
              <a:buFontTx/>
              <a:buChar char="-"/>
            </a:pPr>
            <a:r>
              <a:rPr lang="tr-TR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TLREFK</a:t>
            </a:r>
            <a:endParaRPr lang="tr-TR" sz="1600" b="1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A46F3E-AD3C-463A-97BE-86B2598E7762}"/>
              </a:ext>
            </a:extLst>
          </p:cNvPr>
          <p:cNvSpPr/>
          <p:nvPr/>
        </p:nvSpPr>
        <p:spPr>
          <a:xfrm>
            <a:off x="8353949" y="4409053"/>
            <a:ext cx="35443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sz="1400" b="1" dirty="0">
                <a:solidFill>
                  <a:schemeClr val="tx2">
                    <a:lumMod val="75000"/>
                  </a:schemeClr>
                </a:solidFill>
              </a:rPr>
              <a:t>TLREFK endeksli kredilerimizin bazını yükseltmek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tr-TR" sz="1400" b="1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sz="1400" b="1" dirty="0">
                <a:solidFill>
                  <a:schemeClr val="tx2">
                    <a:lumMod val="75000"/>
                  </a:schemeClr>
                </a:solidFill>
              </a:rPr>
              <a:t>TLREF altında işlem gören TLREFK endeksini yukarı çektik.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64C63D-13B8-4D1C-AE37-1385C94032CB}"/>
              </a:ext>
            </a:extLst>
          </p:cNvPr>
          <p:cNvCxnSpPr>
            <a:cxnSpLocks/>
          </p:cNvCxnSpPr>
          <p:nvPr/>
        </p:nvCxnSpPr>
        <p:spPr>
          <a:xfrm flipV="1">
            <a:off x="405355" y="3429000"/>
            <a:ext cx="11381290" cy="984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50E97D37-DF8A-42D7-BE44-1707741F6EF4}"/>
              </a:ext>
            </a:extLst>
          </p:cNvPr>
          <p:cNvSpPr txBox="1">
            <a:spLocks/>
          </p:cNvSpPr>
          <p:nvPr/>
        </p:nvSpPr>
        <p:spPr>
          <a:xfrm>
            <a:off x="9623394" y="6672874"/>
            <a:ext cx="2274956" cy="14355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1200" b="1" dirty="0">
                <a:solidFill>
                  <a:schemeClr val="bg1">
                    <a:lumMod val="50000"/>
                  </a:schemeClr>
                </a:solidFill>
                <a:latin typeface="Klavika CH Medium Cond"/>
              </a:rPr>
              <a:t>Aktif – Pasif Yönetimi Müdürlüğü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Klavika CH Medium Cond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6A117A-A11A-4149-A889-A16DC78FA95D}"/>
              </a:ext>
            </a:extLst>
          </p:cNvPr>
          <p:cNvSpPr/>
          <p:nvPr/>
        </p:nvSpPr>
        <p:spPr>
          <a:xfrm rot="5400000" flipH="1">
            <a:off x="6220185" y="4085104"/>
            <a:ext cx="761902" cy="1223941"/>
          </a:xfrm>
          <a:prstGeom prst="roundRect">
            <a:avLst>
              <a:gd name="adj" fmla="val 31901"/>
            </a:avLst>
          </a:prstGeom>
          <a:noFill/>
          <a:ln w="28575">
            <a:solidFill>
              <a:srgbClr val="BFB31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58E9DB-3EBF-424E-BDA5-697DCB0AE296}"/>
              </a:ext>
            </a:extLst>
          </p:cNvPr>
          <p:cNvSpPr txBox="1"/>
          <p:nvPr/>
        </p:nvSpPr>
        <p:spPr>
          <a:xfrm>
            <a:off x="9623394" y="960003"/>
            <a:ext cx="1265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>
                <a:solidFill>
                  <a:srgbClr val="C00000"/>
                </a:solidFill>
              </a:rPr>
              <a:t>Ali yapacak</a:t>
            </a:r>
          </a:p>
        </p:txBody>
      </p:sp>
    </p:spTree>
    <p:extLst>
      <p:ext uri="{BB962C8B-B14F-4D97-AF65-F5344CB8AC3E}">
        <p14:creationId xmlns:p14="http://schemas.microsoft.com/office/powerpoint/2010/main" val="425467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C7E3103-91AA-44A8-9EB7-A55E59C4C9B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51011" y="783846"/>
          <a:ext cx="11647339" cy="5889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31D1F2D-7416-4BB2-AD19-08A405C2F2E4}"/>
              </a:ext>
            </a:extLst>
          </p:cNvPr>
          <p:cNvSpPr txBox="1"/>
          <p:nvPr/>
        </p:nvSpPr>
        <p:spPr>
          <a:xfrm>
            <a:off x="4525453" y="4731345"/>
            <a:ext cx="3141094" cy="6155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tr-TR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TOPLAM MALİYET AVANTAJI</a:t>
            </a:r>
          </a:p>
          <a:p>
            <a:pPr algn="ctr"/>
            <a:r>
              <a:rPr lang="tr-TR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2,210 milyon TL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834DF1-CC2D-42A6-9C3F-982228EEACE3}"/>
              </a:ext>
            </a:extLst>
          </p:cNvPr>
          <p:cNvCxnSpPr/>
          <p:nvPr/>
        </p:nvCxnSpPr>
        <p:spPr>
          <a:xfrm flipV="1">
            <a:off x="251012" y="783847"/>
            <a:ext cx="11647339" cy="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C45A628E-FEFC-41EC-839F-B02F4517CE0C}"/>
              </a:ext>
            </a:extLst>
          </p:cNvPr>
          <p:cNvSpPr txBox="1">
            <a:spLocks/>
          </p:cNvSpPr>
          <p:nvPr/>
        </p:nvSpPr>
        <p:spPr>
          <a:xfrm>
            <a:off x="9623394" y="6672874"/>
            <a:ext cx="2274956" cy="14355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1200" b="1" dirty="0">
                <a:solidFill>
                  <a:schemeClr val="bg1">
                    <a:lumMod val="50000"/>
                  </a:schemeClr>
                </a:solidFill>
                <a:latin typeface="Klavika CH Medium Cond"/>
              </a:rPr>
              <a:t>Aktif – Pasif Yönetimi Müdürlüğü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Klavika CH Medium Con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1C3704-AF59-4ED9-B76F-D59DB3C3DD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92" y="107483"/>
            <a:ext cx="2078810" cy="578716"/>
          </a:xfrm>
          <a:prstGeom prst="rect">
            <a:avLst/>
          </a:prstGeom>
        </p:spPr>
      </p:pic>
      <p:sp>
        <p:nvSpPr>
          <p:cNvPr id="8" name="文本框 37">
            <a:extLst>
              <a:ext uri="{FF2B5EF4-FFF2-40B4-BE49-F238E27FC236}">
                <a16:creationId xmlns:a16="http://schemas.microsoft.com/office/drawing/2014/main" id="{563CD454-9389-4D86-A532-FC1EC1C98B32}"/>
              </a:ext>
            </a:extLst>
          </p:cNvPr>
          <p:cNvSpPr txBox="1"/>
          <p:nvPr/>
        </p:nvSpPr>
        <p:spPr>
          <a:xfrm>
            <a:off x="251011" y="152221"/>
            <a:ext cx="9454881" cy="560721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/>
          <a:p>
            <a:pPr marL="342900" lvl="0" indent="-342900" defTabSz="1285208">
              <a:buFont typeface="Wingdings" panose="05000000000000000000" pitchFamily="2" charset="2"/>
              <a:buChar char="l"/>
              <a:defRPr/>
            </a:pPr>
            <a:r>
              <a:rPr lang="tr-TR" altLang="zh-CN" sz="2800" b="1" dirty="0">
                <a:solidFill>
                  <a:srgbClr val="2A7472"/>
                </a:solidFill>
                <a:cs typeface="+mn-ea"/>
                <a:sym typeface="+mn-lt"/>
              </a:rPr>
              <a:t>SIKI PARASAL DURUŞ DÖNEMİNDE AKTİF-PASİFİN ROLÜ –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A348D-AC1B-4AF4-AC07-2DE7C4838224}"/>
              </a:ext>
            </a:extLst>
          </p:cNvPr>
          <p:cNvSpPr txBox="1"/>
          <p:nvPr/>
        </p:nvSpPr>
        <p:spPr>
          <a:xfrm>
            <a:off x="9046745" y="854752"/>
            <a:ext cx="2397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 err="1">
                <a:solidFill>
                  <a:srgbClr val="C00000"/>
                </a:solidFill>
              </a:rPr>
              <a:t>Saadet+Oktay</a:t>
            </a:r>
            <a:r>
              <a:rPr lang="tr-TR" b="1" dirty="0">
                <a:solidFill>
                  <a:srgbClr val="C00000"/>
                </a:solidFill>
              </a:rPr>
              <a:t> yapacak</a:t>
            </a:r>
          </a:p>
        </p:txBody>
      </p:sp>
    </p:spTree>
    <p:extLst>
      <p:ext uri="{BB962C8B-B14F-4D97-AF65-F5344CB8AC3E}">
        <p14:creationId xmlns:p14="http://schemas.microsoft.com/office/powerpoint/2010/main" val="185282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1120390D-D541-4E53-9267-21DF839B3D8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51011" y="1225119"/>
          <a:ext cx="11647339" cy="5447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C7F20F8-5AAA-4EE2-8F86-39BE6BCF47D8}"/>
              </a:ext>
            </a:extLst>
          </p:cNvPr>
          <p:cNvSpPr txBox="1"/>
          <p:nvPr/>
        </p:nvSpPr>
        <p:spPr>
          <a:xfrm>
            <a:off x="4278967" y="4491631"/>
            <a:ext cx="3591425" cy="6155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tr-TR"/>
            </a:defPPr>
            <a:lvl1pPr algn="ctr">
              <a:defRPr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TOPLAM MALİYET AVANTAJI</a:t>
            </a:r>
          </a:p>
          <a:p>
            <a:r>
              <a:rPr lang="tr-TR" sz="1800" u="sng" dirty="0">
                <a:solidFill>
                  <a:srgbClr val="00B050"/>
                </a:solidFill>
              </a:rPr>
              <a:t>506 milyon TL</a:t>
            </a:r>
          </a:p>
        </p:txBody>
      </p:sp>
      <p:sp>
        <p:nvSpPr>
          <p:cNvPr id="21" name="文本框 37">
            <a:extLst>
              <a:ext uri="{FF2B5EF4-FFF2-40B4-BE49-F238E27FC236}">
                <a16:creationId xmlns:a16="http://schemas.microsoft.com/office/drawing/2014/main" id="{354A4E88-F455-4D04-B354-C53E47DB6EC7}"/>
              </a:ext>
            </a:extLst>
          </p:cNvPr>
          <p:cNvSpPr txBox="1"/>
          <p:nvPr/>
        </p:nvSpPr>
        <p:spPr>
          <a:xfrm>
            <a:off x="251011" y="152221"/>
            <a:ext cx="9454881" cy="560721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/>
          <a:p>
            <a:pPr marL="342900" lvl="0" indent="-342900" defTabSz="1285208">
              <a:buFont typeface="Wingdings" panose="05000000000000000000" pitchFamily="2" charset="2"/>
              <a:buChar char="l"/>
              <a:defRPr/>
            </a:pPr>
            <a:r>
              <a:rPr lang="tr-TR" altLang="zh-CN" sz="2800" b="1" dirty="0">
                <a:solidFill>
                  <a:srgbClr val="2A7472"/>
                </a:solidFill>
                <a:cs typeface="+mn-ea"/>
                <a:sym typeface="+mn-lt"/>
              </a:rPr>
              <a:t>SIKI PARASAL DURUŞ DÖNEMİNDE AKTİF-PASİFİN ROLÜ – II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50F8EF-FE72-4C51-ACEA-941EAEB56629}"/>
              </a:ext>
            </a:extLst>
          </p:cNvPr>
          <p:cNvCxnSpPr/>
          <p:nvPr/>
        </p:nvCxnSpPr>
        <p:spPr>
          <a:xfrm flipV="1">
            <a:off x="251012" y="783847"/>
            <a:ext cx="11647339" cy="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04BB51A3-644F-45BD-A8C8-53A8D48CF50F}"/>
              </a:ext>
            </a:extLst>
          </p:cNvPr>
          <p:cNvSpPr txBox="1">
            <a:spLocks/>
          </p:cNvSpPr>
          <p:nvPr/>
        </p:nvSpPr>
        <p:spPr>
          <a:xfrm>
            <a:off x="9623394" y="6672874"/>
            <a:ext cx="2274956" cy="14355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1200" b="1" dirty="0">
                <a:solidFill>
                  <a:schemeClr val="bg1">
                    <a:lumMod val="50000"/>
                  </a:schemeClr>
                </a:solidFill>
                <a:latin typeface="Klavika CH Medium Cond"/>
              </a:rPr>
              <a:t>Aktif – Pasif Yönetimi Müdürlüğü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Klavika CH Medium Cond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C06E554-80DC-4DA2-B272-A358F6FCE4F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92" y="107483"/>
            <a:ext cx="2078810" cy="57871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732A24A-7999-479B-A2D1-F43E8E4A6BC9}"/>
              </a:ext>
            </a:extLst>
          </p:cNvPr>
          <p:cNvSpPr/>
          <p:nvPr/>
        </p:nvSpPr>
        <p:spPr>
          <a:xfrm>
            <a:off x="577049" y="828407"/>
            <a:ext cx="113213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tr-TR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 fonlama maliyetimiz, yalnızca politika faizine göre değil; </a:t>
            </a:r>
            <a:r>
              <a:rPr lang="tr-TR" sz="1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sektör ortalamasına göre de avantajlı kaldı</a:t>
            </a:r>
            <a:r>
              <a:rPr lang="tr-TR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BB489-6577-46C0-856B-A89A09708AC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828230"/>
            <a:ext cx="326037" cy="324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13263A-4FA3-4828-8A56-59B29F8D0820}"/>
              </a:ext>
            </a:extLst>
          </p:cNvPr>
          <p:cNvSpPr txBox="1"/>
          <p:nvPr/>
        </p:nvSpPr>
        <p:spPr>
          <a:xfrm>
            <a:off x="9501091" y="931124"/>
            <a:ext cx="2397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 err="1">
                <a:solidFill>
                  <a:srgbClr val="C00000"/>
                </a:solidFill>
              </a:rPr>
              <a:t>Saadet+Oktay</a:t>
            </a:r>
            <a:r>
              <a:rPr lang="tr-TR" b="1" dirty="0">
                <a:solidFill>
                  <a:srgbClr val="C00000"/>
                </a:solidFill>
              </a:rPr>
              <a:t> yapacak</a:t>
            </a:r>
          </a:p>
        </p:txBody>
      </p:sp>
    </p:spTree>
    <p:extLst>
      <p:ext uri="{BB962C8B-B14F-4D97-AF65-F5344CB8AC3E}">
        <p14:creationId xmlns:p14="http://schemas.microsoft.com/office/powerpoint/2010/main" val="34090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B273BD-97B1-4A23-A86C-D6D37F96B9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812087"/>
            <a:ext cx="6788490" cy="5937242"/>
          </a:xfrm>
          <a:prstGeom prst="rect">
            <a:avLst/>
          </a:prstGeom>
        </p:spPr>
      </p:pic>
      <p:sp>
        <p:nvSpPr>
          <p:cNvPr id="7" name="文本框 37">
            <a:extLst>
              <a:ext uri="{FF2B5EF4-FFF2-40B4-BE49-F238E27FC236}">
                <a16:creationId xmlns:a16="http://schemas.microsoft.com/office/drawing/2014/main" id="{EB931E41-86E8-48E5-8FA2-5270D400886C}"/>
              </a:ext>
            </a:extLst>
          </p:cNvPr>
          <p:cNvSpPr txBox="1"/>
          <p:nvPr/>
        </p:nvSpPr>
        <p:spPr>
          <a:xfrm>
            <a:off x="251012" y="139597"/>
            <a:ext cx="9454880" cy="560721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>
            <a:defPPr>
              <a:defRPr lang="tr-TR"/>
            </a:defPPr>
            <a:lvl1pPr marL="342900" lvl="0" indent="-342900" defTabSz="1285208">
              <a:buFont typeface="Wingdings" panose="05000000000000000000" pitchFamily="2" charset="2"/>
              <a:buChar char="l"/>
              <a:defRPr sz="2400" b="1">
                <a:solidFill>
                  <a:srgbClr val="2A7472"/>
                </a:solidFill>
                <a:cs typeface="+mn-ea"/>
              </a:defRPr>
            </a:lvl1pPr>
          </a:lstStyle>
          <a:p>
            <a:r>
              <a:rPr lang="tr-TR" altLang="zh-CN" sz="2800" dirty="0">
                <a:sym typeface="+mn-lt"/>
              </a:rPr>
              <a:t>YÜKSEK FAİZ ORTAMINDA KTR FONU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E34BC7-0E9F-49D1-8D25-883A379B77D0}"/>
              </a:ext>
            </a:extLst>
          </p:cNvPr>
          <p:cNvCxnSpPr/>
          <p:nvPr/>
        </p:nvCxnSpPr>
        <p:spPr>
          <a:xfrm flipV="1">
            <a:off x="251012" y="783847"/>
            <a:ext cx="11647339" cy="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08B04BB8-7AF1-470B-A364-BEC75B697A59}"/>
              </a:ext>
            </a:extLst>
          </p:cNvPr>
          <p:cNvSpPr txBox="1">
            <a:spLocks/>
          </p:cNvSpPr>
          <p:nvPr/>
        </p:nvSpPr>
        <p:spPr>
          <a:xfrm>
            <a:off x="9623394" y="6672874"/>
            <a:ext cx="2274956" cy="14355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1200" b="1" dirty="0">
                <a:solidFill>
                  <a:schemeClr val="bg1">
                    <a:lumMod val="50000"/>
                  </a:schemeClr>
                </a:solidFill>
                <a:latin typeface="Klavika CH Medium Cond"/>
              </a:rPr>
              <a:t>Aktif – Pasif Yönetimi Müdürlüğü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Klavika CH Medium Con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137BE3-3D99-4840-93A4-9AD03CE5A1D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92" y="107483"/>
            <a:ext cx="2078810" cy="578716"/>
          </a:xfrm>
          <a:prstGeom prst="rect">
            <a:avLst/>
          </a:prstGeom>
        </p:spPr>
      </p:pic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1E0801F3-7BDB-478A-A0CF-46B56E7BFE6F}"/>
              </a:ext>
            </a:extLst>
          </p:cNvPr>
          <p:cNvSpPr/>
          <p:nvPr/>
        </p:nvSpPr>
        <p:spPr>
          <a:xfrm>
            <a:off x="8384960" y="2424289"/>
            <a:ext cx="2880804" cy="2529953"/>
          </a:xfrm>
          <a:prstGeom prst="borderCallout2">
            <a:avLst>
              <a:gd name="adj1" fmla="val 267"/>
              <a:gd name="adj2" fmla="val -113"/>
              <a:gd name="adj3" fmla="val 87750"/>
              <a:gd name="adj4" fmla="val -25324"/>
              <a:gd name="adj5" fmla="val 130947"/>
              <a:gd name="adj6" fmla="val -86259"/>
            </a:avLst>
          </a:prstGeom>
          <a:noFill/>
          <a:ln w="28575">
            <a:solidFill>
              <a:srgbClr val="BFB31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ECACF2-D029-40E3-BC94-4E922817FC77}"/>
              </a:ext>
            </a:extLst>
          </p:cNvPr>
          <p:cNvSpPr/>
          <p:nvPr/>
        </p:nvSpPr>
        <p:spPr>
          <a:xfrm>
            <a:off x="8473737" y="2527410"/>
            <a:ext cx="2703250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tr-TR" altLang="zh-CN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Vergi Muafiyeti:</a:t>
            </a:r>
          </a:p>
          <a:p>
            <a:pPr marL="171450" indent="-171450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tr-TR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%30</a:t>
            </a:r>
          </a:p>
          <a:p>
            <a:pPr marL="171450" indent="-171450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tr-TR" altLang="zh-CN" sz="240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1.25 milyar TL</a:t>
            </a:r>
          </a:p>
          <a:p>
            <a:pPr algn="ctr">
              <a:spcAft>
                <a:spcPts val="1000"/>
              </a:spcAft>
            </a:pPr>
            <a:r>
              <a:rPr lang="tr-TR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(vergi avantajı kaynaklı gelir)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DC044-9BCD-428F-9EB1-F8DAB042A5DF}"/>
              </a:ext>
            </a:extLst>
          </p:cNvPr>
          <p:cNvSpPr txBox="1"/>
          <p:nvPr/>
        </p:nvSpPr>
        <p:spPr>
          <a:xfrm>
            <a:off x="9046745" y="854752"/>
            <a:ext cx="1737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 err="1">
                <a:solidFill>
                  <a:srgbClr val="C00000"/>
                </a:solidFill>
              </a:rPr>
              <a:t>Kumser</a:t>
            </a:r>
            <a:r>
              <a:rPr lang="tr-TR" b="1" dirty="0">
                <a:solidFill>
                  <a:srgbClr val="C00000"/>
                </a:solidFill>
              </a:rPr>
              <a:t> yapacak</a:t>
            </a:r>
          </a:p>
        </p:txBody>
      </p:sp>
    </p:spTree>
    <p:extLst>
      <p:ext uri="{BB962C8B-B14F-4D97-AF65-F5344CB8AC3E}">
        <p14:creationId xmlns:p14="http://schemas.microsoft.com/office/powerpoint/2010/main" val="170183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522B4AC-C656-4EA4-BB86-D35D3DD36588}"/>
              </a:ext>
            </a:extLst>
          </p:cNvPr>
          <p:cNvSpPr txBox="1"/>
          <p:nvPr/>
        </p:nvSpPr>
        <p:spPr>
          <a:xfrm>
            <a:off x="852754" y="6585599"/>
            <a:ext cx="97210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Arial" panose="020B0604020202020204" pitchFamily="34" charset="0"/>
                <a:cs typeface="Arial" panose="020B0604020202020204" pitchFamily="34" charset="0"/>
              </a:rPr>
              <a:t>*Vadede TL Alım Yönlü İşlemler</a:t>
            </a: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3F8B266C-1F8D-47C6-95AF-0EC2ED63ACA1}"/>
              </a:ext>
            </a:extLst>
          </p:cNvPr>
          <p:cNvSpPr txBox="1"/>
          <p:nvPr/>
        </p:nvSpPr>
        <p:spPr>
          <a:xfrm>
            <a:off x="251012" y="125478"/>
            <a:ext cx="9454880" cy="560721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>
            <a:defPPr>
              <a:defRPr lang="tr-TR"/>
            </a:defPPr>
            <a:lvl1pPr marL="342900" lvl="0" indent="-342900" defTabSz="1285208">
              <a:buFont typeface="Wingdings" panose="05000000000000000000" pitchFamily="2" charset="2"/>
              <a:buChar char="l"/>
              <a:defRPr sz="2800" b="1">
                <a:solidFill>
                  <a:srgbClr val="2A7472"/>
                </a:solidFill>
                <a:cs typeface="+mn-ea"/>
              </a:defRPr>
            </a:lvl1pPr>
          </a:lstStyle>
          <a:p>
            <a:r>
              <a:rPr lang="tr-TR" altLang="zh-CN" dirty="0">
                <a:sym typeface="+mn-lt"/>
              </a:rPr>
              <a:t>ÖZET: İŞLEM &amp; GETİRİLER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FB15CF-0A8C-4DB6-B160-1C7FE6C6892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52754" y="866801"/>
          <a:ext cx="10486492" cy="5449663"/>
        </p:xfrm>
        <a:graphic>
          <a:graphicData uri="http://schemas.openxmlformats.org/drawingml/2006/table">
            <a:tbl>
              <a:tblPr/>
              <a:tblGrid>
                <a:gridCol w="6720376">
                  <a:extLst>
                    <a:ext uri="{9D8B030D-6E8A-4147-A177-3AD203B41FA5}">
                      <a16:colId xmlns:a16="http://schemas.microsoft.com/office/drawing/2014/main" val="2406653154"/>
                    </a:ext>
                  </a:extLst>
                </a:gridCol>
                <a:gridCol w="3766116">
                  <a:extLst>
                    <a:ext uri="{9D8B030D-6E8A-4147-A177-3AD203B41FA5}">
                      <a16:colId xmlns:a16="http://schemas.microsoft.com/office/drawing/2014/main" val="2824102995"/>
                    </a:ext>
                  </a:extLst>
                </a:gridCol>
              </a:tblGrid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TL İŞLEMLER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D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Kar / Maliyet Avantajı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228634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TCMB &amp; Bankalardan TL Fonlama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2,210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641764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Plasman*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-238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158709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Vergi (KTR Fonu)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1,250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940666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algn="l" fontAlgn="b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255606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USD İŞLEMLER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D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tr-TR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616411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Plasman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093800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Fonlama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48986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algn="l" fontAlgn="b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981459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EUR İŞLEMLER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D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tr-TR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531827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EUR Fonlama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-40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071371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algn="l" fontAlgn="b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031431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DOĞRUDAN ALIM İHALELERİ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32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307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4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42459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algn="ctr" rtl="0" fontAlgn="ctr"/>
                      <a:endParaRPr lang="tr-TR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tr-TR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771030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lvl="2" algn="l" rtl="0" fontAlgn="ctr"/>
                      <a:r>
                        <a:rPr lang="tr-T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MASHREQ BANK CP TL FONLAMA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47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93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4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249598"/>
                  </a:ext>
                </a:extLst>
              </a:tr>
              <a:tr h="315993">
                <a:tc>
                  <a:txBody>
                    <a:bodyPr/>
                    <a:lstStyle/>
                    <a:p>
                      <a:pPr algn="ctr" rtl="0" fontAlgn="ctr"/>
                      <a:endParaRPr lang="tr-TR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tr-TR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7461"/>
                  </a:ext>
                </a:extLst>
              </a:tr>
              <a:tr h="393775">
                <a:tc>
                  <a:txBody>
                    <a:bodyPr/>
                    <a:lstStyle/>
                    <a:p>
                      <a:pPr algn="ctr" rtl="0" fontAlgn="ctr"/>
                      <a:r>
                        <a:rPr lang="tr-TR" sz="2000" b="1" i="0" u="sng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TOPLAM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32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000" b="1" i="0" u="sng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3,648 Milyon TL</a:t>
                      </a:r>
                    </a:p>
                  </a:txBody>
                  <a:tcPr marL="3810" marR="3810" marT="381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4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283985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F90DF4-756A-4CC8-BB51-55DE28ACEC1A}"/>
              </a:ext>
            </a:extLst>
          </p:cNvPr>
          <p:cNvCxnSpPr/>
          <p:nvPr/>
        </p:nvCxnSpPr>
        <p:spPr>
          <a:xfrm flipV="1">
            <a:off x="251012" y="783847"/>
            <a:ext cx="11647339" cy="1"/>
          </a:xfrm>
          <a:prstGeom prst="line">
            <a:avLst/>
          </a:prstGeom>
          <a:ln w="19050">
            <a:solidFill>
              <a:srgbClr val="2A74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7BA02A-631C-46D4-88FF-0DCFBFCE971D}"/>
              </a:ext>
            </a:extLst>
          </p:cNvPr>
          <p:cNvSpPr txBox="1">
            <a:spLocks/>
          </p:cNvSpPr>
          <p:nvPr/>
        </p:nvSpPr>
        <p:spPr>
          <a:xfrm>
            <a:off x="9623394" y="6672874"/>
            <a:ext cx="2274956" cy="14355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1200" b="1" dirty="0">
                <a:solidFill>
                  <a:schemeClr val="bg1">
                    <a:lumMod val="50000"/>
                  </a:schemeClr>
                </a:solidFill>
                <a:latin typeface="Klavika CH Medium Cond"/>
              </a:rPr>
              <a:t>Aktif – Pasif Yönetimi Müdürlüğü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Klavika CH Medium Con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0BE896-9264-47CC-A3DC-22D3EDDB352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92" y="107483"/>
            <a:ext cx="2078810" cy="57871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9981A4-78F0-48D6-B6DD-4104E3BE562D}"/>
              </a:ext>
            </a:extLst>
          </p:cNvPr>
          <p:cNvSpPr/>
          <p:nvPr/>
        </p:nvSpPr>
        <p:spPr>
          <a:xfrm rot="5400000" flipH="1">
            <a:off x="5853435" y="788711"/>
            <a:ext cx="492100" cy="10687669"/>
          </a:xfrm>
          <a:prstGeom prst="roundRect">
            <a:avLst>
              <a:gd name="adj" fmla="val 28150"/>
            </a:avLst>
          </a:prstGeom>
          <a:noFill/>
          <a:ln w="28575">
            <a:solidFill>
              <a:srgbClr val="9F951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76ACE-0706-4A9B-9A1A-594AAFA828FC}"/>
              </a:ext>
            </a:extLst>
          </p:cNvPr>
          <p:cNvSpPr txBox="1"/>
          <p:nvPr/>
        </p:nvSpPr>
        <p:spPr>
          <a:xfrm>
            <a:off x="6954334" y="107483"/>
            <a:ext cx="1737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 err="1">
                <a:solidFill>
                  <a:srgbClr val="C00000"/>
                </a:solidFill>
              </a:rPr>
              <a:t>Kumser</a:t>
            </a:r>
            <a:r>
              <a:rPr lang="tr-TR" b="1" dirty="0">
                <a:solidFill>
                  <a:srgbClr val="C00000"/>
                </a:solidFill>
              </a:rPr>
              <a:t> yapacak</a:t>
            </a:r>
          </a:p>
        </p:txBody>
      </p:sp>
    </p:spTree>
    <p:extLst>
      <p:ext uri="{BB962C8B-B14F-4D97-AF65-F5344CB8AC3E}">
        <p14:creationId xmlns:p14="http://schemas.microsoft.com/office/powerpoint/2010/main" val="35849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5B9A8-C39A-49E7-B9CF-14E51FE4D36B}"/>
              </a:ext>
            </a:extLst>
          </p:cNvPr>
          <p:cNvSpPr/>
          <p:nvPr/>
        </p:nvSpPr>
        <p:spPr>
          <a:xfrm>
            <a:off x="693965" y="698843"/>
            <a:ext cx="45429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/>
              <a:t>Sukuk</a:t>
            </a:r>
            <a:r>
              <a:rPr lang="tr-TR" dirty="0"/>
              <a:t> yatırımları </a:t>
            </a:r>
          </a:p>
          <a:p>
            <a:r>
              <a:rPr lang="tr-TR" dirty="0"/>
              <a:t>TLREFK </a:t>
            </a:r>
            <a:r>
              <a:rPr lang="tr-TR" dirty="0" err="1"/>
              <a:t>sukuk</a:t>
            </a:r>
            <a:r>
              <a:rPr lang="tr-TR" dirty="0"/>
              <a:t> aldık / ilk defa</a:t>
            </a:r>
          </a:p>
          <a:p>
            <a:r>
              <a:rPr lang="tr-TR" dirty="0"/>
              <a:t>Diğer </a:t>
            </a:r>
            <a:r>
              <a:rPr lang="tr-TR" dirty="0" err="1"/>
              <a:t>sukuk</a:t>
            </a:r>
            <a:r>
              <a:rPr lang="tr-TR" dirty="0"/>
              <a:t> yatırımlarımız ve elde ettiğimiz kar</a:t>
            </a:r>
          </a:p>
          <a:p>
            <a:endParaRPr lang="tr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4FAA8-57E1-4E4E-8D03-22F3C5C67651}"/>
              </a:ext>
            </a:extLst>
          </p:cNvPr>
          <p:cNvSpPr txBox="1"/>
          <p:nvPr/>
        </p:nvSpPr>
        <p:spPr>
          <a:xfrm>
            <a:off x="9046745" y="854752"/>
            <a:ext cx="1601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>
                <a:solidFill>
                  <a:srgbClr val="C00000"/>
                </a:solidFill>
              </a:rPr>
              <a:t>Harun yapacak</a:t>
            </a:r>
          </a:p>
        </p:txBody>
      </p:sp>
    </p:spTree>
    <p:extLst>
      <p:ext uri="{BB962C8B-B14F-4D97-AF65-F5344CB8AC3E}">
        <p14:creationId xmlns:p14="http://schemas.microsoft.com/office/powerpoint/2010/main" val="351513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1000">
        <p14:prism isContent="1" isInverted="1"/>
      </p:transition>
    </mc:Choice>
    <mc:Fallback xmlns="">
      <p:transition spd="slow" advClick="0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5B9A8-C39A-49E7-B9CF-14E51FE4D36B}"/>
              </a:ext>
            </a:extLst>
          </p:cNvPr>
          <p:cNvSpPr/>
          <p:nvPr/>
        </p:nvSpPr>
        <p:spPr>
          <a:xfrm>
            <a:off x="693965" y="698843"/>
            <a:ext cx="5559279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/>
              <a:t>Makroihtiyati</a:t>
            </a:r>
            <a:r>
              <a:rPr lang="tr-TR" dirty="0"/>
              <a:t> tedbirler için aldığımız aksiyonlar</a:t>
            </a:r>
          </a:p>
          <a:p>
            <a:endParaRPr lang="tr-TR" dirty="0"/>
          </a:p>
          <a:p>
            <a:pPr marL="342900" indent="-342900">
              <a:buAutoNum type="arabicPeriod"/>
            </a:pPr>
            <a:r>
              <a:rPr lang="tr-TR" dirty="0"/>
              <a:t>Müşterilerle yapılan repo işlemleri </a:t>
            </a:r>
          </a:p>
          <a:p>
            <a:pPr marL="342900" indent="-342900">
              <a:buAutoNum type="arabicPeriod"/>
            </a:pPr>
            <a:r>
              <a:rPr lang="tr-TR" dirty="0"/>
              <a:t>Zay+za2 fonu </a:t>
            </a:r>
          </a:p>
          <a:p>
            <a:pPr marL="342900" indent="-342900">
              <a:buAutoNum type="arabicPeriod"/>
            </a:pPr>
            <a:r>
              <a:rPr lang="tr-TR" dirty="0" err="1"/>
              <a:t>Kzl</a:t>
            </a:r>
            <a:r>
              <a:rPr lang="tr-TR" dirty="0"/>
              <a:t> fonu / ödünç işlemler</a:t>
            </a:r>
          </a:p>
          <a:p>
            <a:pPr marL="342900" indent="-342900">
              <a:buAutoNum type="arabicPeriod"/>
            </a:pPr>
            <a:r>
              <a:rPr lang="tr-TR" dirty="0"/>
              <a:t>Büyümeden muaf kredilerde özel şubeler cari desteği </a:t>
            </a:r>
          </a:p>
          <a:p>
            <a:pPr marL="342900" indent="-342900">
              <a:buAutoNum type="arabicPeriod"/>
            </a:pPr>
            <a:endParaRPr lang="tr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6D0EE-ECB2-4774-96C4-0AABB99E3AB8}"/>
              </a:ext>
            </a:extLst>
          </p:cNvPr>
          <p:cNvSpPr txBox="1"/>
          <p:nvPr/>
        </p:nvSpPr>
        <p:spPr>
          <a:xfrm>
            <a:off x="9046745" y="854752"/>
            <a:ext cx="1265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rgbClr val="C00000"/>
                </a:solidFill>
              </a:rPr>
              <a:t>Bu Bölümü</a:t>
            </a:r>
            <a:br>
              <a:rPr lang="tr-TR" b="1" dirty="0">
                <a:solidFill>
                  <a:srgbClr val="C00000"/>
                </a:solidFill>
              </a:rPr>
            </a:br>
            <a:r>
              <a:rPr lang="tr-TR" b="1" dirty="0">
                <a:solidFill>
                  <a:srgbClr val="C00000"/>
                </a:solidFill>
              </a:rPr>
              <a:t>Ali yapacak</a:t>
            </a:r>
          </a:p>
        </p:txBody>
      </p:sp>
    </p:spTree>
    <p:extLst>
      <p:ext uri="{BB962C8B-B14F-4D97-AF65-F5344CB8AC3E}">
        <p14:creationId xmlns:p14="http://schemas.microsoft.com/office/powerpoint/2010/main" val="351177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1000">
        <p14:prism isContent="1" isInverted="1"/>
      </p:transition>
    </mc:Choice>
    <mc:Fallback xmlns="">
      <p:transition spd="slow" advClick="0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37">
            <a:extLst>
              <a:ext uri="{FF2B5EF4-FFF2-40B4-BE49-F238E27FC236}">
                <a16:creationId xmlns:a16="http://schemas.microsoft.com/office/drawing/2014/main" id="{0592E868-732B-435E-A7B3-4E0B400025E8}"/>
              </a:ext>
            </a:extLst>
          </p:cNvPr>
          <p:cNvSpPr txBox="1"/>
          <p:nvPr/>
        </p:nvSpPr>
        <p:spPr>
          <a:xfrm>
            <a:off x="483838" y="328976"/>
            <a:ext cx="8349444" cy="622276"/>
          </a:xfrm>
          <a:prstGeom prst="rect">
            <a:avLst/>
          </a:prstGeom>
          <a:noFill/>
        </p:spPr>
        <p:txBody>
          <a:bodyPr wrap="square" lIns="128579" tIns="64289" rIns="128579" bIns="64289" rtlCol="0">
            <a:spAutoFit/>
          </a:bodyPr>
          <a:lstStyle/>
          <a:p>
            <a:pPr marL="0" marR="0" lvl="0" indent="0" algn="l" defTabSz="12852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6D6B"/>
                </a:solidFill>
                <a:effectLst/>
                <a:uLnTx/>
                <a:uFillTx/>
                <a:latin typeface="Arial" panose="020F0502020204030204"/>
                <a:ea typeface="微软雅黑"/>
                <a:cs typeface="+mn-ea"/>
                <a:sym typeface="+mn-lt"/>
              </a:rPr>
              <a:t>               2026 STRATEJİK HEDEFLER 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1D6D6B"/>
              </a:solidFill>
              <a:effectLst/>
              <a:uLnTx/>
              <a:uFillTx/>
              <a:latin typeface="Arial" panose="020F0502020204030204"/>
              <a:ea typeface="微软雅黑"/>
              <a:cs typeface="+mn-ea"/>
              <a:sym typeface="+mn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35FB99-C968-44F9-B498-23EFD7CA8E88}"/>
              </a:ext>
            </a:extLst>
          </p:cNvPr>
          <p:cNvGrpSpPr/>
          <p:nvPr/>
        </p:nvGrpSpPr>
        <p:grpSpPr>
          <a:xfrm>
            <a:off x="1306616" y="222097"/>
            <a:ext cx="849004" cy="836033"/>
            <a:chOff x="9080236" y="698162"/>
            <a:chExt cx="942555" cy="948890"/>
          </a:xfrm>
        </p:grpSpPr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FACD870A-F482-48B0-A0ED-26EBFF16673A}"/>
                </a:ext>
              </a:extLst>
            </p:cNvPr>
            <p:cNvSpPr/>
            <p:nvPr/>
          </p:nvSpPr>
          <p:spPr bwMode="auto">
            <a:xfrm>
              <a:off x="9080236" y="797885"/>
              <a:ext cx="848905" cy="849167"/>
            </a:xfrm>
            <a:custGeom>
              <a:avLst/>
              <a:gdLst>
                <a:gd name="T0" fmla="*/ 104 w 208"/>
                <a:gd name="T1" fmla="*/ 208 h 208"/>
                <a:gd name="T2" fmla="*/ 208 w 208"/>
                <a:gd name="T3" fmla="*/ 104 h 208"/>
                <a:gd name="T4" fmla="*/ 196 w 208"/>
                <a:gd name="T5" fmla="*/ 55 h 208"/>
                <a:gd name="T6" fmla="*/ 194 w 208"/>
                <a:gd name="T7" fmla="*/ 55 h 208"/>
                <a:gd name="T8" fmla="*/ 192 w 208"/>
                <a:gd name="T9" fmla="*/ 55 h 208"/>
                <a:gd name="T10" fmla="*/ 179 w 208"/>
                <a:gd name="T11" fmla="*/ 54 h 208"/>
                <a:gd name="T12" fmla="*/ 169 w 208"/>
                <a:gd name="T13" fmla="*/ 63 h 208"/>
                <a:gd name="T14" fmla="*/ 181 w 208"/>
                <a:gd name="T15" fmla="*/ 104 h 208"/>
                <a:gd name="T16" fmla="*/ 104 w 208"/>
                <a:gd name="T17" fmla="*/ 180 h 208"/>
                <a:gd name="T18" fmla="*/ 28 w 208"/>
                <a:gd name="T19" fmla="*/ 104 h 208"/>
                <a:gd name="T20" fmla="*/ 104 w 208"/>
                <a:gd name="T21" fmla="*/ 27 h 208"/>
                <a:gd name="T22" fmla="*/ 145 w 208"/>
                <a:gd name="T23" fmla="*/ 39 h 208"/>
                <a:gd name="T24" fmla="*/ 153 w 208"/>
                <a:gd name="T25" fmla="*/ 30 h 208"/>
                <a:gd name="T26" fmla="*/ 152 w 208"/>
                <a:gd name="T27" fmla="*/ 15 h 208"/>
                <a:gd name="T28" fmla="*/ 152 w 208"/>
                <a:gd name="T29" fmla="*/ 11 h 208"/>
                <a:gd name="T30" fmla="*/ 104 w 208"/>
                <a:gd name="T31" fmla="*/ 0 h 208"/>
                <a:gd name="T32" fmla="*/ 0 w 208"/>
                <a:gd name="T33" fmla="*/ 104 h 208"/>
                <a:gd name="T34" fmla="*/ 104 w 208"/>
                <a:gd name="T35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8" h="208">
                  <a:moveTo>
                    <a:pt x="104" y="208"/>
                  </a:moveTo>
                  <a:cubicBezTo>
                    <a:pt x="162" y="208"/>
                    <a:pt x="208" y="161"/>
                    <a:pt x="208" y="104"/>
                  </a:cubicBezTo>
                  <a:cubicBezTo>
                    <a:pt x="208" y="86"/>
                    <a:pt x="204" y="69"/>
                    <a:pt x="196" y="55"/>
                  </a:cubicBezTo>
                  <a:cubicBezTo>
                    <a:pt x="195" y="55"/>
                    <a:pt x="194" y="55"/>
                    <a:pt x="194" y="55"/>
                  </a:cubicBezTo>
                  <a:cubicBezTo>
                    <a:pt x="193" y="55"/>
                    <a:pt x="193" y="55"/>
                    <a:pt x="192" y="55"/>
                  </a:cubicBezTo>
                  <a:cubicBezTo>
                    <a:pt x="179" y="54"/>
                    <a:pt x="179" y="54"/>
                    <a:pt x="179" y="5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7" y="75"/>
                    <a:pt x="181" y="89"/>
                    <a:pt x="181" y="104"/>
                  </a:cubicBezTo>
                  <a:cubicBezTo>
                    <a:pt x="181" y="146"/>
                    <a:pt x="147" y="180"/>
                    <a:pt x="104" y="180"/>
                  </a:cubicBezTo>
                  <a:cubicBezTo>
                    <a:pt x="62" y="180"/>
                    <a:pt x="28" y="146"/>
                    <a:pt x="28" y="104"/>
                  </a:cubicBezTo>
                  <a:cubicBezTo>
                    <a:pt x="28" y="61"/>
                    <a:pt x="62" y="27"/>
                    <a:pt x="104" y="27"/>
                  </a:cubicBezTo>
                  <a:cubicBezTo>
                    <a:pt x="119" y="27"/>
                    <a:pt x="133" y="31"/>
                    <a:pt x="145" y="39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4"/>
                    <a:pt x="152" y="12"/>
                    <a:pt x="152" y="11"/>
                  </a:cubicBezTo>
                  <a:cubicBezTo>
                    <a:pt x="138" y="4"/>
                    <a:pt x="121" y="0"/>
                    <a:pt x="104" y="0"/>
                  </a:cubicBezTo>
                  <a:cubicBezTo>
                    <a:pt x="47" y="0"/>
                    <a:pt x="0" y="46"/>
                    <a:pt x="0" y="104"/>
                  </a:cubicBezTo>
                  <a:cubicBezTo>
                    <a:pt x="0" y="161"/>
                    <a:pt x="47" y="208"/>
                    <a:pt x="104" y="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12" name="Freeform 91">
              <a:extLst>
                <a:ext uri="{FF2B5EF4-FFF2-40B4-BE49-F238E27FC236}">
                  <a16:creationId xmlns:a16="http://schemas.microsoft.com/office/drawing/2014/main" id="{0152F180-1AA6-4602-9ED8-AA3F5E8526AA}"/>
                </a:ext>
              </a:extLst>
            </p:cNvPr>
            <p:cNvSpPr/>
            <p:nvPr/>
          </p:nvSpPr>
          <p:spPr bwMode="auto">
            <a:xfrm>
              <a:off x="9297749" y="1009421"/>
              <a:ext cx="413879" cy="420051"/>
            </a:xfrm>
            <a:custGeom>
              <a:avLst/>
              <a:gdLst>
                <a:gd name="T0" fmla="*/ 51 w 102"/>
                <a:gd name="T1" fmla="*/ 25 h 103"/>
                <a:gd name="T2" fmla="*/ 53 w 102"/>
                <a:gd name="T3" fmla="*/ 25 h 103"/>
                <a:gd name="T4" fmla="*/ 73 w 102"/>
                <a:gd name="T5" fmla="*/ 6 h 103"/>
                <a:gd name="T6" fmla="*/ 73 w 102"/>
                <a:gd name="T7" fmla="*/ 5 h 103"/>
                <a:gd name="T8" fmla="*/ 51 w 102"/>
                <a:gd name="T9" fmla="*/ 0 h 103"/>
                <a:gd name="T10" fmla="*/ 0 w 102"/>
                <a:gd name="T11" fmla="*/ 52 h 103"/>
                <a:gd name="T12" fmla="*/ 51 w 102"/>
                <a:gd name="T13" fmla="*/ 103 h 103"/>
                <a:gd name="T14" fmla="*/ 102 w 102"/>
                <a:gd name="T15" fmla="*/ 52 h 103"/>
                <a:gd name="T16" fmla="*/ 98 w 102"/>
                <a:gd name="T17" fmla="*/ 30 h 103"/>
                <a:gd name="T18" fmla="*/ 97 w 102"/>
                <a:gd name="T19" fmla="*/ 30 h 103"/>
                <a:gd name="T20" fmla="*/ 78 w 102"/>
                <a:gd name="T21" fmla="*/ 50 h 103"/>
                <a:gd name="T22" fmla="*/ 78 w 102"/>
                <a:gd name="T23" fmla="*/ 52 h 103"/>
                <a:gd name="T24" fmla="*/ 51 w 102"/>
                <a:gd name="T25" fmla="*/ 79 h 103"/>
                <a:gd name="T26" fmla="*/ 24 w 102"/>
                <a:gd name="T27" fmla="*/ 52 h 103"/>
                <a:gd name="T28" fmla="*/ 51 w 102"/>
                <a:gd name="T29" fmla="*/ 2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2" h="103">
                  <a:moveTo>
                    <a:pt x="51" y="25"/>
                  </a:moveTo>
                  <a:cubicBezTo>
                    <a:pt x="52" y="25"/>
                    <a:pt x="53" y="25"/>
                    <a:pt x="53" y="25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66" y="2"/>
                    <a:pt x="59" y="0"/>
                    <a:pt x="51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3"/>
                    <a:pt x="51" y="103"/>
                  </a:cubicBezTo>
                  <a:cubicBezTo>
                    <a:pt x="80" y="103"/>
                    <a:pt x="102" y="80"/>
                    <a:pt x="102" y="52"/>
                  </a:cubicBezTo>
                  <a:cubicBezTo>
                    <a:pt x="102" y="44"/>
                    <a:pt x="101" y="37"/>
                    <a:pt x="98" y="30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1"/>
                    <a:pt x="78" y="52"/>
                  </a:cubicBezTo>
                  <a:cubicBezTo>
                    <a:pt x="78" y="67"/>
                    <a:pt x="66" y="79"/>
                    <a:pt x="51" y="79"/>
                  </a:cubicBezTo>
                  <a:cubicBezTo>
                    <a:pt x="36" y="79"/>
                    <a:pt x="24" y="67"/>
                    <a:pt x="24" y="52"/>
                  </a:cubicBezTo>
                  <a:cubicBezTo>
                    <a:pt x="24" y="37"/>
                    <a:pt x="36" y="25"/>
                    <a:pt x="51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13" name="Freeform 92">
              <a:extLst>
                <a:ext uri="{FF2B5EF4-FFF2-40B4-BE49-F238E27FC236}">
                  <a16:creationId xmlns:a16="http://schemas.microsoft.com/office/drawing/2014/main" id="{21ED5F21-3807-485D-BBA1-D9C660FA4AFB}"/>
                </a:ext>
              </a:extLst>
            </p:cNvPr>
            <p:cNvSpPr/>
            <p:nvPr/>
          </p:nvSpPr>
          <p:spPr bwMode="auto">
            <a:xfrm>
              <a:off x="9503177" y="698162"/>
              <a:ext cx="519614" cy="519774"/>
            </a:xfrm>
            <a:custGeom>
              <a:avLst/>
              <a:gdLst>
                <a:gd name="T0" fmla="*/ 107 w 127"/>
                <a:gd name="T1" fmla="*/ 35 h 127"/>
                <a:gd name="T2" fmla="*/ 114 w 127"/>
                <a:gd name="T3" fmla="*/ 29 h 127"/>
                <a:gd name="T4" fmla="*/ 114 w 127"/>
                <a:gd name="T5" fmla="*/ 19 h 127"/>
                <a:gd name="T6" fmla="*/ 109 w 127"/>
                <a:gd name="T7" fmla="*/ 14 h 127"/>
                <a:gd name="T8" fmla="*/ 104 w 127"/>
                <a:gd name="T9" fmla="*/ 12 h 127"/>
                <a:gd name="T10" fmla="*/ 99 w 127"/>
                <a:gd name="T11" fmla="*/ 14 h 127"/>
                <a:gd name="T12" fmla="*/ 92 w 127"/>
                <a:gd name="T13" fmla="*/ 21 h 127"/>
                <a:gd name="T14" fmla="*/ 91 w 127"/>
                <a:gd name="T15" fmla="*/ 3 h 127"/>
                <a:gd name="T16" fmla="*/ 88 w 127"/>
                <a:gd name="T17" fmla="*/ 0 h 127"/>
                <a:gd name="T18" fmla="*/ 87 w 127"/>
                <a:gd name="T19" fmla="*/ 1 h 127"/>
                <a:gd name="T20" fmla="*/ 59 w 127"/>
                <a:gd name="T21" fmla="*/ 29 h 127"/>
                <a:gd name="T22" fmla="*/ 55 w 127"/>
                <a:gd name="T23" fmla="*/ 38 h 127"/>
                <a:gd name="T24" fmla="*/ 55 w 127"/>
                <a:gd name="T25" fmla="*/ 39 h 127"/>
                <a:gd name="T26" fmla="*/ 57 w 127"/>
                <a:gd name="T27" fmla="*/ 57 h 127"/>
                <a:gd name="T28" fmla="*/ 47 w 127"/>
                <a:gd name="T29" fmla="*/ 67 h 127"/>
                <a:gd name="T30" fmla="*/ 29 w 127"/>
                <a:gd name="T31" fmla="*/ 85 h 127"/>
                <a:gd name="T32" fmla="*/ 28 w 127"/>
                <a:gd name="T33" fmla="*/ 85 h 127"/>
                <a:gd name="T34" fmla="*/ 11 w 127"/>
                <a:gd name="T35" fmla="*/ 103 h 127"/>
                <a:gd name="T36" fmla="*/ 3 w 127"/>
                <a:gd name="T37" fmla="*/ 111 h 127"/>
                <a:gd name="T38" fmla="*/ 1 w 127"/>
                <a:gd name="T39" fmla="*/ 114 h 127"/>
                <a:gd name="T40" fmla="*/ 1 w 127"/>
                <a:gd name="T41" fmla="*/ 121 h 127"/>
                <a:gd name="T42" fmla="*/ 7 w 127"/>
                <a:gd name="T43" fmla="*/ 127 h 127"/>
                <a:gd name="T44" fmla="*/ 7 w 127"/>
                <a:gd name="T45" fmla="*/ 127 h 127"/>
                <a:gd name="T46" fmla="*/ 13 w 127"/>
                <a:gd name="T47" fmla="*/ 127 h 127"/>
                <a:gd name="T48" fmla="*/ 17 w 127"/>
                <a:gd name="T49" fmla="*/ 125 h 127"/>
                <a:gd name="T50" fmla="*/ 72 w 127"/>
                <a:gd name="T51" fmla="*/ 70 h 127"/>
                <a:gd name="T52" fmla="*/ 88 w 127"/>
                <a:gd name="T53" fmla="*/ 72 h 127"/>
                <a:gd name="T54" fmla="*/ 89 w 127"/>
                <a:gd name="T55" fmla="*/ 72 h 127"/>
                <a:gd name="T56" fmla="*/ 90 w 127"/>
                <a:gd name="T57" fmla="*/ 72 h 127"/>
                <a:gd name="T58" fmla="*/ 98 w 127"/>
                <a:gd name="T59" fmla="*/ 68 h 127"/>
                <a:gd name="T60" fmla="*/ 126 w 127"/>
                <a:gd name="T61" fmla="*/ 40 h 127"/>
                <a:gd name="T62" fmla="*/ 124 w 127"/>
                <a:gd name="T63" fmla="*/ 36 h 127"/>
                <a:gd name="T64" fmla="*/ 107 w 127"/>
                <a:gd name="T65" fmla="*/ 35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7" h="127">
                  <a:moveTo>
                    <a:pt x="107" y="35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6" y="26"/>
                    <a:pt x="116" y="21"/>
                    <a:pt x="114" y="19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08" y="13"/>
                    <a:pt x="106" y="12"/>
                    <a:pt x="104" y="12"/>
                  </a:cubicBezTo>
                  <a:cubicBezTo>
                    <a:pt x="102" y="12"/>
                    <a:pt x="101" y="13"/>
                    <a:pt x="99" y="14"/>
                  </a:cubicBezTo>
                  <a:cubicBezTo>
                    <a:pt x="92" y="21"/>
                    <a:pt x="92" y="21"/>
                    <a:pt x="92" y="21"/>
                  </a:cubicBezTo>
                  <a:cubicBezTo>
                    <a:pt x="91" y="3"/>
                    <a:pt x="91" y="3"/>
                    <a:pt x="91" y="3"/>
                  </a:cubicBezTo>
                  <a:cubicBezTo>
                    <a:pt x="91" y="1"/>
                    <a:pt x="89" y="0"/>
                    <a:pt x="88" y="0"/>
                  </a:cubicBezTo>
                  <a:cubicBezTo>
                    <a:pt x="88" y="0"/>
                    <a:pt x="87" y="1"/>
                    <a:pt x="87" y="1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6" y="31"/>
                    <a:pt x="55" y="35"/>
                    <a:pt x="55" y="38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29" y="85"/>
                    <a:pt x="29" y="85"/>
                    <a:pt x="29" y="85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3" y="111"/>
                    <a:pt x="3" y="111"/>
                    <a:pt x="3" y="111"/>
                  </a:cubicBezTo>
                  <a:cubicBezTo>
                    <a:pt x="2" y="112"/>
                    <a:pt x="1" y="113"/>
                    <a:pt x="1" y="114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0" y="124"/>
                    <a:pt x="3" y="127"/>
                    <a:pt x="7" y="127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13" y="127"/>
                    <a:pt x="13" y="127"/>
                    <a:pt x="13" y="127"/>
                  </a:cubicBezTo>
                  <a:cubicBezTo>
                    <a:pt x="15" y="127"/>
                    <a:pt x="16" y="126"/>
                    <a:pt x="17" y="125"/>
                  </a:cubicBezTo>
                  <a:cubicBezTo>
                    <a:pt x="72" y="70"/>
                    <a:pt x="72" y="70"/>
                    <a:pt x="72" y="70"/>
                  </a:cubicBezTo>
                  <a:cubicBezTo>
                    <a:pt x="88" y="72"/>
                    <a:pt x="88" y="72"/>
                    <a:pt x="88" y="7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90" y="72"/>
                    <a:pt x="90" y="72"/>
                    <a:pt x="90" y="72"/>
                  </a:cubicBezTo>
                  <a:cubicBezTo>
                    <a:pt x="93" y="72"/>
                    <a:pt x="96" y="70"/>
                    <a:pt x="98" y="68"/>
                  </a:cubicBezTo>
                  <a:cubicBezTo>
                    <a:pt x="126" y="40"/>
                    <a:pt x="126" y="40"/>
                    <a:pt x="126" y="40"/>
                  </a:cubicBezTo>
                  <a:cubicBezTo>
                    <a:pt x="127" y="39"/>
                    <a:pt x="126" y="36"/>
                    <a:pt x="124" y="36"/>
                  </a:cubicBezTo>
                  <a:lnTo>
                    <a:pt x="107" y="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F0502020204030204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3252F66-1188-47D6-B036-DC993DB8E758}"/>
              </a:ext>
            </a:extLst>
          </p:cNvPr>
          <p:cNvSpPr txBox="1"/>
          <p:nvPr/>
        </p:nvSpPr>
        <p:spPr>
          <a:xfrm>
            <a:off x="732093" y="1428650"/>
            <a:ext cx="842838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Neler Yapacağız</a:t>
            </a:r>
          </a:p>
          <a:p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YP </a:t>
            </a:r>
            <a:r>
              <a:rPr lang="tr-TR" sz="1600" dirty="0" err="1"/>
              <a:t>sukuk</a:t>
            </a:r>
            <a:r>
              <a:rPr lang="tr-TR" sz="1600" dirty="0"/>
              <a:t>/altın teminatlı TL fonlama işlemleri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600" dirty="0"/>
              <a:t>TL fonlamada farklı likidite sağlama </a:t>
            </a:r>
            <a:r>
              <a:rPr lang="tr-TR" sz="1600"/>
              <a:t>araçları çeşitlendirmek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Yurtdışı yatırım fonlarıyla plasman işlemleri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KT yatırım ile ZK azaltıcı taahhütlü işlemler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altLang="zh-CN" sz="16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cs typeface="+mn-ea"/>
                <a:sym typeface="+mn-lt"/>
              </a:rPr>
              <a:t>Bilanço yönetim müdürlüğü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altLang="zh-CN" sz="12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sym typeface="+mn-lt"/>
              </a:rPr>
              <a:t>KFH </a:t>
            </a:r>
            <a:r>
              <a:rPr lang="tr-TR" altLang="zh-CN" sz="1600" dirty="0">
                <a:latin typeface="Arial" panose="020F0302020204030204"/>
                <a:sym typeface="+mn-lt"/>
              </a:rPr>
              <a:t>Center of </a:t>
            </a:r>
            <a:r>
              <a:rPr lang="tr-TR" altLang="zh-CN" sz="1600" dirty="0" err="1">
                <a:latin typeface="Arial" panose="020F0302020204030204"/>
                <a:sym typeface="+mn-lt"/>
              </a:rPr>
              <a:t>Excellence</a:t>
            </a:r>
            <a:r>
              <a:rPr lang="tr-TR" altLang="zh-CN" sz="12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sym typeface="+mn-lt"/>
              </a:rPr>
              <a:t> Stratejisi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zh-CN" sz="12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cs typeface="+mn-ea"/>
                <a:sym typeface="+mn-lt"/>
              </a:rPr>
              <a:t>Dinamik ALM Stratejik Projesi</a:t>
            </a:r>
            <a:r>
              <a:rPr lang="tr-TR" altLang="zh-CN" sz="12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302020204030204"/>
                <a:cs typeface="+mn-ea"/>
                <a:sym typeface="+mn-lt"/>
              </a:rPr>
              <a:t> bu sene bitecek </a:t>
            </a:r>
            <a:endParaRPr lang="tr-TR" altLang="zh-CN" sz="1200" b="1" u="sng" dirty="0">
              <a:solidFill>
                <a:prstClr val="black">
                  <a:lumMod val="75000"/>
                  <a:lumOff val="25000"/>
                </a:prstClr>
              </a:solidFill>
              <a:latin typeface="Arial" panose="020F0302020204030204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209569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ww.freeppt7.com">
  <a:themeElements>
    <a:clrScheme name="自定义 105">
      <a:dk1>
        <a:sysClr val="windowText" lastClr="000000"/>
      </a:dk1>
      <a:lt1>
        <a:sysClr val="window" lastClr="FFFFFF"/>
      </a:lt1>
      <a:dk2>
        <a:srgbClr val="5A6378"/>
      </a:dk2>
      <a:lt2>
        <a:srgbClr val="7F7F7F"/>
      </a:lt2>
      <a:accent1>
        <a:srgbClr val="016865"/>
      </a:accent1>
      <a:accent2>
        <a:srgbClr val="0F9D92"/>
      </a:accent2>
      <a:accent3>
        <a:srgbClr val="016865"/>
      </a:accent3>
      <a:accent4>
        <a:srgbClr val="0F9D92"/>
      </a:accent4>
      <a:accent5>
        <a:srgbClr val="016865"/>
      </a:accent5>
      <a:accent6>
        <a:srgbClr val="0F9D92"/>
      </a:accent6>
      <a:hlink>
        <a:srgbClr val="168BBA"/>
      </a:hlink>
      <a:folHlink>
        <a:srgbClr val="680000"/>
      </a:folHlink>
    </a:clrScheme>
    <a:fontScheme name="sr3xjkqe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1011</Words>
  <Application>Microsoft Office PowerPoint</Application>
  <PresentationFormat>Widescreen</PresentationFormat>
  <Paragraphs>316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等线</vt:lpstr>
      <vt:lpstr>微软雅黑</vt:lpstr>
      <vt:lpstr>Arial</vt:lpstr>
      <vt:lpstr>Calibri</vt:lpstr>
      <vt:lpstr>Calibri Light</vt:lpstr>
      <vt:lpstr>FontAwesome</vt:lpstr>
      <vt:lpstr>Klavika CH Medium Cond</vt:lpstr>
      <vt:lpstr>Lato Light</vt:lpstr>
      <vt:lpstr>Lato Regular</vt:lpstr>
      <vt:lpstr>Wingdings</vt:lpstr>
      <vt:lpstr>Office Theme</vt:lpstr>
      <vt:lpstr>www.freeppt7.com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Murat Aydın / Kuveyt Türk - Para Piyasaları İşlemleri</dc:creator>
  <cp:lastModifiedBy>Murat Aydın / Kuveyt Türk - Para Piyasaları İşlemleri</cp:lastModifiedBy>
  <cp:revision>16</cp:revision>
  <dcterms:created xsi:type="dcterms:W3CDTF">2026-02-20T06:45:50Z</dcterms:created>
  <dcterms:modified xsi:type="dcterms:W3CDTF">2026-03-05T14:29:11Z</dcterms:modified>
</cp:coreProperties>
</file>